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3840480" cy="3840480"/>
          </a:xfrm>
          <a:prstGeom prst="ellipse">
            <a:avLst/>
          </a:prstGeom>
          <a:solidFill>
            <a:srgbClr val="7A5080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2743200"/>
            <a:ext cx="2468880" cy="2468880"/>
          </a:xfrm>
          <a:prstGeom prst="ellipse">
            <a:avLst/>
          </a:prstGeom>
          <a:solidFill>
            <a:srgbClr val="C4929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822960" cy="82296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Freelance Business: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Contracts, Scope &amp; Clients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AVC 248  ·  Design Self-Promotion  ·  Week 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3886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“Get it in writing, every single time.”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Freelance vs. employment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can build a great creative career. They just run on very different rules, and you should know which one you are stepping into.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3977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194560"/>
            <a:ext cx="91440" cy="2240280"/>
          </a:xfrm>
          <a:prstGeom prst="rect">
            <a:avLst/>
          </a:prstGeom>
          <a:solidFill>
            <a:srgbClr val="6B8F6E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2468880"/>
            <a:ext cx="548640" cy="548640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8775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468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" y="3154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Steady, supported, shared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5528" y="39776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salary, benefits, and a team. Your employer handles taxes, tools, and finding the work. You trade some freedom for stability.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63440" y="2194560"/>
            <a:ext cx="3977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2194560"/>
            <a:ext cx="91440" cy="2240280"/>
          </a:xfrm>
          <a:prstGeom prst="rect">
            <a:avLst/>
          </a:prstGeom>
          <a:solidFill>
            <a:srgbClr val="C4929E"/>
          </a:solidFill>
          <a:ln/>
        </p:spPr>
      </p:sp>
      <p:sp>
        <p:nvSpPr>
          <p:cNvPr id="15" name="Shape 12"/>
          <p:cNvSpPr/>
          <p:nvPr/>
        </p:nvSpPr>
        <p:spPr>
          <a:xfrm>
            <a:off x="4956048" y="2468880"/>
            <a:ext cx="548640" cy="548640"/>
          </a:xfrm>
          <a:prstGeom prst="ellipse">
            <a:avLst/>
          </a:prstGeom>
          <a:solidFill>
            <a:srgbClr val="C4929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58775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23560" y="2468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56048" y="3154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Free, flexible, on you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956048" y="39776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pick clients and rates, but you also chase the work, set the terms, and cover your own taxes, gear, and downtime.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0292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freedom is real. So is the paperwork.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contract protects both of you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operating contract is not about distrust. It sets shared expectations so a project stays calm, fair, and finishable.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2651760" cy="2148840"/>
          </a:xfrm>
          <a:prstGeom prst="rect">
            <a:avLst/>
          </a:prstGeom>
          <a:solidFill>
            <a:srgbClr val="EFE7F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240280"/>
            <a:ext cx="2651760" cy="91440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7802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3300984"/>
            <a:ext cx="2194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what to make, by when, and for how much.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91840" y="2240280"/>
            <a:ext cx="2651760" cy="2148840"/>
          </a:xfrm>
          <a:prstGeom prst="rect">
            <a:avLst/>
          </a:prstGeom>
          <a:solidFill>
            <a:srgbClr val="EAF1EA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2240280"/>
            <a:ext cx="2651760" cy="91440"/>
          </a:xfrm>
          <a:prstGeom prst="rect">
            <a:avLst/>
          </a:prstGeom>
          <a:solidFill>
            <a:srgbClr val="6B8F6E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47802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8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20440" y="3300984"/>
            <a:ext cx="2194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they get, what it costs, and what is out of scope.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80760" y="2240280"/>
            <a:ext cx="2560320" cy="2148840"/>
          </a:xfrm>
          <a:prstGeom prst="rect">
            <a:avLst/>
          </a:prstGeom>
          <a:solidFill>
            <a:srgbClr val="F6ECEE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0760" y="2240280"/>
            <a:ext cx="2560320" cy="91440"/>
          </a:xfrm>
          <a:prstGeom prst="rect">
            <a:avLst/>
          </a:prstGeom>
          <a:solidFill>
            <a:srgbClr val="C4929E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47802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92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09360" y="3300984"/>
            <a:ext cx="21031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one document to point to when memory gets fuzzy.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the seven points every client contract should name.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 ·  COMPETENCY 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points to settle up front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work starts, talk these through with your client and write them down. Each one prevents a different argument later.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18836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267712"/>
            <a:ext cx="512064" cy="512064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37744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80720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work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551176" y="2148840"/>
            <a:ext cx="18836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36976" y="2267712"/>
            <a:ext cx="512064" cy="512064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23774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51176" y="280720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99432" y="2148840"/>
            <a:ext cx="18836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285232" y="2267712"/>
            <a:ext cx="512064" cy="512064"/>
          </a:xfrm>
          <a:prstGeom prst="ellipse">
            <a:avLst/>
          </a:prstGeom>
          <a:solidFill>
            <a:srgbClr val="C4929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3774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99432" y="280720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milestones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647688" y="2148840"/>
            <a:ext cx="18836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33488" y="2267712"/>
            <a:ext cx="512064" cy="512064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237744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47688" y="280720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deposit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02920" y="3246120"/>
            <a:ext cx="18836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88720" y="3364992"/>
            <a:ext cx="512064" cy="512064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3474720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02920" y="390448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revisions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2551176" y="3246120"/>
            <a:ext cx="18836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3236976" y="3364992"/>
            <a:ext cx="512064" cy="512064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6704" y="3474720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551176" y="390448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&amp; rights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4599432" y="3246120"/>
            <a:ext cx="18836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5285232" y="3364992"/>
            <a:ext cx="512064" cy="512064"/>
          </a:xfrm>
          <a:prstGeom prst="ellipse">
            <a:avLst/>
          </a:prstGeom>
          <a:solidFill>
            <a:srgbClr val="C4929E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0" y="3474720"/>
            <a:ext cx="292608" cy="29260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599432" y="390448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kill fee</a:t>
            </a:r>
            <a:endParaRPr lang="en-US" sz="1150" dirty="0"/>
          </a:p>
        </p:txBody>
      </p:sp>
      <p:sp>
        <p:nvSpPr>
          <p:cNvPr id="34" name="Text 25"/>
          <p:cNvSpPr/>
          <p:nvPr/>
        </p:nvSpPr>
        <p:spPr>
          <a:xfrm>
            <a:off x="50292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all seven and the contract can finally do its job.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ITSELF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Scope, deliverables, and timeline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706624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1810512"/>
            <a:ext cx="566928" cy="566928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92938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810512"/>
            <a:ext cx="1563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of work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58952" y="2487168"/>
            <a:ext cx="2194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you will do, and just as importantly what you will not. Spell out anything outside this as billable extra work.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37560" y="1554480"/>
            <a:ext cx="2706624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93592" y="1810512"/>
            <a:ext cx="566928" cy="566928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1929384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97680" y="1810512"/>
            <a:ext cx="1563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93592" y="2487168"/>
            <a:ext cx="2194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concrete files they receive: formats, sizes, source files, and whether print-ready or web-ready. No guessing at the finish line.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72200" y="1554480"/>
            <a:ext cx="24688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28232" y="1810512"/>
            <a:ext cx="566928" cy="566928"/>
          </a:xfrm>
          <a:prstGeom prst="ellipse">
            <a:avLst/>
          </a:prstGeom>
          <a:solidFill>
            <a:srgbClr val="C4929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1929384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32320" y="181051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&amp; milestones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28232" y="2487168"/>
            <a:ext cx="195681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dates and check-ins, not just a final due date. Milestones keep feedback flowing and the project on track.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Money, revisions, rights, and exits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points are where most freelance disputes actually happen. Settle them in writing and you protect your time and your work.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1993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423160"/>
            <a:ext cx="566928" cy="566928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54203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30632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&amp; deposit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58952" y="347472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deposit up front, then clear due dates. Never start real work unpaid.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660904" y="2148840"/>
            <a:ext cx="1993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16936" y="2423160"/>
            <a:ext cx="566928" cy="566928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254203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16936" y="30632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Revisions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2916936" y="347472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how many rounds are included. Extra rounds are billed.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818888" y="2148840"/>
            <a:ext cx="1993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074920" y="2423160"/>
            <a:ext cx="566928" cy="566928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254203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74920" y="30632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Usage &amp; rights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074920" y="347472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work, and where it can be used. License or transfer.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976872" y="2148840"/>
            <a:ext cx="166420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232904" y="2423160"/>
            <a:ext cx="566928" cy="566928"/>
          </a:xfrm>
          <a:prstGeom prst="ellipse">
            <a:avLst/>
          </a:prstGeom>
          <a:solidFill>
            <a:srgbClr val="C4929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76" y="2542032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32904" y="30632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Kill fee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232904" y="3474720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cancel mid-project, you still get paid for work done.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BUILD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spec sheet and project brief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short documents turn a vague request into a real plan. They live alongside the contract and keep everyone honest.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3977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194560"/>
            <a:ext cx="91440" cy="2240280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2468880"/>
            <a:ext cx="548640" cy="548640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8775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468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" y="3154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why and the who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5528" y="39776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audience, brand voice, and references. It captures what success looks like before you open a single file.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63440" y="2194560"/>
            <a:ext cx="3977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2194560"/>
            <a:ext cx="91440" cy="2240280"/>
          </a:xfrm>
          <a:prstGeom prst="rect">
            <a:avLst/>
          </a:prstGeom>
          <a:solidFill>
            <a:srgbClr val="6B8F6E"/>
          </a:solidFill>
          <a:ln/>
        </p:spPr>
      </p:sp>
      <p:sp>
        <p:nvSpPr>
          <p:cNvPr id="15" name="Shape 12"/>
          <p:cNvSpPr/>
          <p:nvPr/>
        </p:nvSpPr>
        <p:spPr>
          <a:xfrm>
            <a:off x="4956048" y="2468880"/>
            <a:ext cx="548640" cy="548640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58775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23560" y="2468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SHEET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56048" y="3154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what and the how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956048" y="39776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sizes, formats, color modes, fonts, and file naming. The technical truth your deliverables must match.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PAID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Hourly vs. project pricing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right answer. Pick the model that fits the work and the client, and make sure it covers more than just your time.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3977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194560"/>
            <a:ext cx="91440" cy="224028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2468880"/>
            <a:ext cx="548640" cy="548640"/>
          </a:xfrm>
          <a:prstGeom prst="ellipse">
            <a:avLst/>
          </a:prstGeom>
          <a:solidFill>
            <a:srgbClr val="B8956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8775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468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" y="3154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 for the time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5528" y="39776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scope is fuzzy or likely to change. Track your hours honestly and set a rate that covers taxes and slow weeks.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63440" y="2194560"/>
            <a:ext cx="3977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2194560"/>
            <a:ext cx="91440" cy="2240280"/>
          </a:xfrm>
          <a:prstGeom prst="rect">
            <a:avLst/>
          </a:prstGeom>
          <a:solidFill>
            <a:srgbClr val="C4929E"/>
          </a:solidFill>
          <a:ln/>
        </p:spPr>
      </p:sp>
      <p:sp>
        <p:nvSpPr>
          <p:cNvPr id="15" name="Shape 12"/>
          <p:cNvSpPr/>
          <p:nvPr/>
        </p:nvSpPr>
        <p:spPr>
          <a:xfrm>
            <a:off x="4956048" y="2468880"/>
            <a:ext cx="548640" cy="548640"/>
          </a:xfrm>
          <a:prstGeom prst="ellipse">
            <a:avLst/>
          </a:prstGeom>
          <a:solidFill>
            <a:srgbClr val="C4929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58775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23560" y="2468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56048" y="3154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 for the result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956048" y="39776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scope is clear. You quote one price for the whole job, so efficiency works in your favor, not against you.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GAME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and keeping clients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clients are expensive to win. The freelancers who last are the ones repeat clients keep coming back 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404872"/>
            <a:ext cx="566928" cy="566928"/>
          </a:xfrm>
          <a:prstGeom prst="ellipse">
            <a:avLst/>
          </a:prstGeom>
          <a:solidFill>
            <a:srgbClr val="7A508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52374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404872"/>
            <a:ext cx="1563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them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58952" y="3081528"/>
            <a:ext cx="2194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Referrals, your portfolio, and your network. Most good work comes from people who already trust you.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37560" y="214884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93592" y="2404872"/>
            <a:ext cx="566928" cy="566928"/>
          </a:xfrm>
          <a:prstGeom prst="ellipse">
            <a:avLst/>
          </a:prstGeom>
          <a:solidFill>
            <a:srgbClr val="6B8F6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52374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97680" y="2404872"/>
            <a:ext cx="1563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 them well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593592" y="3081528"/>
            <a:ext cx="2194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communication, hit deadlines, and no surprises on the invoice. Professionalism is your real marketing.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72200" y="2148840"/>
            <a:ext cx="2468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28232" y="2404872"/>
            <a:ext cx="566928" cy="566928"/>
          </a:xfrm>
          <a:prstGeom prst="ellipse">
            <a:avLst/>
          </a:prstGeom>
          <a:solidFill>
            <a:srgbClr val="C4929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252374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32320" y="240487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them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28232" y="3081528"/>
            <a:ext cx="19568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up, deliver clean files, and stay easy to work with. A happy client is your next three projects.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C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2011680"/>
            <a:ext cx="3657600" cy="3657600"/>
          </a:xfrm>
          <a:prstGeom prst="ellipse">
            <a:avLst/>
          </a:prstGeom>
          <a:solidFill>
            <a:srgbClr val="7A5080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1280160"/>
            <a:ext cx="2743200" cy="2743200"/>
          </a:xfrm>
          <a:prstGeom prst="ellipse">
            <a:avLst/>
          </a:prstGeom>
          <a:solidFill>
            <a:srgbClr val="C4929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91640"/>
            <a:ext cx="822960" cy="82296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terms make</a:t>
            </a:r>
            <a:endParaRPr lang="en-US" sz="4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freelancing freeing.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429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“Protect the work, and the work pays you back.”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Freelance Business</dc:title>
  <dc:subject>PptxGenJS Presentation</dc:subject>
  <dc:creator>AVC 248</dc:creator>
  <cp:lastModifiedBy>AVC 248</cp:lastModifiedBy>
  <cp:revision>1</cp:revision>
  <dcterms:created xsi:type="dcterms:W3CDTF">2026-06-21T17:23:23Z</dcterms:created>
  <dcterms:modified xsi:type="dcterms:W3CDTF">2026-06-21T17:23:23Z</dcterms:modified>
</cp:coreProperties>
</file>