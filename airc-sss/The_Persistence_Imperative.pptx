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Reasons</c:v>
                </c:pt>
              </c:strCache>
            </c:strRef>
          </c:tx>
          <c:spPr>
            <a:solidFill>
              <a:srgbClr val="6E4677"/>
            </a:solidFill>
            <a:effectLst/>
          </c:spPr>
          <c:invertIfNegative val="0"/>
          <c:dLbls>
            <c:numFmt formatCode="0&quot;%&quot;" sourceLinked="0"/>
            <c:txPr>
              <a:bodyPr/>
              <a:lstStyle/>
              <a:p>
                <a:pPr>
                  <a:defRPr b="0" i="0" strike="noStrike" sz="1300" u="none">
                    <a:solidFill>
                      <a:srgbClr val="2C2330"/>
                    </a:solidFill>
                    <a:latin typeface="Calibri"/>
                  </a:defRPr>
                </a:pPr>
              </a:p>
            </c:txPr>
            <c:showLegendKey val="0"/>
            <c:showVal val="1"/>
            <c:showCatName val="0"/>
            <c:showSerName val="0"/>
            <c:showPercent val="0"/>
            <c:showBubbleSize val="0"/>
            <c:showLeaderLines val="0"/>
          </c:dLbls>
          <c:dPt>
            <c:idx val="0"/>
            <c:invertIfNegative val="0"/>
            <c:bubble3D val="0"/>
            <c:spPr>
              <a:solidFill>
                <a:srgbClr val="6E4677"/>
              </a:solidFill>
              <a:effectLst/>
            </c:spPr>
          </c:dPt>
          <c:dPt>
            <c:idx val="1"/>
            <c:invertIfNegative val="0"/>
            <c:bubble3D val="0"/>
            <c:spPr>
              <a:solidFill>
                <a:srgbClr val="6E4677"/>
              </a:solidFill>
              <a:effectLst/>
            </c:spPr>
          </c:dPt>
          <c:dPt>
            <c:idx val="2"/>
            <c:invertIfNegative val="0"/>
            <c:bubble3D val="0"/>
            <c:spPr>
              <a:solidFill>
                <a:srgbClr val="6E4677"/>
              </a:solidFill>
              <a:effectLst/>
            </c:spPr>
          </c:dPt>
          <c:cat>
            <c:multiLvlStrRef>
              <c:f>Sheet1!$A$2:$A$4</c:f>
              <c:multiLvlStrCache>
                <c:ptCount val="3"/>
                <c:lvl>
                  <c:pt idx="0">
                    <c:v>Emotional stress</c:v>
                  </c:pt>
                  <c:pt idx="1">
                    <c:v>Mental health</c:v>
                  </c:pt>
                  <c:pt idx="2">
                    <c:v>Cost of attendance</c:v>
                  </c:pt>
                </c:lvl>
              </c:multiLvlStrCache>
            </c:multiLvlStrRef>
          </c:cat>
          <c:val>
            <c:numRef>
              <c:f>Sheet1!$B$2:$B$4</c:f>
              <c:numCache>
                <c:formatCode>General</c:formatCode>
                <c:ptCount val="3"/>
                <c:pt idx="0">
                  <c:v>54</c:v>
                </c:pt>
                <c:pt idx="1">
                  <c:v>43</c:v>
                </c:pt>
                <c:pt idx="2">
                  <c:v>31</c:v>
                </c:pt>
              </c:numCache>
            </c:numRef>
          </c:val>
        </c:ser>
        <c:dLbls>
          <c:numFmt formatCode="0&quot;%&quot;" sourceLinked="0"/>
          <c:txPr>
            <a:bodyPr/>
            <a:lstStyle/>
            <a:p>
              <a:pPr>
                <a:defRPr b="0" i="0" strike="noStrike" sz="1300" u="none">
                  <a:solidFill>
                    <a:srgbClr val="2C233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C2330"/>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AF7F2"/>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E2F55"/>
        </a:solidFill>
      </p:bgPr>
    </p:bg>
    <p:spTree>
      <p:nvGrpSpPr>
        <p:cNvPr id="1" name=""/>
        <p:cNvGrpSpPr/>
        <p:nvPr/>
      </p:nvGrpSpPr>
      <p:grpSpPr>
        <a:xfrm>
          <a:off x="0" y="0"/>
          <a:ext cx="0" cy="0"/>
          <a:chOff x="0" y="0"/>
          <a:chExt cx="0" cy="0"/>
        </a:xfrm>
      </p:grpSpPr>
      <p:sp>
        <p:nvSpPr>
          <p:cNvPr id="2" name="Shape 0"/>
          <p:cNvSpPr/>
          <p:nvPr/>
        </p:nvSpPr>
        <p:spPr>
          <a:xfrm>
            <a:off x="640080" y="1417320"/>
            <a:ext cx="1280160" cy="0"/>
          </a:xfrm>
          <a:prstGeom prst="line">
            <a:avLst/>
          </a:prstGeom>
          <a:noFill/>
          <a:ln w="31750">
            <a:solidFill>
              <a:srgbClr val="B8956A"/>
            </a:solidFill>
            <a:prstDash val="solid"/>
          </a:ln>
        </p:spPr>
      </p:sp>
      <p:sp>
        <p:nvSpPr>
          <p:cNvPr id="3" name="Text 1"/>
          <p:cNvSpPr/>
          <p:nvPr/>
        </p:nvSpPr>
        <p:spPr>
          <a:xfrm>
            <a:off x="640080" y="777240"/>
            <a:ext cx="7863840" cy="274320"/>
          </a:xfrm>
          <a:prstGeom prst="rect">
            <a:avLst/>
          </a:prstGeom>
          <a:noFill/>
          <a:ln/>
        </p:spPr>
        <p:txBody>
          <a:bodyPr wrap="square" lIns="0" tIns="0" rIns="0" bIns="0" rtlCol="0" anchor="ctr"/>
          <a:lstStyle/>
          <a:p>
            <a:pPr indent="0" marL="0">
              <a:buNone/>
            </a:pPr>
            <a:r>
              <a:rPr lang="en-US" sz="1150" b="1" spc="250" kern="0" dirty="0">
                <a:solidFill>
                  <a:srgbClr val="D9C7A6"/>
                </a:solidFill>
                <a:latin typeface="Calibri" pitchFamily="34" charset="0"/>
                <a:ea typeface="Calibri" pitchFamily="34" charset="-122"/>
                <a:cs typeface="Calibri" pitchFamily="34" charset="-120"/>
              </a:rPr>
              <a:t>STUDENT SUPPORT &amp; SUCCESS  ·  AN EVIDENCE BRIEF</a:t>
            </a:r>
            <a:endParaRPr lang="en-US" sz="1150" dirty="0"/>
          </a:p>
        </p:txBody>
      </p:sp>
      <p:sp>
        <p:nvSpPr>
          <p:cNvPr id="4" name="Text 2"/>
          <p:cNvSpPr/>
          <p:nvPr/>
        </p:nvSpPr>
        <p:spPr>
          <a:xfrm>
            <a:off x="621792" y="1645920"/>
            <a:ext cx="7863840" cy="1005840"/>
          </a:xfrm>
          <a:prstGeom prst="rect">
            <a:avLst/>
          </a:prstGeom>
          <a:noFill/>
          <a:ln/>
        </p:spPr>
        <p:txBody>
          <a:bodyPr wrap="square" lIns="0" tIns="0" rIns="0" bIns="0"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The Persistence Imperative</a:t>
            </a:r>
            <a:endParaRPr lang="en-US" sz="4800" dirty="0"/>
          </a:p>
        </p:txBody>
      </p:sp>
      <p:sp>
        <p:nvSpPr>
          <p:cNvPr id="5" name="Text 3"/>
          <p:cNvSpPr/>
          <p:nvPr/>
        </p:nvSpPr>
        <p:spPr>
          <a:xfrm>
            <a:off x="640080" y="3127248"/>
            <a:ext cx="6949440" cy="822960"/>
          </a:xfrm>
          <a:prstGeom prst="rect">
            <a:avLst/>
          </a:prstGeom>
          <a:noFill/>
          <a:ln/>
        </p:spPr>
        <p:txBody>
          <a:bodyPr wrap="square" lIns="0" tIns="0" rIns="0" bIns="0" rtlCol="0" anchor="t"/>
          <a:lstStyle/>
          <a:p>
            <a:pPr indent="0" marL="0">
              <a:buNone/>
            </a:pPr>
            <a:r>
              <a:rPr lang="en-US" sz="1800" i="1" dirty="0">
                <a:solidFill>
                  <a:srgbClr val="E8DEE9"/>
                </a:solidFill>
                <a:latin typeface="Georgia" pitchFamily="34" charset="0"/>
                <a:ea typeface="Georgia" pitchFamily="34" charset="-122"/>
                <a:cs typeface="Georgia" pitchFamily="34" charset="-120"/>
              </a:rPr>
              <a:t>Connection is our highest-leverage retention strategy. The evidence, the gap we must close, and the role each of us plays.</a:t>
            </a:r>
            <a:endParaRPr lang="en-US" sz="1800" dirty="0"/>
          </a:p>
        </p:txBody>
      </p:sp>
      <p:sp>
        <p:nvSpPr>
          <p:cNvPr id="6" name="Text 4"/>
          <p:cNvSpPr/>
          <p:nvPr/>
        </p:nvSpPr>
        <p:spPr>
          <a:xfrm>
            <a:off x="640080" y="4297680"/>
            <a:ext cx="7315200" cy="274320"/>
          </a:xfrm>
          <a:prstGeom prst="rect">
            <a:avLst/>
          </a:prstGeom>
          <a:noFill/>
          <a:ln/>
        </p:spPr>
        <p:txBody>
          <a:bodyPr wrap="square" lIns="0" tIns="0" rIns="0" bIns="0" rtlCol="0" anchor="ctr"/>
          <a:lstStyle/>
          <a:p>
            <a:pPr indent="0" marL="0">
              <a:buNone/>
            </a:pPr>
            <a:r>
              <a:rPr lang="en-US" sz="1100" dirty="0">
                <a:solidFill>
                  <a:srgbClr val="C6AFCB"/>
                </a:solidFill>
                <a:latin typeface="Calibri" pitchFamily="34" charset="0"/>
                <a:ea typeface="Calibri" pitchFamily="34" charset="-122"/>
                <a:cs typeface="Calibri" pitchFamily="34" charset="-120"/>
              </a:rPr>
              <a:t>Prepared for our faculty and academic leadership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548640" y="411480"/>
            <a:ext cx="8046720" cy="256032"/>
          </a:xfrm>
          <a:prstGeom prst="rect">
            <a:avLst/>
          </a:prstGeom>
          <a:noFill/>
          <a:ln/>
        </p:spPr>
        <p:txBody>
          <a:bodyPr wrap="square" lIns="0" tIns="0" rIns="0" bIns="0" rtlCol="0" anchor="ctr"/>
          <a:lstStyle/>
          <a:p>
            <a:pPr indent="0" marL="0">
              <a:buNone/>
            </a:pPr>
            <a:r>
              <a:rPr lang="en-US" sz="1100" b="1" spc="250" kern="0" dirty="0">
                <a:solidFill>
                  <a:srgbClr val="B8956A"/>
                </a:solidFill>
                <a:latin typeface="Calibri" pitchFamily="34" charset="0"/>
                <a:ea typeface="Calibri" pitchFamily="34" charset="-122"/>
                <a:cs typeface="Calibri" pitchFamily="34" charset="-120"/>
              </a:rPr>
              <a:t>THE CASE IN ONE SENTENCE</a:t>
            </a:r>
            <a:endParaRPr lang="en-US" sz="1100" dirty="0"/>
          </a:p>
        </p:txBody>
      </p:sp>
      <p:sp>
        <p:nvSpPr>
          <p:cNvPr id="3" name="Text 1"/>
          <p:cNvSpPr/>
          <p:nvPr/>
        </p:nvSpPr>
        <p:spPr>
          <a:xfrm>
            <a:off x="548640" y="676656"/>
            <a:ext cx="8046720" cy="777240"/>
          </a:xfrm>
          <a:prstGeom prst="rect">
            <a:avLst/>
          </a:prstGeom>
          <a:noFill/>
          <a:ln/>
        </p:spPr>
        <p:txBody>
          <a:bodyPr wrap="square" lIns="0" tIns="0" rIns="0" bIns="0" rtlCol="0" anchor="ctr"/>
          <a:lstStyle/>
          <a:p>
            <a:pPr algn="l" indent="0" marL="0">
              <a:buNone/>
            </a:pPr>
            <a:r>
              <a:rPr lang="en-US" sz="3000" b="1" dirty="0">
                <a:solidFill>
                  <a:srgbClr val="2C2330"/>
                </a:solidFill>
                <a:latin typeface="Georgia" pitchFamily="34" charset="0"/>
                <a:ea typeface="Georgia" pitchFamily="34" charset="-122"/>
                <a:cs typeface="Georgia" pitchFamily="34" charset="-120"/>
              </a:rPr>
              <a:t>Belonging is not a soft outcome. It is the mechanism of completion.</a:t>
            </a:r>
            <a:endParaRPr lang="en-US" sz="3000" dirty="0"/>
          </a:p>
        </p:txBody>
      </p:sp>
      <p:sp>
        <p:nvSpPr>
          <p:cNvPr id="4" name="Text 2"/>
          <p:cNvSpPr/>
          <p:nvPr/>
        </p:nvSpPr>
        <p:spPr>
          <a:xfrm>
            <a:off x="548640" y="1554480"/>
            <a:ext cx="8046720" cy="960120"/>
          </a:xfrm>
          <a:prstGeom prst="rect">
            <a:avLst/>
          </a:prstGeom>
          <a:noFill/>
          <a:ln/>
        </p:spPr>
        <p:txBody>
          <a:bodyPr wrap="square" lIns="0" tIns="0" rIns="0" bIns="0" rtlCol="0" anchor="t"/>
          <a:lstStyle/>
          <a:p>
            <a:pPr indent="0" marL="0">
              <a:buNone/>
            </a:pPr>
            <a:r>
              <a:rPr lang="en-US" sz="1450" dirty="0">
                <a:solidFill>
                  <a:srgbClr val="2C2330"/>
                </a:solidFill>
                <a:latin typeface="Calibri" pitchFamily="34" charset="0"/>
                <a:ea typeface="Calibri" pitchFamily="34" charset="-122"/>
                <a:cs typeface="Calibri" pitchFamily="34" charset="-120"/>
              </a:rPr>
              <a:t>Decades of evidence, from Astin and Tinto to today’s national studies, converge on a single finding: students who feel connected to their institution and supported by its services persist at materially higher rates. For our students, the support they need largely already exists. What is missing is the connection to it. Closing that gap is among the highest-return investments we can make in completion.</a:t>
            </a:r>
            <a:endParaRPr lang="en-US" sz="1450" dirty="0"/>
          </a:p>
        </p:txBody>
      </p:sp>
      <p:sp>
        <p:nvSpPr>
          <p:cNvPr id="5" name="Text 3"/>
          <p:cNvSpPr/>
          <p:nvPr/>
        </p:nvSpPr>
        <p:spPr>
          <a:xfrm>
            <a:off x="713232" y="2788920"/>
            <a:ext cx="2407920" cy="676656"/>
          </a:xfrm>
          <a:prstGeom prst="rect">
            <a:avLst/>
          </a:prstGeom>
          <a:noFill/>
          <a:ln/>
        </p:spPr>
        <p:txBody>
          <a:bodyPr wrap="square" lIns="0" tIns="0" rIns="0" bIns="0" rtlCol="0" anchor="ctr"/>
          <a:lstStyle/>
          <a:p>
            <a:pPr algn="l" indent="0" marL="0">
              <a:buNone/>
            </a:pPr>
            <a:r>
              <a:rPr lang="en-US" sz="3300" b="1" dirty="0">
                <a:solidFill>
                  <a:srgbClr val="6E4677"/>
                </a:solidFill>
                <a:latin typeface="Georgia" pitchFamily="34" charset="0"/>
                <a:ea typeface="Georgia" pitchFamily="34" charset="-122"/>
                <a:cs typeface="Georgia" pitchFamily="34" charset="-120"/>
              </a:rPr>
              <a:t>55%</a:t>
            </a:r>
            <a:endParaRPr lang="en-US" sz="3300" dirty="0"/>
          </a:p>
        </p:txBody>
      </p:sp>
      <p:sp>
        <p:nvSpPr>
          <p:cNvPr id="6" name="Text 4"/>
          <p:cNvSpPr/>
          <p:nvPr/>
        </p:nvSpPr>
        <p:spPr>
          <a:xfrm>
            <a:off x="731520" y="3520440"/>
            <a:ext cx="2353056" cy="694944"/>
          </a:xfrm>
          <a:prstGeom prst="rect">
            <a:avLst/>
          </a:prstGeom>
          <a:noFill/>
          <a:ln/>
        </p:spPr>
        <p:txBody>
          <a:bodyPr wrap="square" lIns="0" tIns="0" rIns="0" bIns="0" rtlCol="0" anchor="t"/>
          <a:lstStyle/>
          <a:p>
            <a:pPr algn="l" indent="0" marL="0">
              <a:buNone/>
            </a:pPr>
            <a:r>
              <a:rPr lang="en-US" sz="1200" dirty="0">
                <a:solidFill>
                  <a:srgbClr val="2C2330"/>
                </a:solidFill>
                <a:latin typeface="Calibri" pitchFamily="34" charset="0"/>
                <a:ea typeface="Calibri" pitchFamily="34" charset="-122"/>
                <a:cs typeface="Calibri" pitchFamily="34" charset="-120"/>
              </a:rPr>
              <a:t>of community college students return for a second year, versus 78% at public four-year institutions.</a:t>
            </a:r>
            <a:endParaRPr lang="en-US" sz="1200" dirty="0"/>
          </a:p>
        </p:txBody>
      </p:sp>
      <p:sp>
        <p:nvSpPr>
          <p:cNvPr id="7" name="Text 5"/>
          <p:cNvSpPr/>
          <p:nvPr/>
        </p:nvSpPr>
        <p:spPr>
          <a:xfrm>
            <a:off x="731520" y="4251960"/>
            <a:ext cx="2353056" cy="219456"/>
          </a:xfrm>
          <a:prstGeom prst="rect">
            <a:avLst/>
          </a:prstGeom>
          <a:noFill/>
          <a:ln/>
        </p:spPr>
        <p:txBody>
          <a:bodyPr wrap="square" lIns="0" tIns="0" rIns="0" bIns="0" rtlCol="0" anchor="ctr"/>
          <a:lstStyle/>
          <a:p>
            <a:pPr algn="l" indent="0" marL="0">
              <a:buNone/>
            </a:pPr>
            <a:r>
              <a:rPr lang="en-US" sz="800" i="1" dirty="0">
                <a:solidFill>
                  <a:srgbClr val="8A7E7A"/>
                </a:solidFill>
                <a:latin typeface="Calibri" pitchFamily="34" charset="0"/>
                <a:ea typeface="Calibri" pitchFamily="34" charset="-122"/>
                <a:cs typeface="Calibri" pitchFamily="34" charset="-120"/>
              </a:rPr>
              <a:t>NSC Research Center, 2024</a:t>
            </a:r>
            <a:endParaRPr lang="en-US" sz="800" dirty="0"/>
          </a:p>
        </p:txBody>
      </p:sp>
      <p:sp>
        <p:nvSpPr>
          <p:cNvPr id="8" name="Shape 6"/>
          <p:cNvSpPr/>
          <p:nvPr/>
        </p:nvSpPr>
        <p:spPr>
          <a:xfrm>
            <a:off x="3230880" y="2834640"/>
            <a:ext cx="0" cy="1645920"/>
          </a:xfrm>
          <a:prstGeom prst="line">
            <a:avLst/>
          </a:prstGeom>
          <a:noFill/>
          <a:ln w="9525">
            <a:solidFill>
              <a:srgbClr val="C9BDB2"/>
            </a:solidFill>
            <a:prstDash val="solid"/>
          </a:ln>
        </p:spPr>
      </p:sp>
      <p:sp>
        <p:nvSpPr>
          <p:cNvPr id="9" name="Text 7"/>
          <p:cNvSpPr/>
          <p:nvPr/>
        </p:nvSpPr>
        <p:spPr>
          <a:xfrm>
            <a:off x="3395472" y="2788920"/>
            <a:ext cx="2407920" cy="676656"/>
          </a:xfrm>
          <a:prstGeom prst="rect">
            <a:avLst/>
          </a:prstGeom>
          <a:noFill/>
          <a:ln/>
        </p:spPr>
        <p:txBody>
          <a:bodyPr wrap="square" lIns="0" tIns="0" rIns="0" bIns="0" rtlCol="0" anchor="ctr"/>
          <a:lstStyle/>
          <a:p>
            <a:pPr algn="l" indent="0" marL="0">
              <a:buNone/>
            </a:pPr>
            <a:r>
              <a:rPr lang="en-US" sz="3300" b="1" dirty="0">
                <a:solidFill>
                  <a:srgbClr val="6E4677"/>
                </a:solidFill>
                <a:latin typeface="Georgia" pitchFamily="34" charset="0"/>
                <a:ea typeface="Georgia" pitchFamily="34" charset="-122"/>
                <a:cs typeface="Georgia" pitchFamily="34" charset="-120"/>
              </a:rPr>
              <a:t>+13 pts</a:t>
            </a:r>
            <a:endParaRPr lang="en-US" sz="3300" dirty="0"/>
          </a:p>
        </p:txBody>
      </p:sp>
      <p:sp>
        <p:nvSpPr>
          <p:cNvPr id="10" name="Text 8"/>
          <p:cNvSpPr/>
          <p:nvPr/>
        </p:nvSpPr>
        <p:spPr>
          <a:xfrm>
            <a:off x="3413760" y="3520440"/>
            <a:ext cx="2353056" cy="694944"/>
          </a:xfrm>
          <a:prstGeom prst="rect">
            <a:avLst/>
          </a:prstGeom>
          <a:noFill/>
          <a:ln/>
        </p:spPr>
        <p:txBody>
          <a:bodyPr wrap="square" lIns="0" tIns="0" rIns="0" bIns="0" rtlCol="0" anchor="t"/>
          <a:lstStyle/>
          <a:p>
            <a:pPr algn="l" indent="0" marL="0">
              <a:buNone/>
            </a:pPr>
            <a:r>
              <a:rPr lang="en-US" sz="1200" dirty="0">
                <a:solidFill>
                  <a:srgbClr val="2C2330"/>
                </a:solidFill>
                <a:latin typeface="Calibri" pitchFamily="34" charset="0"/>
                <a:ea typeface="Calibri" pitchFamily="34" charset="-122"/>
                <a:cs typeface="Calibri" pitchFamily="34" charset="-120"/>
              </a:rPr>
              <a:t>higher likelihood of persistence when a student is aware of five or more support services.</a:t>
            </a:r>
            <a:endParaRPr lang="en-US" sz="1200" dirty="0"/>
          </a:p>
        </p:txBody>
      </p:sp>
      <p:sp>
        <p:nvSpPr>
          <p:cNvPr id="11" name="Text 9"/>
          <p:cNvSpPr/>
          <p:nvPr/>
        </p:nvSpPr>
        <p:spPr>
          <a:xfrm>
            <a:off x="3413760" y="4251960"/>
            <a:ext cx="2353056" cy="219456"/>
          </a:xfrm>
          <a:prstGeom prst="rect">
            <a:avLst/>
          </a:prstGeom>
          <a:noFill/>
          <a:ln/>
        </p:spPr>
        <p:txBody>
          <a:bodyPr wrap="square" lIns="0" tIns="0" rIns="0" bIns="0" rtlCol="0" anchor="ctr"/>
          <a:lstStyle/>
          <a:p>
            <a:pPr algn="l" indent="0" marL="0">
              <a:buNone/>
            </a:pPr>
            <a:r>
              <a:rPr lang="en-US" sz="800" i="1" dirty="0">
                <a:solidFill>
                  <a:srgbClr val="8A7E7A"/>
                </a:solidFill>
                <a:latin typeface="Calibri" pitchFamily="34" charset="0"/>
                <a:ea typeface="Calibri" pitchFamily="34" charset="-122"/>
                <a:cs typeface="Calibri" pitchFamily="34" charset="-120"/>
              </a:rPr>
              <a:t>Tyton Partners, 2024</a:t>
            </a:r>
            <a:endParaRPr lang="en-US" sz="800" dirty="0"/>
          </a:p>
        </p:txBody>
      </p:sp>
      <p:sp>
        <p:nvSpPr>
          <p:cNvPr id="12" name="Shape 10"/>
          <p:cNvSpPr/>
          <p:nvPr/>
        </p:nvSpPr>
        <p:spPr>
          <a:xfrm>
            <a:off x="5913120" y="2834640"/>
            <a:ext cx="0" cy="1645920"/>
          </a:xfrm>
          <a:prstGeom prst="line">
            <a:avLst/>
          </a:prstGeom>
          <a:noFill/>
          <a:ln w="9525">
            <a:solidFill>
              <a:srgbClr val="C9BDB2"/>
            </a:solidFill>
            <a:prstDash val="solid"/>
          </a:ln>
        </p:spPr>
      </p:sp>
      <p:sp>
        <p:nvSpPr>
          <p:cNvPr id="13" name="Text 11"/>
          <p:cNvSpPr/>
          <p:nvPr/>
        </p:nvSpPr>
        <p:spPr>
          <a:xfrm>
            <a:off x="6077712" y="2788920"/>
            <a:ext cx="2407920" cy="676656"/>
          </a:xfrm>
          <a:prstGeom prst="rect">
            <a:avLst/>
          </a:prstGeom>
          <a:noFill/>
          <a:ln/>
        </p:spPr>
        <p:txBody>
          <a:bodyPr wrap="square" lIns="0" tIns="0" rIns="0" bIns="0" rtlCol="0" anchor="ctr"/>
          <a:lstStyle/>
          <a:p>
            <a:pPr algn="l" indent="0" marL="0">
              <a:buNone/>
            </a:pPr>
            <a:r>
              <a:rPr lang="en-US" sz="3300" b="1" dirty="0">
                <a:solidFill>
                  <a:srgbClr val="6E4677"/>
                </a:solidFill>
                <a:latin typeface="Georgia" pitchFamily="34" charset="0"/>
                <a:ea typeface="Georgia" pitchFamily="34" charset="-122"/>
                <a:cs typeface="Georgia" pitchFamily="34" charset="-120"/>
              </a:rPr>
              <a:t>79%</a:t>
            </a:r>
            <a:endParaRPr lang="en-US" sz="3300" dirty="0"/>
          </a:p>
        </p:txBody>
      </p:sp>
      <p:sp>
        <p:nvSpPr>
          <p:cNvPr id="14" name="Text 12"/>
          <p:cNvSpPr/>
          <p:nvPr/>
        </p:nvSpPr>
        <p:spPr>
          <a:xfrm>
            <a:off x="6096000" y="3520440"/>
            <a:ext cx="2353056" cy="694944"/>
          </a:xfrm>
          <a:prstGeom prst="rect">
            <a:avLst/>
          </a:prstGeom>
          <a:noFill/>
          <a:ln/>
        </p:spPr>
        <p:txBody>
          <a:bodyPr wrap="square" lIns="0" tIns="0" rIns="0" bIns="0" rtlCol="0" anchor="t"/>
          <a:lstStyle/>
          <a:p>
            <a:pPr algn="l" indent="0" marL="0">
              <a:buNone/>
            </a:pPr>
            <a:r>
              <a:rPr lang="en-US" sz="1200" dirty="0">
                <a:solidFill>
                  <a:srgbClr val="2C2330"/>
                </a:solidFill>
                <a:latin typeface="Calibri" pitchFamily="34" charset="0"/>
                <a:ea typeface="Calibri" pitchFamily="34" charset="-122"/>
                <a:cs typeface="Calibri" pitchFamily="34" charset="-120"/>
              </a:rPr>
              <a:t>of students who stop out cite basic needs and finances, not academic difficulty.</a:t>
            </a:r>
            <a:endParaRPr lang="en-US" sz="1200" dirty="0"/>
          </a:p>
        </p:txBody>
      </p:sp>
      <p:sp>
        <p:nvSpPr>
          <p:cNvPr id="15" name="Text 13"/>
          <p:cNvSpPr/>
          <p:nvPr/>
        </p:nvSpPr>
        <p:spPr>
          <a:xfrm>
            <a:off x="6096000" y="4251960"/>
            <a:ext cx="2353056" cy="219456"/>
          </a:xfrm>
          <a:prstGeom prst="rect">
            <a:avLst/>
          </a:prstGeom>
          <a:noFill/>
          <a:ln/>
        </p:spPr>
        <p:txBody>
          <a:bodyPr wrap="square" lIns="0" tIns="0" rIns="0" bIns="0" rtlCol="0" anchor="ctr"/>
          <a:lstStyle/>
          <a:p>
            <a:pPr algn="l" indent="0" marL="0">
              <a:buNone/>
            </a:pPr>
            <a:r>
              <a:rPr lang="en-US" sz="800" i="1" dirty="0">
                <a:solidFill>
                  <a:srgbClr val="8A7E7A"/>
                </a:solidFill>
                <a:latin typeface="Calibri" pitchFamily="34" charset="0"/>
                <a:ea typeface="Calibri" pitchFamily="34" charset="-122"/>
                <a:cs typeface="Calibri" pitchFamily="34" charset="-120"/>
              </a:rPr>
              <a:t>Hope Center, 2023–24</a:t>
            </a:r>
            <a:endParaRPr lang="en-US" sz="800" dirty="0"/>
          </a:p>
        </p:txBody>
      </p:sp>
      <p:sp>
        <p:nvSpPr>
          <p:cNvPr id="16" name="Shape 14"/>
          <p:cNvSpPr/>
          <p:nvPr/>
        </p:nvSpPr>
        <p:spPr>
          <a:xfrm>
            <a:off x="548640" y="4736592"/>
            <a:ext cx="8046720" cy="0"/>
          </a:xfrm>
          <a:prstGeom prst="line">
            <a:avLst/>
          </a:prstGeom>
          <a:noFill/>
          <a:ln w="9525">
            <a:solidFill>
              <a:srgbClr val="C9BDB2"/>
            </a:solidFill>
            <a:prstDash val="solid"/>
          </a:ln>
        </p:spPr>
      </p:sp>
      <p:sp>
        <p:nvSpPr>
          <p:cNvPr id="17" name="Text 15"/>
          <p:cNvSpPr/>
          <p:nvPr/>
        </p:nvSpPr>
        <p:spPr>
          <a:xfrm>
            <a:off x="548640" y="4791456"/>
            <a:ext cx="6858000" cy="228600"/>
          </a:xfrm>
          <a:prstGeom prst="rect">
            <a:avLst/>
          </a:prstGeom>
          <a:noFill/>
          <a:ln/>
        </p:spPr>
        <p:txBody>
          <a:bodyPr wrap="square" lIns="0" tIns="0" rIns="0" bIns="0" rtlCol="0" anchor="ctr"/>
          <a:lstStyle/>
          <a:p>
            <a:pPr indent="0" marL="0">
              <a:buNone/>
            </a:pPr>
            <a:r>
              <a:rPr lang="en-US" sz="850" spc="100" kern="0" dirty="0">
                <a:solidFill>
                  <a:srgbClr val="8A7E7A"/>
                </a:solidFill>
                <a:latin typeface="Calibri" pitchFamily="34" charset="0"/>
                <a:ea typeface="Calibri" pitchFamily="34" charset="-122"/>
                <a:cs typeface="Calibri" pitchFamily="34" charset="-120"/>
              </a:rPr>
              <a:t>Student Persistence · An Evidence Brief</a:t>
            </a:r>
            <a:endParaRPr lang="en-US" sz="850" dirty="0"/>
          </a:p>
        </p:txBody>
      </p:sp>
      <p:sp>
        <p:nvSpPr>
          <p:cNvPr id="18" name="Text 16"/>
          <p:cNvSpPr/>
          <p:nvPr/>
        </p:nvSpPr>
        <p:spPr>
          <a:xfrm>
            <a:off x="8229600" y="4791456"/>
            <a:ext cx="365760" cy="228600"/>
          </a:xfrm>
          <a:prstGeom prst="rect">
            <a:avLst/>
          </a:prstGeom>
          <a:noFill/>
          <a:ln/>
        </p:spPr>
        <p:txBody>
          <a:bodyPr wrap="square" lIns="0" tIns="0" rIns="0" bIns="0" rtlCol="0" anchor="ctr"/>
          <a:lstStyle/>
          <a:p>
            <a:pPr algn="r" indent="0" marL="0">
              <a:buNone/>
            </a:pPr>
            <a:r>
              <a:rPr lang="en-US" sz="850" dirty="0">
                <a:solidFill>
                  <a:srgbClr val="8A7E7A"/>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548640" y="411480"/>
            <a:ext cx="8046720" cy="256032"/>
          </a:xfrm>
          <a:prstGeom prst="rect">
            <a:avLst/>
          </a:prstGeom>
          <a:noFill/>
          <a:ln/>
        </p:spPr>
        <p:txBody>
          <a:bodyPr wrap="square" lIns="0" tIns="0" rIns="0" bIns="0" rtlCol="0" anchor="ctr"/>
          <a:lstStyle/>
          <a:p>
            <a:pPr indent="0" marL="0">
              <a:buNone/>
            </a:pPr>
            <a:r>
              <a:rPr lang="en-US" sz="1100" b="1" spc="250" kern="0" dirty="0">
                <a:solidFill>
                  <a:srgbClr val="B8956A"/>
                </a:solidFill>
                <a:latin typeface="Calibri" pitchFamily="34" charset="0"/>
                <a:ea typeface="Calibri" pitchFamily="34" charset="-122"/>
                <a:cs typeface="Calibri" pitchFamily="34" charset="-120"/>
              </a:rPr>
              <a:t>THE CHALLENGE, BY THE NUMBERS</a:t>
            </a:r>
            <a:endParaRPr lang="en-US" sz="1100" dirty="0"/>
          </a:p>
        </p:txBody>
      </p:sp>
      <p:sp>
        <p:nvSpPr>
          <p:cNvPr id="3" name="Text 1"/>
          <p:cNvSpPr/>
          <p:nvPr/>
        </p:nvSpPr>
        <p:spPr>
          <a:xfrm>
            <a:off x="548640" y="676656"/>
            <a:ext cx="8046720" cy="777240"/>
          </a:xfrm>
          <a:prstGeom prst="rect">
            <a:avLst/>
          </a:prstGeom>
          <a:noFill/>
          <a:ln/>
        </p:spPr>
        <p:txBody>
          <a:bodyPr wrap="square" lIns="0" tIns="0" rIns="0" bIns="0" rtlCol="0" anchor="ctr"/>
          <a:lstStyle/>
          <a:p>
            <a:pPr algn="l" indent="0" marL="0">
              <a:buNone/>
            </a:pPr>
            <a:r>
              <a:rPr lang="en-US" sz="3000" b="1" dirty="0">
                <a:solidFill>
                  <a:srgbClr val="2C2330"/>
                </a:solidFill>
                <a:latin typeface="Georgia" pitchFamily="34" charset="0"/>
                <a:ea typeface="Georgia" pitchFamily="34" charset="-122"/>
                <a:cs typeface="Georgia" pitchFamily="34" charset="-120"/>
              </a:rPr>
              <a:t>We lose the most students precisely where the need is greatest</a:t>
            </a:r>
            <a:endParaRPr lang="en-US" sz="3000" dirty="0"/>
          </a:p>
        </p:txBody>
      </p:sp>
      <p:sp>
        <p:nvSpPr>
          <p:cNvPr id="4" name="Text 2"/>
          <p:cNvSpPr/>
          <p:nvPr/>
        </p:nvSpPr>
        <p:spPr>
          <a:xfrm>
            <a:off x="548640" y="1554480"/>
            <a:ext cx="8046720" cy="548640"/>
          </a:xfrm>
          <a:prstGeom prst="rect">
            <a:avLst/>
          </a:prstGeom>
          <a:noFill/>
          <a:ln/>
        </p:spPr>
        <p:txBody>
          <a:bodyPr wrap="square" lIns="0" tIns="0" rIns="0" bIns="0" rtlCol="0" anchor="t"/>
          <a:lstStyle/>
          <a:p>
            <a:pPr indent="0" marL="0">
              <a:buNone/>
            </a:pPr>
            <a:r>
              <a:rPr lang="en-US" sz="1400" dirty="0">
                <a:solidFill>
                  <a:srgbClr val="2C2330"/>
                </a:solidFill>
                <a:latin typeface="Calibri" pitchFamily="34" charset="0"/>
                <a:ea typeface="Calibri" pitchFamily="34" charset="-122"/>
                <a:cs typeface="Calibri" pitchFamily="34" charset="-120"/>
              </a:rPr>
              <a:t>Attrition is concentrated among the populations our colleges were built to serve: part-time, working, first-generation, and caregiving students. The pattern is structural, not individual.</a:t>
            </a:r>
            <a:endParaRPr lang="en-US" sz="1400" dirty="0"/>
          </a:p>
        </p:txBody>
      </p:sp>
      <p:sp>
        <p:nvSpPr>
          <p:cNvPr id="5" name="Text 3"/>
          <p:cNvSpPr/>
          <p:nvPr/>
        </p:nvSpPr>
        <p:spPr>
          <a:xfrm>
            <a:off x="713232" y="2286000"/>
            <a:ext cx="2407920" cy="676656"/>
          </a:xfrm>
          <a:prstGeom prst="rect">
            <a:avLst/>
          </a:prstGeom>
          <a:noFill/>
          <a:ln/>
        </p:spPr>
        <p:txBody>
          <a:bodyPr wrap="square" lIns="0" tIns="0" rIns="0" bIns="0" rtlCol="0" anchor="ctr"/>
          <a:lstStyle/>
          <a:p>
            <a:pPr algn="l" indent="0" marL="0">
              <a:buNone/>
            </a:pPr>
            <a:r>
              <a:rPr lang="en-US" sz="3300" b="1" dirty="0">
                <a:solidFill>
                  <a:srgbClr val="6E4677"/>
                </a:solidFill>
                <a:latin typeface="Georgia" pitchFamily="34" charset="0"/>
                <a:ea typeface="Georgia" pitchFamily="34" charset="-122"/>
                <a:cs typeface="Georgia" pitchFamily="34" charset="-120"/>
              </a:rPr>
              <a:t>53%</a:t>
            </a:r>
            <a:endParaRPr lang="en-US" sz="3300" dirty="0"/>
          </a:p>
        </p:txBody>
      </p:sp>
      <p:sp>
        <p:nvSpPr>
          <p:cNvPr id="6" name="Text 4"/>
          <p:cNvSpPr/>
          <p:nvPr/>
        </p:nvSpPr>
        <p:spPr>
          <a:xfrm>
            <a:off x="731520" y="3017520"/>
            <a:ext cx="2353056" cy="1106424"/>
          </a:xfrm>
          <a:prstGeom prst="rect">
            <a:avLst/>
          </a:prstGeom>
          <a:noFill/>
          <a:ln/>
        </p:spPr>
        <p:txBody>
          <a:bodyPr wrap="square" lIns="0" tIns="0" rIns="0" bIns="0" rtlCol="0" anchor="t"/>
          <a:lstStyle/>
          <a:p>
            <a:pPr algn="l" indent="0" marL="0">
              <a:buNone/>
            </a:pPr>
            <a:r>
              <a:rPr lang="en-US" sz="1200" dirty="0">
                <a:solidFill>
                  <a:srgbClr val="2C2330"/>
                </a:solidFill>
                <a:latin typeface="Calibri" pitchFamily="34" charset="0"/>
                <a:ea typeface="Calibri" pitchFamily="34" charset="-122"/>
                <a:cs typeface="Calibri" pitchFamily="34" charset="-120"/>
              </a:rPr>
              <a:t>second-fall persistence for part-time students, our majority. Full-time peers persist at 84%.</a:t>
            </a:r>
            <a:endParaRPr lang="en-US" sz="1200" dirty="0"/>
          </a:p>
        </p:txBody>
      </p:sp>
      <p:sp>
        <p:nvSpPr>
          <p:cNvPr id="7" name="Text 5"/>
          <p:cNvSpPr/>
          <p:nvPr/>
        </p:nvSpPr>
        <p:spPr>
          <a:xfrm>
            <a:off x="731520" y="4160520"/>
            <a:ext cx="2353056" cy="219456"/>
          </a:xfrm>
          <a:prstGeom prst="rect">
            <a:avLst/>
          </a:prstGeom>
          <a:noFill/>
          <a:ln/>
        </p:spPr>
        <p:txBody>
          <a:bodyPr wrap="square" lIns="0" tIns="0" rIns="0" bIns="0" rtlCol="0" anchor="ctr"/>
          <a:lstStyle/>
          <a:p>
            <a:pPr algn="l" indent="0" marL="0">
              <a:buNone/>
            </a:pPr>
            <a:r>
              <a:rPr lang="en-US" sz="800" i="1" dirty="0">
                <a:solidFill>
                  <a:srgbClr val="8A7E7A"/>
                </a:solidFill>
                <a:latin typeface="Calibri" pitchFamily="34" charset="0"/>
                <a:ea typeface="Calibri" pitchFamily="34" charset="-122"/>
                <a:cs typeface="Calibri" pitchFamily="34" charset="-120"/>
              </a:rPr>
              <a:t>NSC Research Center, 2025</a:t>
            </a:r>
            <a:endParaRPr lang="en-US" sz="800" dirty="0"/>
          </a:p>
        </p:txBody>
      </p:sp>
      <p:sp>
        <p:nvSpPr>
          <p:cNvPr id="8" name="Shape 6"/>
          <p:cNvSpPr/>
          <p:nvPr/>
        </p:nvSpPr>
        <p:spPr>
          <a:xfrm>
            <a:off x="3230880" y="2331720"/>
            <a:ext cx="0" cy="2057400"/>
          </a:xfrm>
          <a:prstGeom prst="line">
            <a:avLst/>
          </a:prstGeom>
          <a:noFill/>
          <a:ln w="9525">
            <a:solidFill>
              <a:srgbClr val="C9BDB2"/>
            </a:solidFill>
            <a:prstDash val="solid"/>
          </a:ln>
        </p:spPr>
      </p:sp>
      <p:sp>
        <p:nvSpPr>
          <p:cNvPr id="9" name="Text 7"/>
          <p:cNvSpPr/>
          <p:nvPr/>
        </p:nvSpPr>
        <p:spPr>
          <a:xfrm>
            <a:off x="3395472" y="2286000"/>
            <a:ext cx="2407920" cy="676656"/>
          </a:xfrm>
          <a:prstGeom prst="rect">
            <a:avLst/>
          </a:prstGeom>
          <a:noFill/>
          <a:ln/>
        </p:spPr>
        <p:txBody>
          <a:bodyPr wrap="square" lIns="0" tIns="0" rIns="0" bIns="0" rtlCol="0" anchor="ctr"/>
          <a:lstStyle/>
          <a:p>
            <a:pPr algn="l" indent="0" marL="0">
              <a:buNone/>
            </a:pPr>
            <a:r>
              <a:rPr lang="en-US" sz="3300" b="1" dirty="0">
                <a:solidFill>
                  <a:srgbClr val="6E4677"/>
                </a:solidFill>
                <a:latin typeface="Georgia" pitchFamily="34" charset="0"/>
                <a:ea typeface="Georgia" pitchFamily="34" charset="-122"/>
                <a:cs typeface="Georgia" pitchFamily="34" charset="-120"/>
              </a:rPr>
              <a:t>35%</a:t>
            </a:r>
            <a:endParaRPr lang="en-US" sz="3300" dirty="0"/>
          </a:p>
        </p:txBody>
      </p:sp>
      <p:sp>
        <p:nvSpPr>
          <p:cNvPr id="10" name="Text 8"/>
          <p:cNvSpPr/>
          <p:nvPr/>
        </p:nvSpPr>
        <p:spPr>
          <a:xfrm>
            <a:off x="3413760" y="3017520"/>
            <a:ext cx="2353056" cy="1106424"/>
          </a:xfrm>
          <a:prstGeom prst="rect">
            <a:avLst/>
          </a:prstGeom>
          <a:noFill/>
          <a:ln/>
        </p:spPr>
        <p:txBody>
          <a:bodyPr wrap="square" lIns="0" tIns="0" rIns="0" bIns="0" rtlCol="0" anchor="t"/>
          <a:lstStyle/>
          <a:p>
            <a:pPr algn="l" indent="0" marL="0">
              <a:buNone/>
            </a:pPr>
            <a:r>
              <a:rPr lang="en-US" sz="1200" dirty="0">
                <a:solidFill>
                  <a:srgbClr val="2C2330"/>
                </a:solidFill>
                <a:latin typeface="Calibri" pitchFamily="34" charset="0"/>
                <a:ea typeface="Calibri" pitchFamily="34" charset="-122"/>
                <a:cs typeface="Calibri" pitchFamily="34" charset="-120"/>
              </a:rPr>
              <a:t>of students have actively considered leaving in the past six months.</a:t>
            </a:r>
            <a:endParaRPr lang="en-US" sz="1200" dirty="0"/>
          </a:p>
        </p:txBody>
      </p:sp>
      <p:sp>
        <p:nvSpPr>
          <p:cNvPr id="11" name="Text 9"/>
          <p:cNvSpPr/>
          <p:nvPr/>
        </p:nvSpPr>
        <p:spPr>
          <a:xfrm>
            <a:off x="3413760" y="4160520"/>
            <a:ext cx="2353056" cy="219456"/>
          </a:xfrm>
          <a:prstGeom prst="rect">
            <a:avLst/>
          </a:prstGeom>
          <a:noFill/>
          <a:ln/>
        </p:spPr>
        <p:txBody>
          <a:bodyPr wrap="square" lIns="0" tIns="0" rIns="0" bIns="0" rtlCol="0" anchor="ctr"/>
          <a:lstStyle/>
          <a:p>
            <a:pPr algn="l" indent="0" marL="0">
              <a:buNone/>
            </a:pPr>
            <a:r>
              <a:rPr lang="en-US" sz="800" i="1" dirty="0">
                <a:solidFill>
                  <a:srgbClr val="8A7E7A"/>
                </a:solidFill>
                <a:latin typeface="Calibri" pitchFamily="34" charset="0"/>
                <a:ea typeface="Calibri" pitchFamily="34" charset="-122"/>
                <a:cs typeface="Calibri" pitchFamily="34" charset="-120"/>
              </a:rPr>
              <a:t>Lumina–Gallup, 2024</a:t>
            </a:r>
            <a:endParaRPr lang="en-US" sz="800" dirty="0"/>
          </a:p>
        </p:txBody>
      </p:sp>
      <p:sp>
        <p:nvSpPr>
          <p:cNvPr id="12" name="Shape 10"/>
          <p:cNvSpPr/>
          <p:nvPr/>
        </p:nvSpPr>
        <p:spPr>
          <a:xfrm>
            <a:off x="5913120" y="2331720"/>
            <a:ext cx="0" cy="2057400"/>
          </a:xfrm>
          <a:prstGeom prst="line">
            <a:avLst/>
          </a:prstGeom>
          <a:noFill/>
          <a:ln w="9525">
            <a:solidFill>
              <a:srgbClr val="C9BDB2"/>
            </a:solidFill>
            <a:prstDash val="solid"/>
          </a:ln>
        </p:spPr>
      </p:sp>
      <p:sp>
        <p:nvSpPr>
          <p:cNvPr id="13" name="Text 11"/>
          <p:cNvSpPr/>
          <p:nvPr/>
        </p:nvSpPr>
        <p:spPr>
          <a:xfrm>
            <a:off x="6077712" y="2286000"/>
            <a:ext cx="2407920" cy="676656"/>
          </a:xfrm>
          <a:prstGeom prst="rect">
            <a:avLst/>
          </a:prstGeom>
          <a:noFill/>
          <a:ln/>
        </p:spPr>
        <p:txBody>
          <a:bodyPr wrap="square" lIns="0" tIns="0" rIns="0" bIns="0" rtlCol="0" anchor="ctr"/>
          <a:lstStyle/>
          <a:p>
            <a:pPr algn="l" indent="0" marL="0">
              <a:buNone/>
            </a:pPr>
            <a:r>
              <a:rPr lang="en-US" sz="3300" b="1" dirty="0">
                <a:solidFill>
                  <a:srgbClr val="6E4677"/>
                </a:solidFill>
                <a:latin typeface="Georgia" pitchFamily="34" charset="0"/>
                <a:ea typeface="Georgia" pitchFamily="34" charset="-122"/>
                <a:cs typeface="Georgia" pitchFamily="34" charset="-120"/>
              </a:rPr>
              <a:t>83</a:t>
            </a:r>
            <a:endParaRPr lang="en-US" sz="3300" dirty="0"/>
          </a:p>
        </p:txBody>
      </p:sp>
      <p:sp>
        <p:nvSpPr>
          <p:cNvPr id="14" name="Text 12"/>
          <p:cNvSpPr/>
          <p:nvPr/>
        </p:nvSpPr>
        <p:spPr>
          <a:xfrm>
            <a:off x="6096000" y="3017520"/>
            <a:ext cx="2353056" cy="1106424"/>
          </a:xfrm>
          <a:prstGeom prst="rect">
            <a:avLst/>
          </a:prstGeom>
          <a:noFill/>
          <a:ln/>
        </p:spPr>
        <p:txBody>
          <a:bodyPr wrap="square" lIns="0" tIns="0" rIns="0" bIns="0" rtlCol="0" anchor="t"/>
          <a:lstStyle/>
          <a:p>
            <a:pPr algn="l" indent="0" marL="0">
              <a:buNone/>
            </a:pPr>
            <a:r>
              <a:rPr lang="en-US" sz="1200" dirty="0">
                <a:solidFill>
                  <a:srgbClr val="2C2330"/>
                </a:solidFill>
                <a:latin typeface="Calibri" pitchFamily="34" charset="0"/>
                <a:ea typeface="Calibri" pitchFamily="34" charset="-122"/>
                <a:cs typeface="Calibri" pitchFamily="34" charset="-120"/>
              </a:rPr>
              <a:t>student barriers documented by our own faculty and staff, averaging 4.5 of 5 on frustration and impact.</a:t>
            </a:r>
            <a:endParaRPr lang="en-US" sz="1200" dirty="0"/>
          </a:p>
        </p:txBody>
      </p:sp>
      <p:sp>
        <p:nvSpPr>
          <p:cNvPr id="15" name="Text 13"/>
          <p:cNvSpPr/>
          <p:nvPr/>
        </p:nvSpPr>
        <p:spPr>
          <a:xfrm>
            <a:off x="6096000" y="4160520"/>
            <a:ext cx="2353056" cy="219456"/>
          </a:xfrm>
          <a:prstGeom prst="rect">
            <a:avLst/>
          </a:prstGeom>
          <a:noFill/>
          <a:ln/>
        </p:spPr>
        <p:txBody>
          <a:bodyPr wrap="square" lIns="0" tIns="0" rIns="0" bIns="0" rtlCol="0" anchor="ctr"/>
          <a:lstStyle/>
          <a:p>
            <a:pPr algn="l" indent="0" marL="0">
              <a:buNone/>
            </a:pPr>
            <a:r>
              <a:rPr lang="en-US" sz="800" i="1" dirty="0">
                <a:solidFill>
                  <a:srgbClr val="8A7E7A"/>
                </a:solidFill>
                <a:latin typeface="Calibri" pitchFamily="34" charset="0"/>
                <a:ea typeface="Calibri" pitchFamily="34" charset="-122"/>
                <a:cs typeface="Calibri" pitchFamily="34" charset="-120"/>
              </a:rPr>
              <a:t>GCC Student Frustrations Survey, 2025</a:t>
            </a:r>
            <a:endParaRPr lang="en-US" sz="800" dirty="0"/>
          </a:p>
        </p:txBody>
      </p:sp>
      <p:sp>
        <p:nvSpPr>
          <p:cNvPr id="16" name="Shape 14"/>
          <p:cNvSpPr/>
          <p:nvPr/>
        </p:nvSpPr>
        <p:spPr>
          <a:xfrm>
            <a:off x="548640" y="4736592"/>
            <a:ext cx="8046720" cy="0"/>
          </a:xfrm>
          <a:prstGeom prst="line">
            <a:avLst/>
          </a:prstGeom>
          <a:noFill/>
          <a:ln w="9525">
            <a:solidFill>
              <a:srgbClr val="C9BDB2"/>
            </a:solidFill>
            <a:prstDash val="solid"/>
          </a:ln>
        </p:spPr>
      </p:sp>
      <p:sp>
        <p:nvSpPr>
          <p:cNvPr id="17" name="Text 15"/>
          <p:cNvSpPr/>
          <p:nvPr/>
        </p:nvSpPr>
        <p:spPr>
          <a:xfrm>
            <a:off x="548640" y="4791456"/>
            <a:ext cx="6858000" cy="228600"/>
          </a:xfrm>
          <a:prstGeom prst="rect">
            <a:avLst/>
          </a:prstGeom>
          <a:noFill/>
          <a:ln/>
        </p:spPr>
        <p:txBody>
          <a:bodyPr wrap="square" lIns="0" tIns="0" rIns="0" bIns="0" rtlCol="0" anchor="ctr"/>
          <a:lstStyle/>
          <a:p>
            <a:pPr indent="0" marL="0">
              <a:buNone/>
            </a:pPr>
            <a:r>
              <a:rPr lang="en-US" sz="850" spc="100" kern="0" dirty="0">
                <a:solidFill>
                  <a:srgbClr val="8A7E7A"/>
                </a:solidFill>
                <a:latin typeface="Calibri" pitchFamily="34" charset="0"/>
                <a:ea typeface="Calibri" pitchFamily="34" charset="-122"/>
                <a:cs typeface="Calibri" pitchFamily="34" charset="-120"/>
              </a:rPr>
              <a:t>Student Persistence · An Evidence Brief</a:t>
            </a:r>
            <a:endParaRPr lang="en-US" sz="850" dirty="0"/>
          </a:p>
        </p:txBody>
      </p:sp>
      <p:sp>
        <p:nvSpPr>
          <p:cNvPr id="18" name="Text 16"/>
          <p:cNvSpPr/>
          <p:nvPr/>
        </p:nvSpPr>
        <p:spPr>
          <a:xfrm>
            <a:off x="8229600" y="4791456"/>
            <a:ext cx="365760" cy="228600"/>
          </a:xfrm>
          <a:prstGeom prst="rect">
            <a:avLst/>
          </a:prstGeom>
          <a:noFill/>
          <a:ln/>
        </p:spPr>
        <p:txBody>
          <a:bodyPr wrap="square" lIns="0" tIns="0" rIns="0" bIns="0" rtlCol="0" anchor="ctr"/>
          <a:lstStyle/>
          <a:p>
            <a:pPr algn="r" indent="0" marL="0">
              <a:buNone/>
            </a:pPr>
            <a:r>
              <a:rPr lang="en-US" sz="850" dirty="0">
                <a:solidFill>
                  <a:srgbClr val="8A7E7A"/>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548640" y="411480"/>
            <a:ext cx="8046720" cy="256032"/>
          </a:xfrm>
          <a:prstGeom prst="rect">
            <a:avLst/>
          </a:prstGeom>
          <a:noFill/>
          <a:ln/>
        </p:spPr>
        <p:txBody>
          <a:bodyPr wrap="square" lIns="0" tIns="0" rIns="0" bIns="0" rtlCol="0" anchor="ctr"/>
          <a:lstStyle/>
          <a:p>
            <a:pPr indent="0" marL="0">
              <a:buNone/>
            </a:pPr>
            <a:r>
              <a:rPr lang="en-US" sz="1100" b="1" spc="250" kern="0" dirty="0">
                <a:solidFill>
                  <a:srgbClr val="B8956A"/>
                </a:solidFill>
                <a:latin typeface="Calibri" pitchFamily="34" charset="0"/>
                <a:ea typeface="Calibri" pitchFamily="34" charset="-122"/>
                <a:cs typeface="Calibri" pitchFamily="34" charset="-120"/>
              </a:rPr>
              <a:t>UNDERSTANDING OUR STUDENTS</a:t>
            </a:r>
            <a:endParaRPr lang="en-US" sz="1100" dirty="0"/>
          </a:p>
        </p:txBody>
      </p:sp>
      <p:sp>
        <p:nvSpPr>
          <p:cNvPr id="3" name="Text 1"/>
          <p:cNvSpPr/>
          <p:nvPr/>
        </p:nvSpPr>
        <p:spPr>
          <a:xfrm>
            <a:off x="548640" y="676656"/>
            <a:ext cx="8046720" cy="777240"/>
          </a:xfrm>
          <a:prstGeom prst="rect">
            <a:avLst/>
          </a:prstGeom>
          <a:noFill/>
          <a:ln/>
        </p:spPr>
        <p:txBody>
          <a:bodyPr wrap="square" lIns="0" tIns="0" rIns="0" bIns="0" rtlCol="0" anchor="ctr"/>
          <a:lstStyle/>
          <a:p>
            <a:pPr algn="l" indent="0" marL="0">
              <a:buNone/>
            </a:pPr>
            <a:r>
              <a:rPr lang="en-US" sz="3000" b="1" dirty="0">
                <a:solidFill>
                  <a:srgbClr val="2C2330"/>
                </a:solidFill>
                <a:latin typeface="Georgia" pitchFamily="34" charset="0"/>
                <a:ea typeface="Georgia" pitchFamily="34" charset="-122"/>
                <a:cs typeface="Georgia" pitchFamily="34" charset="-120"/>
              </a:rPr>
              <a:t>The load our students carry, in person and online</a:t>
            </a:r>
            <a:endParaRPr lang="en-US" sz="3000" dirty="0"/>
          </a:p>
        </p:txBody>
      </p:sp>
      <p:sp>
        <p:nvSpPr>
          <p:cNvPr id="4" name="Text 2"/>
          <p:cNvSpPr/>
          <p:nvPr/>
        </p:nvSpPr>
        <p:spPr>
          <a:xfrm>
            <a:off x="713232" y="1572768"/>
            <a:ext cx="1737360" cy="676656"/>
          </a:xfrm>
          <a:prstGeom prst="rect">
            <a:avLst/>
          </a:prstGeom>
          <a:noFill/>
          <a:ln/>
        </p:spPr>
        <p:txBody>
          <a:bodyPr wrap="square" lIns="0" tIns="0" rIns="0" bIns="0" rtlCol="0" anchor="ctr"/>
          <a:lstStyle/>
          <a:p>
            <a:pPr algn="l" indent="0" marL="0">
              <a:buNone/>
            </a:pPr>
            <a:r>
              <a:rPr lang="en-US" sz="3300" b="1" dirty="0">
                <a:solidFill>
                  <a:srgbClr val="6E4677"/>
                </a:solidFill>
                <a:latin typeface="Georgia" pitchFamily="34" charset="0"/>
                <a:ea typeface="Georgia" pitchFamily="34" charset="-122"/>
                <a:cs typeface="Georgia" pitchFamily="34" charset="-120"/>
              </a:rPr>
              <a:t>59%</a:t>
            </a:r>
            <a:endParaRPr lang="en-US" sz="3300" dirty="0"/>
          </a:p>
        </p:txBody>
      </p:sp>
      <p:sp>
        <p:nvSpPr>
          <p:cNvPr id="5" name="Text 3"/>
          <p:cNvSpPr/>
          <p:nvPr/>
        </p:nvSpPr>
        <p:spPr>
          <a:xfrm>
            <a:off x="731520" y="2304288"/>
            <a:ext cx="1682496" cy="493776"/>
          </a:xfrm>
          <a:prstGeom prst="rect">
            <a:avLst/>
          </a:prstGeom>
          <a:noFill/>
          <a:ln/>
        </p:spPr>
        <p:txBody>
          <a:bodyPr wrap="square" lIns="0" tIns="0" rIns="0" bIns="0" rtlCol="0" anchor="t"/>
          <a:lstStyle/>
          <a:p>
            <a:pPr algn="l" indent="0" marL="0">
              <a:buNone/>
            </a:pPr>
            <a:r>
              <a:rPr lang="en-US" sz="1200" dirty="0">
                <a:solidFill>
                  <a:srgbClr val="2C2330"/>
                </a:solidFill>
                <a:latin typeface="Calibri" pitchFamily="34" charset="0"/>
                <a:ea typeface="Calibri" pitchFamily="34" charset="-122"/>
                <a:cs typeface="Calibri" pitchFamily="34" charset="-120"/>
              </a:rPr>
              <a:t>face food or housing insecurity.</a:t>
            </a:r>
            <a:endParaRPr lang="en-US" sz="1200" dirty="0"/>
          </a:p>
        </p:txBody>
      </p:sp>
      <p:sp>
        <p:nvSpPr>
          <p:cNvPr id="6" name="Text 4"/>
          <p:cNvSpPr/>
          <p:nvPr/>
        </p:nvSpPr>
        <p:spPr>
          <a:xfrm>
            <a:off x="731520" y="2834640"/>
            <a:ext cx="1682496" cy="219456"/>
          </a:xfrm>
          <a:prstGeom prst="rect">
            <a:avLst/>
          </a:prstGeom>
          <a:noFill/>
          <a:ln/>
        </p:spPr>
        <p:txBody>
          <a:bodyPr wrap="square" lIns="0" tIns="0" rIns="0" bIns="0" rtlCol="0" anchor="ctr"/>
          <a:lstStyle/>
          <a:p>
            <a:pPr algn="l" indent="0" marL="0">
              <a:buNone/>
            </a:pPr>
            <a:r>
              <a:rPr lang="en-US" sz="800" i="1" dirty="0">
                <a:solidFill>
                  <a:srgbClr val="8A7E7A"/>
                </a:solidFill>
                <a:latin typeface="Calibri" pitchFamily="34" charset="0"/>
                <a:ea typeface="Calibri" pitchFamily="34" charset="-122"/>
                <a:cs typeface="Calibri" pitchFamily="34" charset="-120"/>
              </a:rPr>
              <a:t>Hope Center</a:t>
            </a:r>
            <a:endParaRPr lang="en-US" sz="800" dirty="0"/>
          </a:p>
        </p:txBody>
      </p:sp>
      <p:sp>
        <p:nvSpPr>
          <p:cNvPr id="7" name="Shape 5"/>
          <p:cNvSpPr/>
          <p:nvPr/>
        </p:nvSpPr>
        <p:spPr>
          <a:xfrm>
            <a:off x="2560320" y="1618488"/>
            <a:ext cx="0" cy="1444752"/>
          </a:xfrm>
          <a:prstGeom prst="line">
            <a:avLst/>
          </a:prstGeom>
          <a:noFill/>
          <a:ln w="9525">
            <a:solidFill>
              <a:srgbClr val="C9BDB2"/>
            </a:solidFill>
            <a:prstDash val="solid"/>
          </a:ln>
        </p:spPr>
      </p:sp>
      <p:sp>
        <p:nvSpPr>
          <p:cNvPr id="8" name="Text 6"/>
          <p:cNvSpPr/>
          <p:nvPr/>
        </p:nvSpPr>
        <p:spPr>
          <a:xfrm>
            <a:off x="2724912" y="1572768"/>
            <a:ext cx="1737360" cy="676656"/>
          </a:xfrm>
          <a:prstGeom prst="rect">
            <a:avLst/>
          </a:prstGeom>
          <a:noFill/>
          <a:ln/>
        </p:spPr>
        <p:txBody>
          <a:bodyPr wrap="square" lIns="0" tIns="0" rIns="0" bIns="0" rtlCol="0" anchor="ctr"/>
          <a:lstStyle/>
          <a:p>
            <a:pPr algn="l" indent="0" marL="0">
              <a:buNone/>
            </a:pPr>
            <a:r>
              <a:rPr lang="en-US" sz="3300" b="1" dirty="0">
                <a:solidFill>
                  <a:srgbClr val="6E4677"/>
                </a:solidFill>
                <a:latin typeface="Georgia" pitchFamily="34" charset="0"/>
                <a:ea typeface="Georgia" pitchFamily="34" charset="-122"/>
                <a:cs typeface="Georgia" pitchFamily="34" charset="-120"/>
              </a:rPr>
              <a:t>80%</a:t>
            </a:r>
            <a:endParaRPr lang="en-US" sz="3300" dirty="0"/>
          </a:p>
        </p:txBody>
      </p:sp>
      <p:sp>
        <p:nvSpPr>
          <p:cNvPr id="9" name="Text 7"/>
          <p:cNvSpPr/>
          <p:nvPr/>
        </p:nvSpPr>
        <p:spPr>
          <a:xfrm>
            <a:off x="2743200" y="2304288"/>
            <a:ext cx="1682496" cy="493776"/>
          </a:xfrm>
          <a:prstGeom prst="rect">
            <a:avLst/>
          </a:prstGeom>
          <a:noFill/>
          <a:ln/>
        </p:spPr>
        <p:txBody>
          <a:bodyPr wrap="square" lIns="0" tIns="0" rIns="0" bIns="0" rtlCol="0" anchor="t"/>
          <a:lstStyle/>
          <a:p>
            <a:pPr algn="l" indent="0" marL="0">
              <a:buNone/>
            </a:pPr>
            <a:r>
              <a:rPr lang="en-US" sz="1200" dirty="0">
                <a:solidFill>
                  <a:srgbClr val="2C2330"/>
                </a:solidFill>
                <a:latin typeface="Calibri" pitchFamily="34" charset="0"/>
                <a:ea typeface="Calibri" pitchFamily="34" charset="-122"/>
                <a:cs typeface="Calibri" pitchFamily="34" charset="-120"/>
              </a:rPr>
              <a:t>are employed, many 20+ hours weekly.</a:t>
            </a:r>
            <a:endParaRPr lang="en-US" sz="1200" dirty="0"/>
          </a:p>
        </p:txBody>
      </p:sp>
      <p:sp>
        <p:nvSpPr>
          <p:cNvPr id="10" name="Text 8"/>
          <p:cNvSpPr/>
          <p:nvPr/>
        </p:nvSpPr>
        <p:spPr>
          <a:xfrm>
            <a:off x="2743200" y="2834640"/>
            <a:ext cx="1682496" cy="219456"/>
          </a:xfrm>
          <a:prstGeom prst="rect">
            <a:avLst/>
          </a:prstGeom>
          <a:noFill/>
          <a:ln/>
        </p:spPr>
        <p:txBody>
          <a:bodyPr wrap="square" lIns="0" tIns="0" rIns="0" bIns="0" rtlCol="0" anchor="ctr"/>
          <a:lstStyle/>
          <a:p>
            <a:pPr algn="l" indent="0" marL="0">
              <a:buNone/>
            </a:pPr>
            <a:r>
              <a:rPr lang="en-US" sz="800" i="1" dirty="0">
                <a:solidFill>
                  <a:srgbClr val="8A7E7A"/>
                </a:solidFill>
                <a:latin typeface="Calibri" pitchFamily="34" charset="0"/>
                <a:ea typeface="Calibri" pitchFamily="34" charset="-122"/>
                <a:cs typeface="Calibri" pitchFamily="34" charset="-120"/>
              </a:rPr>
              <a:t>AAUP / NCES</a:t>
            </a:r>
            <a:endParaRPr lang="en-US" sz="800" dirty="0"/>
          </a:p>
        </p:txBody>
      </p:sp>
      <p:sp>
        <p:nvSpPr>
          <p:cNvPr id="11" name="Shape 9"/>
          <p:cNvSpPr/>
          <p:nvPr/>
        </p:nvSpPr>
        <p:spPr>
          <a:xfrm>
            <a:off x="4572000" y="1618488"/>
            <a:ext cx="0" cy="1444752"/>
          </a:xfrm>
          <a:prstGeom prst="line">
            <a:avLst/>
          </a:prstGeom>
          <a:noFill/>
          <a:ln w="9525">
            <a:solidFill>
              <a:srgbClr val="C9BDB2"/>
            </a:solidFill>
            <a:prstDash val="solid"/>
          </a:ln>
        </p:spPr>
      </p:sp>
      <p:sp>
        <p:nvSpPr>
          <p:cNvPr id="12" name="Text 10"/>
          <p:cNvSpPr/>
          <p:nvPr/>
        </p:nvSpPr>
        <p:spPr>
          <a:xfrm>
            <a:off x="4736592" y="1572768"/>
            <a:ext cx="1737360" cy="676656"/>
          </a:xfrm>
          <a:prstGeom prst="rect">
            <a:avLst/>
          </a:prstGeom>
          <a:noFill/>
          <a:ln/>
        </p:spPr>
        <p:txBody>
          <a:bodyPr wrap="square" lIns="0" tIns="0" rIns="0" bIns="0" rtlCol="0" anchor="ctr"/>
          <a:lstStyle/>
          <a:p>
            <a:pPr algn="l" indent="0" marL="0">
              <a:buNone/>
            </a:pPr>
            <a:r>
              <a:rPr lang="en-US" sz="3300" b="1" dirty="0">
                <a:solidFill>
                  <a:srgbClr val="6E4677"/>
                </a:solidFill>
                <a:latin typeface="Georgia" pitchFamily="34" charset="0"/>
                <a:ea typeface="Georgia" pitchFamily="34" charset="-122"/>
                <a:cs typeface="Georgia" pitchFamily="34" charset="-120"/>
              </a:rPr>
              <a:t>1 in 5</a:t>
            </a:r>
            <a:endParaRPr lang="en-US" sz="3300" dirty="0"/>
          </a:p>
        </p:txBody>
      </p:sp>
      <p:sp>
        <p:nvSpPr>
          <p:cNvPr id="13" name="Text 11"/>
          <p:cNvSpPr/>
          <p:nvPr/>
        </p:nvSpPr>
        <p:spPr>
          <a:xfrm>
            <a:off x="4754880" y="2304288"/>
            <a:ext cx="1682496" cy="493776"/>
          </a:xfrm>
          <a:prstGeom prst="rect">
            <a:avLst/>
          </a:prstGeom>
          <a:noFill/>
          <a:ln/>
        </p:spPr>
        <p:txBody>
          <a:bodyPr wrap="square" lIns="0" tIns="0" rIns="0" bIns="0" rtlCol="0" anchor="t"/>
          <a:lstStyle/>
          <a:p>
            <a:pPr algn="l" indent="0" marL="0">
              <a:buNone/>
            </a:pPr>
            <a:r>
              <a:rPr lang="en-US" sz="1200" dirty="0">
                <a:solidFill>
                  <a:srgbClr val="2C2330"/>
                </a:solidFill>
                <a:latin typeface="Calibri" pitchFamily="34" charset="0"/>
                <a:ea typeface="Calibri" pitchFamily="34" charset="-122"/>
                <a:cs typeface="Calibri" pitchFamily="34" charset="-120"/>
              </a:rPr>
              <a:t>are parents; many also support siblings, parents, or ill relatives.</a:t>
            </a:r>
            <a:endParaRPr lang="en-US" sz="1200" dirty="0"/>
          </a:p>
        </p:txBody>
      </p:sp>
      <p:sp>
        <p:nvSpPr>
          <p:cNvPr id="14" name="Text 12"/>
          <p:cNvSpPr/>
          <p:nvPr/>
        </p:nvSpPr>
        <p:spPr>
          <a:xfrm>
            <a:off x="4754880" y="2834640"/>
            <a:ext cx="1682496" cy="219456"/>
          </a:xfrm>
          <a:prstGeom prst="rect">
            <a:avLst/>
          </a:prstGeom>
          <a:noFill/>
          <a:ln/>
        </p:spPr>
        <p:txBody>
          <a:bodyPr wrap="square" lIns="0" tIns="0" rIns="0" bIns="0" rtlCol="0" anchor="ctr"/>
          <a:lstStyle/>
          <a:p>
            <a:pPr algn="l" indent="0" marL="0">
              <a:buNone/>
            </a:pPr>
            <a:r>
              <a:rPr lang="en-US" sz="800" i="1" dirty="0">
                <a:solidFill>
                  <a:srgbClr val="8A7E7A"/>
                </a:solidFill>
                <a:latin typeface="Calibri" pitchFamily="34" charset="0"/>
                <a:ea typeface="Calibri" pitchFamily="34" charset="-122"/>
                <a:cs typeface="Calibri" pitchFamily="34" charset="-120"/>
              </a:rPr>
              <a:t>CCSSE · IWPR</a:t>
            </a:r>
            <a:endParaRPr lang="en-US" sz="800" dirty="0"/>
          </a:p>
        </p:txBody>
      </p:sp>
      <p:sp>
        <p:nvSpPr>
          <p:cNvPr id="15" name="Shape 13"/>
          <p:cNvSpPr/>
          <p:nvPr/>
        </p:nvSpPr>
        <p:spPr>
          <a:xfrm>
            <a:off x="6583680" y="1618488"/>
            <a:ext cx="0" cy="1444752"/>
          </a:xfrm>
          <a:prstGeom prst="line">
            <a:avLst/>
          </a:prstGeom>
          <a:noFill/>
          <a:ln w="9525">
            <a:solidFill>
              <a:srgbClr val="C9BDB2"/>
            </a:solidFill>
            <a:prstDash val="solid"/>
          </a:ln>
        </p:spPr>
      </p:sp>
      <p:sp>
        <p:nvSpPr>
          <p:cNvPr id="16" name="Text 14"/>
          <p:cNvSpPr/>
          <p:nvPr/>
        </p:nvSpPr>
        <p:spPr>
          <a:xfrm>
            <a:off x="6748272" y="1572768"/>
            <a:ext cx="1737360" cy="676656"/>
          </a:xfrm>
          <a:prstGeom prst="rect">
            <a:avLst/>
          </a:prstGeom>
          <a:noFill/>
          <a:ln/>
        </p:spPr>
        <p:txBody>
          <a:bodyPr wrap="square" lIns="0" tIns="0" rIns="0" bIns="0" rtlCol="0" anchor="ctr"/>
          <a:lstStyle/>
          <a:p>
            <a:pPr algn="l" indent="0" marL="0">
              <a:buNone/>
            </a:pPr>
            <a:r>
              <a:rPr lang="en-US" sz="3300" b="1" dirty="0">
                <a:solidFill>
                  <a:srgbClr val="6E4677"/>
                </a:solidFill>
                <a:latin typeface="Georgia" pitchFamily="34" charset="0"/>
                <a:ea typeface="Georgia" pitchFamily="34" charset="-122"/>
                <a:cs typeface="Georgia" pitchFamily="34" charset="-120"/>
              </a:rPr>
              <a:t>54%</a:t>
            </a:r>
            <a:endParaRPr lang="en-US" sz="3300" dirty="0"/>
          </a:p>
        </p:txBody>
      </p:sp>
      <p:sp>
        <p:nvSpPr>
          <p:cNvPr id="17" name="Text 15"/>
          <p:cNvSpPr/>
          <p:nvPr/>
        </p:nvSpPr>
        <p:spPr>
          <a:xfrm>
            <a:off x="6766560" y="2304288"/>
            <a:ext cx="1682496" cy="493776"/>
          </a:xfrm>
          <a:prstGeom prst="rect">
            <a:avLst/>
          </a:prstGeom>
          <a:noFill/>
          <a:ln/>
        </p:spPr>
        <p:txBody>
          <a:bodyPr wrap="square" lIns="0" tIns="0" rIns="0" bIns="0" rtlCol="0" anchor="t"/>
          <a:lstStyle/>
          <a:p>
            <a:pPr algn="l" indent="0" marL="0">
              <a:buNone/>
            </a:pPr>
            <a:r>
              <a:rPr lang="en-US" sz="1200" dirty="0">
                <a:solidFill>
                  <a:srgbClr val="2C2330"/>
                </a:solidFill>
                <a:latin typeface="Calibri" pitchFamily="34" charset="0"/>
                <a:ea typeface="Calibri" pitchFamily="34" charset="-122"/>
                <a:cs typeface="Calibri" pitchFamily="34" charset="-120"/>
              </a:rPr>
              <a:t>cite emotional stress as a reason for considering departure.</a:t>
            </a:r>
            <a:endParaRPr lang="en-US" sz="1200" dirty="0"/>
          </a:p>
        </p:txBody>
      </p:sp>
      <p:sp>
        <p:nvSpPr>
          <p:cNvPr id="18" name="Text 16"/>
          <p:cNvSpPr/>
          <p:nvPr/>
        </p:nvSpPr>
        <p:spPr>
          <a:xfrm>
            <a:off x="6766560" y="2834640"/>
            <a:ext cx="1682496" cy="219456"/>
          </a:xfrm>
          <a:prstGeom prst="rect">
            <a:avLst/>
          </a:prstGeom>
          <a:noFill/>
          <a:ln/>
        </p:spPr>
        <p:txBody>
          <a:bodyPr wrap="square" lIns="0" tIns="0" rIns="0" bIns="0" rtlCol="0" anchor="ctr"/>
          <a:lstStyle/>
          <a:p>
            <a:pPr algn="l" indent="0" marL="0">
              <a:buNone/>
            </a:pPr>
            <a:r>
              <a:rPr lang="en-US" sz="800" i="1" dirty="0">
                <a:solidFill>
                  <a:srgbClr val="8A7E7A"/>
                </a:solidFill>
                <a:latin typeface="Calibri" pitchFamily="34" charset="0"/>
                <a:ea typeface="Calibri" pitchFamily="34" charset="-122"/>
                <a:cs typeface="Calibri" pitchFamily="34" charset="-120"/>
              </a:rPr>
              <a:t>Lumina–Gallup</a:t>
            </a:r>
            <a:endParaRPr lang="en-US" sz="800" dirty="0"/>
          </a:p>
        </p:txBody>
      </p:sp>
      <p:sp>
        <p:nvSpPr>
          <p:cNvPr id="19" name="Shape 17"/>
          <p:cNvSpPr/>
          <p:nvPr/>
        </p:nvSpPr>
        <p:spPr>
          <a:xfrm>
            <a:off x="548640" y="3291840"/>
            <a:ext cx="8046720" cy="1097280"/>
          </a:xfrm>
          <a:prstGeom prst="rect">
            <a:avLst/>
          </a:prstGeom>
          <a:solidFill>
            <a:srgbClr val="F3EEE7"/>
          </a:solidFill>
          <a:ln/>
        </p:spPr>
      </p:sp>
      <p:sp>
        <p:nvSpPr>
          <p:cNvPr id="20" name="Shape 18"/>
          <p:cNvSpPr/>
          <p:nvPr/>
        </p:nvSpPr>
        <p:spPr>
          <a:xfrm>
            <a:off x="548640" y="3291840"/>
            <a:ext cx="64008" cy="1097280"/>
          </a:xfrm>
          <a:prstGeom prst="rect">
            <a:avLst/>
          </a:prstGeom>
          <a:solidFill>
            <a:srgbClr val="B8956A"/>
          </a:solidFill>
          <a:ln/>
        </p:spPr>
      </p:sp>
      <p:sp>
        <p:nvSpPr>
          <p:cNvPr id="21" name="Text 19"/>
          <p:cNvSpPr/>
          <p:nvPr/>
        </p:nvSpPr>
        <p:spPr>
          <a:xfrm>
            <a:off x="777240" y="3291840"/>
            <a:ext cx="7589520" cy="1097280"/>
          </a:xfrm>
          <a:prstGeom prst="rect">
            <a:avLst/>
          </a:prstGeom>
          <a:noFill/>
          <a:ln/>
        </p:spPr>
        <p:txBody>
          <a:bodyPr wrap="square" lIns="0" tIns="0" rIns="0" bIns="0" rtlCol="0" anchor="ctr"/>
          <a:lstStyle/>
          <a:p>
            <a:pPr indent="0" marL="0">
              <a:buNone/>
            </a:pPr>
            <a:r>
              <a:rPr lang="en-US" sz="1350" i="1" dirty="0">
                <a:solidFill>
                  <a:srgbClr val="2C2330"/>
                </a:solidFill>
                <a:latin typeface="Georgia" pitchFamily="34" charset="0"/>
                <a:ea typeface="Georgia" pitchFamily="34" charset="-122"/>
                <a:cs typeface="Georgia" pitchFamily="34" charset="-120"/>
              </a:rPr>
              <a:t>These are not edge cases; they are the modal experience of the community college student. Nine of the ten Maricopa colleges are Hispanic-Serving Institutions, where extended-family caregiving for siblings, parents, and ill relatives reaches well beyond the one in five who are parents.</a:t>
            </a:r>
            <a:endParaRPr lang="en-US" sz="1350" dirty="0"/>
          </a:p>
        </p:txBody>
      </p:sp>
      <p:sp>
        <p:nvSpPr>
          <p:cNvPr id="22" name="Shape 20"/>
          <p:cNvSpPr/>
          <p:nvPr/>
        </p:nvSpPr>
        <p:spPr>
          <a:xfrm>
            <a:off x="548640" y="4736592"/>
            <a:ext cx="8046720" cy="0"/>
          </a:xfrm>
          <a:prstGeom prst="line">
            <a:avLst/>
          </a:prstGeom>
          <a:noFill/>
          <a:ln w="9525">
            <a:solidFill>
              <a:srgbClr val="C9BDB2"/>
            </a:solidFill>
            <a:prstDash val="solid"/>
          </a:ln>
        </p:spPr>
      </p:sp>
      <p:sp>
        <p:nvSpPr>
          <p:cNvPr id="23" name="Text 21"/>
          <p:cNvSpPr/>
          <p:nvPr/>
        </p:nvSpPr>
        <p:spPr>
          <a:xfrm>
            <a:off x="548640" y="4791456"/>
            <a:ext cx="6858000" cy="228600"/>
          </a:xfrm>
          <a:prstGeom prst="rect">
            <a:avLst/>
          </a:prstGeom>
          <a:noFill/>
          <a:ln/>
        </p:spPr>
        <p:txBody>
          <a:bodyPr wrap="square" lIns="0" tIns="0" rIns="0" bIns="0" rtlCol="0" anchor="ctr"/>
          <a:lstStyle/>
          <a:p>
            <a:pPr indent="0" marL="0">
              <a:buNone/>
            </a:pPr>
            <a:r>
              <a:rPr lang="en-US" sz="850" spc="100" kern="0" dirty="0">
                <a:solidFill>
                  <a:srgbClr val="8A7E7A"/>
                </a:solidFill>
                <a:latin typeface="Calibri" pitchFamily="34" charset="0"/>
                <a:ea typeface="Calibri" pitchFamily="34" charset="-122"/>
                <a:cs typeface="Calibri" pitchFamily="34" charset="-120"/>
              </a:rPr>
              <a:t>Student Persistence · An Evidence Brief</a:t>
            </a:r>
            <a:endParaRPr lang="en-US" sz="850" dirty="0"/>
          </a:p>
        </p:txBody>
      </p:sp>
      <p:sp>
        <p:nvSpPr>
          <p:cNvPr id="24" name="Text 22"/>
          <p:cNvSpPr/>
          <p:nvPr/>
        </p:nvSpPr>
        <p:spPr>
          <a:xfrm>
            <a:off x="8229600" y="4791456"/>
            <a:ext cx="365760" cy="228600"/>
          </a:xfrm>
          <a:prstGeom prst="rect">
            <a:avLst/>
          </a:prstGeom>
          <a:noFill/>
          <a:ln/>
        </p:spPr>
        <p:txBody>
          <a:bodyPr wrap="square" lIns="0" tIns="0" rIns="0" bIns="0" rtlCol="0" anchor="ctr"/>
          <a:lstStyle/>
          <a:p>
            <a:pPr algn="r" indent="0" marL="0">
              <a:buNone/>
            </a:pPr>
            <a:r>
              <a:rPr lang="en-US" sz="850" dirty="0">
                <a:solidFill>
                  <a:srgbClr val="8A7E7A"/>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548640" y="411480"/>
            <a:ext cx="8046720" cy="256032"/>
          </a:xfrm>
          <a:prstGeom prst="rect">
            <a:avLst/>
          </a:prstGeom>
          <a:noFill/>
          <a:ln/>
        </p:spPr>
        <p:txBody>
          <a:bodyPr wrap="square" lIns="0" tIns="0" rIns="0" bIns="0" rtlCol="0" anchor="ctr"/>
          <a:lstStyle/>
          <a:p>
            <a:pPr indent="0" marL="0">
              <a:buNone/>
            </a:pPr>
            <a:r>
              <a:rPr lang="en-US" sz="1100" b="1" spc="250" kern="0" dirty="0">
                <a:solidFill>
                  <a:srgbClr val="B8956A"/>
                </a:solidFill>
                <a:latin typeface="Calibri" pitchFamily="34" charset="0"/>
                <a:ea typeface="Calibri" pitchFamily="34" charset="-122"/>
                <a:cs typeface="Calibri" pitchFamily="34" charset="-120"/>
              </a:rPr>
              <a:t>WHERE THE LOAD IS HEAVIEST</a:t>
            </a:r>
            <a:endParaRPr lang="en-US" sz="1100" dirty="0"/>
          </a:p>
        </p:txBody>
      </p:sp>
      <p:sp>
        <p:nvSpPr>
          <p:cNvPr id="3" name="Text 1"/>
          <p:cNvSpPr/>
          <p:nvPr/>
        </p:nvSpPr>
        <p:spPr>
          <a:xfrm>
            <a:off x="548640" y="676656"/>
            <a:ext cx="8046720" cy="777240"/>
          </a:xfrm>
          <a:prstGeom prst="rect">
            <a:avLst/>
          </a:prstGeom>
          <a:noFill/>
          <a:ln/>
        </p:spPr>
        <p:txBody>
          <a:bodyPr wrap="square" lIns="0" tIns="0" rIns="0" bIns="0" rtlCol="0" anchor="ctr"/>
          <a:lstStyle/>
          <a:p>
            <a:pPr algn="l" indent="0" marL="0">
              <a:buNone/>
            </a:pPr>
            <a:r>
              <a:rPr lang="en-US" sz="3000" b="1" dirty="0">
                <a:solidFill>
                  <a:srgbClr val="2C2330"/>
                </a:solidFill>
                <a:latin typeface="Georgia" pitchFamily="34" charset="0"/>
                <a:ea typeface="Georgia" pitchFamily="34" charset="-122"/>
                <a:cs typeface="Georgia" pitchFamily="34" charset="-120"/>
              </a:rPr>
              <a:t>Our highest-need students concentrate in online courses</a:t>
            </a:r>
            <a:endParaRPr lang="en-US" sz="3000" dirty="0"/>
          </a:p>
        </p:txBody>
      </p:sp>
      <p:sp>
        <p:nvSpPr>
          <p:cNvPr id="4" name="Text 2"/>
          <p:cNvSpPr/>
          <p:nvPr/>
        </p:nvSpPr>
        <p:spPr>
          <a:xfrm>
            <a:off x="548640" y="1536192"/>
            <a:ext cx="8046720" cy="914400"/>
          </a:xfrm>
          <a:prstGeom prst="rect">
            <a:avLst/>
          </a:prstGeom>
          <a:noFill/>
          <a:ln/>
        </p:spPr>
        <p:txBody>
          <a:bodyPr wrap="square" lIns="0" tIns="0" rIns="0" bIns="0" rtlCol="0" anchor="t"/>
          <a:lstStyle/>
          <a:p>
            <a:pPr indent="0" marL="0">
              <a:buNone/>
            </a:pPr>
            <a:r>
              <a:rPr lang="en-US" sz="1400" dirty="0">
                <a:solidFill>
                  <a:srgbClr val="2C2330"/>
                </a:solidFill>
                <a:latin typeface="Calibri" pitchFamily="34" charset="0"/>
                <a:ea typeface="Calibri" pitchFamily="34" charset="-122"/>
                <a:cs typeface="Calibri" pitchFamily="34" charset="-120"/>
              </a:rPr>
              <a:t>The students balancing the most, work, caregiving, distance, gravitate to online sections for the flexibility. Yet online courses have long completed at lower rates, and the gap is widest for the students already most at risk. The cause is not the modality itself. It is isolation and the absence of structure and support, which is precisely what connection restores.</a:t>
            </a:r>
            <a:endParaRPr lang="en-US" sz="1400" dirty="0"/>
          </a:p>
        </p:txBody>
      </p:sp>
      <p:sp>
        <p:nvSpPr>
          <p:cNvPr id="5" name="Text 3"/>
          <p:cNvSpPr/>
          <p:nvPr/>
        </p:nvSpPr>
        <p:spPr>
          <a:xfrm>
            <a:off x="713232" y="2697480"/>
            <a:ext cx="2407920" cy="676656"/>
          </a:xfrm>
          <a:prstGeom prst="rect">
            <a:avLst/>
          </a:prstGeom>
          <a:noFill/>
          <a:ln/>
        </p:spPr>
        <p:txBody>
          <a:bodyPr wrap="square" lIns="0" tIns="0" rIns="0" bIns="0" rtlCol="0" anchor="ctr"/>
          <a:lstStyle/>
          <a:p>
            <a:pPr algn="l" indent="0" marL="0">
              <a:buNone/>
            </a:pPr>
            <a:r>
              <a:rPr lang="en-US" sz="3300" b="1" dirty="0">
                <a:solidFill>
                  <a:srgbClr val="6E4677"/>
                </a:solidFill>
                <a:latin typeface="Georgia" pitchFamily="34" charset="0"/>
                <a:ea typeface="Georgia" pitchFamily="34" charset="-122"/>
                <a:cs typeface="Georgia" pitchFamily="34" charset="-120"/>
              </a:rPr>
              <a:t>10 pts</a:t>
            </a:r>
            <a:endParaRPr lang="en-US" sz="3300" dirty="0"/>
          </a:p>
        </p:txBody>
      </p:sp>
      <p:sp>
        <p:nvSpPr>
          <p:cNvPr id="6" name="Text 4"/>
          <p:cNvSpPr/>
          <p:nvPr/>
        </p:nvSpPr>
        <p:spPr>
          <a:xfrm>
            <a:off x="731520" y="3429000"/>
            <a:ext cx="2353056" cy="694944"/>
          </a:xfrm>
          <a:prstGeom prst="rect">
            <a:avLst/>
          </a:prstGeom>
          <a:noFill/>
          <a:ln/>
        </p:spPr>
        <p:txBody>
          <a:bodyPr wrap="square" lIns="0" tIns="0" rIns="0" bIns="0" rtlCol="0" anchor="t"/>
          <a:lstStyle/>
          <a:p>
            <a:pPr algn="l" indent="0" marL="0">
              <a:buNone/>
            </a:pPr>
            <a:r>
              <a:rPr lang="en-US" sz="1200" dirty="0">
                <a:solidFill>
                  <a:srgbClr val="2C2330"/>
                </a:solidFill>
                <a:latin typeface="Calibri" pitchFamily="34" charset="0"/>
                <a:ea typeface="Calibri" pitchFamily="34" charset="-122"/>
                <a:cs typeface="Calibri" pitchFamily="34" charset="-120"/>
              </a:rPr>
              <a:t>lower course success online: 60% pass versus 71% in person in California.</a:t>
            </a:r>
            <a:endParaRPr lang="en-US" sz="1200" dirty="0"/>
          </a:p>
        </p:txBody>
      </p:sp>
      <p:sp>
        <p:nvSpPr>
          <p:cNvPr id="7" name="Text 5"/>
          <p:cNvSpPr/>
          <p:nvPr/>
        </p:nvSpPr>
        <p:spPr>
          <a:xfrm>
            <a:off x="731520" y="4160520"/>
            <a:ext cx="2353056" cy="219456"/>
          </a:xfrm>
          <a:prstGeom prst="rect">
            <a:avLst/>
          </a:prstGeom>
          <a:noFill/>
          <a:ln/>
        </p:spPr>
        <p:txBody>
          <a:bodyPr wrap="square" lIns="0" tIns="0" rIns="0" bIns="0" rtlCol="0" anchor="ctr"/>
          <a:lstStyle/>
          <a:p>
            <a:pPr algn="l" indent="0" marL="0">
              <a:buNone/>
            </a:pPr>
            <a:r>
              <a:rPr lang="en-US" sz="800" i="1" dirty="0">
                <a:solidFill>
                  <a:srgbClr val="8A7E7A"/>
                </a:solidFill>
                <a:latin typeface="Calibri" pitchFamily="34" charset="0"/>
                <a:ea typeface="Calibri" pitchFamily="34" charset="-122"/>
                <a:cs typeface="Calibri" pitchFamily="34" charset="-120"/>
              </a:rPr>
              <a:t>PPIC / CCCCO</a:t>
            </a:r>
            <a:endParaRPr lang="en-US" sz="800" dirty="0"/>
          </a:p>
        </p:txBody>
      </p:sp>
      <p:sp>
        <p:nvSpPr>
          <p:cNvPr id="8" name="Shape 6"/>
          <p:cNvSpPr/>
          <p:nvPr/>
        </p:nvSpPr>
        <p:spPr>
          <a:xfrm>
            <a:off x="3230880" y="2743200"/>
            <a:ext cx="0" cy="1645920"/>
          </a:xfrm>
          <a:prstGeom prst="line">
            <a:avLst/>
          </a:prstGeom>
          <a:noFill/>
          <a:ln w="9525">
            <a:solidFill>
              <a:srgbClr val="C9BDB2"/>
            </a:solidFill>
            <a:prstDash val="solid"/>
          </a:ln>
        </p:spPr>
      </p:sp>
      <p:sp>
        <p:nvSpPr>
          <p:cNvPr id="9" name="Text 7"/>
          <p:cNvSpPr/>
          <p:nvPr/>
        </p:nvSpPr>
        <p:spPr>
          <a:xfrm>
            <a:off x="3395472" y="2697480"/>
            <a:ext cx="2407920" cy="676656"/>
          </a:xfrm>
          <a:prstGeom prst="rect">
            <a:avLst/>
          </a:prstGeom>
          <a:noFill/>
          <a:ln/>
        </p:spPr>
        <p:txBody>
          <a:bodyPr wrap="square" lIns="0" tIns="0" rIns="0" bIns="0" rtlCol="0" anchor="ctr"/>
          <a:lstStyle/>
          <a:p>
            <a:pPr algn="l" indent="0" marL="0">
              <a:buNone/>
            </a:pPr>
            <a:r>
              <a:rPr lang="en-US" sz="3300" b="1" dirty="0">
                <a:solidFill>
                  <a:srgbClr val="6E4677"/>
                </a:solidFill>
                <a:latin typeface="Georgia" pitchFamily="34" charset="0"/>
                <a:ea typeface="Georgia" pitchFamily="34" charset="-122"/>
                <a:cs typeface="Georgia" pitchFamily="34" charset="-120"/>
              </a:rPr>
              <a:t>11–14</a:t>
            </a:r>
            <a:endParaRPr lang="en-US" sz="3300" dirty="0"/>
          </a:p>
        </p:txBody>
      </p:sp>
      <p:sp>
        <p:nvSpPr>
          <p:cNvPr id="10" name="Text 8"/>
          <p:cNvSpPr/>
          <p:nvPr/>
        </p:nvSpPr>
        <p:spPr>
          <a:xfrm>
            <a:off x="3413760" y="3429000"/>
            <a:ext cx="2353056" cy="694944"/>
          </a:xfrm>
          <a:prstGeom prst="rect">
            <a:avLst/>
          </a:prstGeom>
          <a:noFill/>
          <a:ln/>
        </p:spPr>
        <p:txBody>
          <a:bodyPr wrap="square" lIns="0" tIns="0" rIns="0" bIns="0" rtlCol="0" anchor="t"/>
          <a:lstStyle/>
          <a:p>
            <a:pPr algn="l" indent="0" marL="0">
              <a:buNone/>
            </a:pPr>
            <a:r>
              <a:rPr lang="en-US" sz="1200" dirty="0">
                <a:solidFill>
                  <a:srgbClr val="2C2330"/>
                </a:solidFill>
                <a:latin typeface="Calibri" pitchFamily="34" charset="0"/>
                <a:ea typeface="Calibri" pitchFamily="34" charset="-122"/>
                <a:cs typeface="Calibri" pitchFamily="34" charset="-120"/>
              </a:rPr>
              <a:t>points less likely to complete an online course, even after controlling for who enrolls.</a:t>
            </a:r>
            <a:endParaRPr lang="en-US" sz="1200" dirty="0"/>
          </a:p>
        </p:txBody>
      </p:sp>
      <p:sp>
        <p:nvSpPr>
          <p:cNvPr id="11" name="Text 9"/>
          <p:cNvSpPr/>
          <p:nvPr/>
        </p:nvSpPr>
        <p:spPr>
          <a:xfrm>
            <a:off x="3413760" y="4160520"/>
            <a:ext cx="2353056" cy="219456"/>
          </a:xfrm>
          <a:prstGeom prst="rect">
            <a:avLst/>
          </a:prstGeom>
          <a:noFill/>
          <a:ln/>
        </p:spPr>
        <p:txBody>
          <a:bodyPr wrap="square" lIns="0" tIns="0" rIns="0" bIns="0" rtlCol="0" anchor="ctr"/>
          <a:lstStyle/>
          <a:p>
            <a:pPr algn="l" indent="0" marL="0">
              <a:buNone/>
            </a:pPr>
            <a:r>
              <a:rPr lang="en-US" sz="800" i="1" dirty="0">
                <a:solidFill>
                  <a:srgbClr val="8A7E7A"/>
                </a:solidFill>
                <a:latin typeface="Calibri" pitchFamily="34" charset="0"/>
                <a:ea typeface="Calibri" pitchFamily="34" charset="-122"/>
                <a:cs typeface="Calibri" pitchFamily="34" charset="-120"/>
              </a:rPr>
              <a:t>CCRC</a:t>
            </a:r>
            <a:endParaRPr lang="en-US" sz="800" dirty="0"/>
          </a:p>
        </p:txBody>
      </p:sp>
      <p:sp>
        <p:nvSpPr>
          <p:cNvPr id="12" name="Shape 10"/>
          <p:cNvSpPr/>
          <p:nvPr/>
        </p:nvSpPr>
        <p:spPr>
          <a:xfrm>
            <a:off x="5913120" y="2743200"/>
            <a:ext cx="0" cy="1645920"/>
          </a:xfrm>
          <a:prstGeom prst="line">
            <a:avLst/>
          </a:prstGeom>
          <a:noFill/>
          <a:ln w="9525">
            <a:solidFill>
              <a:srgbClr val="C9BDB2"/>
            </a:solidFill>
            <a:prstDash val="solid"/>
          </a:ln>
        </p:spPr>
      </p:sp>
      <p:sp>
        <p:nvSpPr>
          <p:cNvPr id="13" name="Text 11"/>
          <p:cNvSpPr/>
          <p:nvPr/>
        </p:nvSpPr>
        <p:spPr>
          <a:xfrm>
            <a:off x="6077712" y="2697480"/>
            <a:ext cx="2407920" cy="676656"/>
          </a:xfrm>
          <a:prstGeom prst="rect">
            <a:avLst/>
          </a:prstGeom>
          <a:noFill/>
          <a:ln/>
        </p:spPr>
        <p:txBody>
          <a:bodyPr wrap="square" lIns="0" tIns="0" rIns="0" bIns="0" rtlCol="0" anchor="ctr"/>
          <a:lstStyle/>
          <a:p>
            <a:pPr algn="l" indent="0" marL="0">
              <a:buNone/>
            </a:pPr>
            <a:r>
              <a:rPr lang="en-US" sz="3300" b="1" dirty="0">
                <a:solidFill>
                  <a:srgbClr val="6E4677"/>
                </a:solidFill>
                <a:latin typeface="Georgia" pitchFamily="34" charset="0"/>
                <a:ea typeface="Georgia" pitchFamily="34" charset="-122"/>
                <a:cs typeface="Georgia" pitchFamily="34" charset="-120"/>
              </a:rPr>
              <a:t>Widest</a:t>
            </a:r>
            <a:endParaRPr lang="en-US" sz="3300" dirty="0"/>
          </a:p>
        </p:txBody>
      </p:sp>
      <p:sp>
        <p:nvSpPr>
          <p:cNvPr id="14" name="Text 12"/>
          <p:cNvSpPr/>
          <p:nvPr/>
        </p:nvSpPr>
        <p:spPr>
          <a:xfrm>
            <a:off x="6096000" y="3429000"/>
            <a:ext cx="2353056" cy="694944"/>
          </a:xfrm>
          <a:prstGeom prst="rect">
            <a:avLst/>
          </a:prstGeom>
          <a:noFill/>
          <a:ln/>
        </p:spPr>
        <p:txBody>
          <a:bodyPr wrap="square" lIns="0" tIns="0" rIns="0" bIns="0" rtlCol="0" anchor="t"/>
          <a:lstStyle/>
          <a:p>
            <a:pPr algn="l" indent="0" marL="0">
              <a:buNone/>
            </a:pPr>
            <a:r>
              <a:rPr lang="en-US" sz="1200" dirty="0">
                <a:solidFill>
                  <a:srgbClr val="2C2330"/>
                </a:solidFill>
                <a:latin typeface="Calibri" pitchFamily="34" charset="0"/>
                <a:ea typeface="Calibri" pitchFamily="34" charset="-122"/>
                <a:cs typeface="Calibri" pitchFamily="34" charset="-120"/>
              </a:rPr>
              <a:t>online performance gaps fall hardest on students already most at risk.</a:t>
            </a:r>
            <a:endParaRPr lang="en-US" sz="1200" dirty="0"/>
          </a:p>
        </p:txBody>
      </p:sp>
      <p:sp>
        <p:nvSpPr>
          <p:cNvPr id="15" name="Text 13"/>
          <p:cNvSpPr/>
          <p:nvPr/>
        </p:nvSpPr>
        <p:spPr>
          <a:xfrm>
            <a:off x="6096000" y="4160520"/>
            <a:ext cx="2353056" cy="219456"/>
          </a:xfrm>
          <a:prstGeom prst="rect">
            <a:avLst/>
          </a:prstGeom>
          <a:noFill/>
          <a:ln/>
        </p:spPr>
        <p:txBody>
          <a:bodyPr wrap="square" lIns="0" tIns="0" rIns="0" bIns="0" rtlCol="0" anchor="ctr"/>
          <a:lstStyle/>
          <a:p>
            <a:pPr algn="l" indent="0" marL="0">
              <a:buNone/>
            </a:pPr>
            <a:r>
              <a:rPr lang="en-US" sz="800" i="1" dirty="0">
                <a:solidFill>
                  <a:srgbClr val="8A7E7A"/>
                </a:solidFill>
                <a:latin typeface="Calibri" pitchFamily="34" charset="0"/>
                <a:ea typeface="Calibri" pitchFamily="34" charset="-122"/>
                <a:cs typeface="Calibri" pitchFamily="34" charset="-120"/>
              </a:rPr>
              <a:t>CCRC, 2013</a:t>
            </a:r>
            <a:endParaRPr lang="en-US" sz="800" dirty="0"/>
          </a:p>
        </p:txBody>
      </p:sp>
      <p:sp>
        <p:nvSpPr>
          <p:cNvPr id="16" name="Shape 14"/>
          <p:cNvSpPr/>
          <p:nvPr/>
        </p:nvSpPr>
        <p:spPr>
          <a:xfrm>
            <a:off x="548640" y="4736592"/>
            <a:ext cx="8046720" cy="0"/>
          </a:xfrm>
          <a:prstGeom prst="line">
            <a:avLst/>
          </a:prstGeom>
          <a:noFill/>
          <a:ln w="9525">
            <a:solidFill>
              <a:srgbClr val="C9BDB2"/>
            </a:solidFill>
            <a:prstDash val="solid"/>
          </a:ln>
        </p:spPr>
      </p:sp>
      <p:sp>
        <p:nvSpPr>
          <p:cNvPr id="17" name="Text 15"/>
          <p:cNvSpPr/>
          <p:nvPr/>
        </p:nvSpPr>
        <p:spPr>
          <a:xfrm>
            <a:off x="548640" y="4791456"/>
            <a:ext cx="6858000" cy="228600"/>
          </a:xfrm>
          <a:prstGeom prst="rect">
            <a:avLst/>
          </a:prstGeom>
          <a:noFill/>
          <a:ln/>
        </p:spPr>
        <p:txBody>
          <a:bodyPr wrap="square" lIns="0" tIns="0" rIns="0" bIns="0" rtlCol="0" anchor="ctr"/>
          <a:lstStyle/>
          <a:p>
            <a:pPr indent="0" marL="0">
              <a:buNone/>
            </a:pPr>
            <a:r>
              <a:rPr lang="en-US" sz="850" spc="100" kern="0" dirty="0">
                <a:solidFill>
                  <a:srgbClr val="8A7E7A"/>
                </a:solidFill>
                <a:latin typeface="Calibri" pitchFamily="34" charset="0"/>
                <a:ea typeface="Calibri" pitchFamily="34" charset="-122"/>
                <a:cs typeface="Calibri" pitchFamily="34" charset="-120"/>
              </a:rPr>
              <a:t>Student Persistence · An Evidence Brief</a:t>
            </a:r>
            <a:endParaRPr lang="en-US" sz="850" dirty="0"/>
          </a:p>
        </p:txBody>
      </p:sp>
      <p:sp>
        <p:nvSpPr>
          <p:cNvPr id="18" name="Text 16"/>
          <p:cNvSpPr/>
          <p:nvPr/>
        </p:nvSpPr>
        <p:spPr>
          <a:xfrm>
            <a:off x="8229600" y="4791456"/>
            <a:ext cx="365760" cy="228600"/>
          </a:xfrm>
          <a:prstGeom prst="rect">
            <a:avLst/>
          </a:prstGeom>
          <a:noFill/>
          <a:ln/>
        </p:spPr>
        <p:txBody>
          <a:bodyPr wrap="square" lIns="0" tIns="0" rIns="0" bIns="0" rtlCol="0" anchor="ctr"/>
          <a:lstStyle/>
          <a:p>
            <a:pPr algn="r" indent="0" marL="0">
              <a:buNone/>
            </a:pPr>
            <a:r>
              <a:rPr lang="en-US" sz="850" dirty="0">
                <a:solidFill>
                  <a:srgbClr val="8A7E7A"/>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548640" y="411480"/>
            <a:ext cx="8046720" cy="256032"/>
          </a:xfrm>
          <a:prstGeom prst="rect">
            <a:avLst/>
          </a:prstGeom>
          <a:noFill/>
          <a:ln/>
        </p:spPr>
        <p:txBody>
          <a:bodyPr wrap="square" lIns="0" tIns="0" rIns="0" bIns="0" rtlCol="0" anchor="ctr"/>
          <a:lstStyle/>
          <a:p>
            <a:pPr indent="0" marL="0">
              <a:buNone/>
            </a:pPr>
            <a:r>
              <a:rPr lang="en-US" sz="1100" b="1" spc="250" kern="0" dirty="0">
                <a:solidFill>
                  <a:srgbClr val="B8956A"/>
                </a:solidFill>
                <a:latin typeface="Calibri" pitchFamily="34" charset="0"/>
                <a:ea typeface="Calibri" pitchFamily="34" charset="-122"/>
                <a:cs typeface="Calibri" pitchFamily="34" charset="-120"/>
              </a:rPr>
              <a:t>THE DRIVERS OF ATTRITION</a:t>
            </a:r>
            <a:endParaRPr lang="en-US" sz="1100" dirty="0"/>
          </a:p>
        </p:txBody>
      </p:sp>
      <p:sp>
        <p:nvSpPr>
          <p:cNvPr id="3" name="Text 1"/>
          <p:cNvSpPr/>
          <p:nvPr/>
        </p:nvSpPr>
        <p:spPr>
          <a:xfrm>
            <a:off x="548640" y="676656"/>
            <a:ext cx="8046720" cy="777240"/>
          </a:xfrm>
          <a:prstGeom prst="rect">
            <a:avLst/>
          </a:prstGeom>
          <a:noFill/>
          <a:ln/>
        </p:spPr>
        <p:txBody>
          <a:bodyPr wrap="square" lIns="0" tIns="0" rIns="0" bIns="0" rtlCol="0" anchor="ctr"/>
          <a:lstStyle/>
          <a:p>
            <a:pPr algn="l" indent="0" marL="0">
              <a:buNone/>
            </a:pPr>
            <a:r>
              <a:rPr lang="en-US" sz="3000" b="1" dirty="0">
                <a:solidFill>
                  <a:srgbClr val="2C2330"/>
                </a:solidFill>
                <a:latin typeface="Georgia" pitchFamily="34" charset="0"/>
                <a:ea typeface="Georgia" pitchFamily="34" charset="-122"/>
                <a:cs typeface="Georgia" pitchFamily="34" charset="-120"/>
              </a:rPr>
              <a:t>When students consider leaving, the reasons are seldom academic</a:t>
            </a:r>
            <a:endParaRPr lang="en-US" sz="3000" dirty="0"/>
          </a:p>
        </p:txBody>
      </p:sp>
      <p:graphicFrame>
        <p:nvGraphicFramePr>
          <p:cNvPr id="4" name="Chart 0" descr=""/>
          <p:cNvGraphicFramePr/>
          <p:nvPr/>
        </p:nvGraphicFramePr>
        <p:xfrm>
          <a:off x="411480" y="1600200"/>
          <a:ext cx="5303520" cy="28803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943600" y="1737360"/>
            <a:ext cx="2651760" cy="2606040"/>
          </a:xfrm>
          <a:prstGeom prst="rect">
            <a:avLst/>
          </a:prstGeom>
          <a:solidFill>
            <a:srgbClr val="4E2F55"/>
          </a:solidFill>
          <a:ln/>
        </p:spPr>
      </p:sp>
      <p:sp>
        <p:nvSpPr>
          <p:cNvPr id="6" name="Text 3"/>
          <p:cNvSpPr/>
          <p:nvPr/>
        </p:nvSpPr>
        <p:spPr>
          <a:xfrm>
            <a:off x="6126480" y="1965960"/>
            <a:ext cx="2377440" cy="777240"/>
          </a:xfrm>
          <a:prstGeom prst="rect">
            <a:avLst/>
          </a:prstGeom>
          <a:noFill/>
          <a:ln/>
        </p:spPr>
        <p:txBody>
          <a:bodyPr wrap="square" lIns="0" tIns="0" rIns="0" bIns="0"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79%</a:t>
            </a:r>
            <a:endParaRPr lang="en-US" sz="4400" dirty="0"/>
          </a:p>
        </p:txBody>
      </p:sp>
      <p:sp>
        <p:nvSpPr>
          <p:cNvPr id="7" name="Text 4"/>
          <p:cNvSpPr/>
          <p:nvPr/>
        </p:nvSpPr>
        <p:spPr>
          <a:xfrm>
            <a:off x="6126480" y="2788920"/>
            <a:ext cx="2331720" cy="1097280"/>
          </a:xfrm>
          <a:prstGeom prst="rect">
            <a:avLst/>
          </a:prstGeom>
          <a:noFill/>
          <a:ln/>
        </p:spPr>
        <p:txBody>
          <a:bodyPr wrap="square" lIns="0" tIns="0" rIns="0" bIns="0" rtlCol="0" anchor="t"/>
          <a:lstStyle/>
          <a:p>
            <a:pPr indent="0" marL="0">
              <a:buNone/>
            </a:pPr>
            <a:r>
              <a:rPr lang="en-US" sz="1300" dirty="0">
                <a:solidFill>
                  <a:srgbClr val="EDE4F2"/>
                </a:solidFill>
                <a:latin typeface="Calibri" pitchFamily="34" charset="0"/>
                <a:ea typeface="Calibri" pitchFamily="34" charset="-122"/>
                <a:cs typeface="Calibri" pitchFamily="34" charset="-120"/>
              </a:rPr>
              <a:t>of students who stop out cite basic needs and financial pressure, not the difficulty of the material.</a:t>
            </a:r>
            <a:endParaRPr lang="en-US" sz="1300" dirty="0"/>
          </a:p>
        </p:txBody>
      </p:sp>
      <p:sp>
        <p:nvSpPr>
          <p:cNvPr id="8" name="Text 5"/>
          <p:cNvSpPr/>
          <p:nvPr/>
        </p:nvSpPr>
        <p:spPr>
          <a:xfrm>
            <a:off x="6126480" y="3977640"/>
            <a:ext cx="2331720" cy="228600"/>
          </a:xfrm>
          <a:prstGeom prst="rect">
            <a:avLst/>
          </a:prstGeom>
          <a:noFill/>
          <a:ln/>
        </p:spPr>
        <p:txBody>
          <a:bodyPr wrap="square" lIns="0" tIns="0" rIns="0" bIns="0" rtlCol="0" anchor="ctr"/>
          <a:lstStyle/>
          <a:p>
            <a:pPr indent="0" marL="0">
              <a:buNone/>
            </a:pPr>
            <a:r>
              <a:rPr lang="en-US" sz="850" i="1" dirty="0">
                <a:solidFill>
                  <a:srgbClr val="C6AFCB"/>
                </a:solidFill>
                <a:latin typeface="Calibri" pitchFamily="34" charset="0"/>
                <a:ea typeface="Calibri" pitchFamily="34" charset="-122"/>
                <a:cs typeface="Calibri" pitchFamily="34" charset="-120"/>
              </a:rPr>
              <a:t>Hope Center, 2023–24</a:t>
            </a:r>
            <a:endParaRPr lang="en-US" sz="850" dirty="0"/>
          </a:p>
        </p:txBody>
      </p:sp>
      <p:sp>
        <p:nvSpPr>
          <p:cNvPr id="9" name="Shape 6"/>
          <p:cNvSpPr/>
          <p:nvPr/>
        </p:nvSpPr>
        <p:spPr>
          <a:xfrm>
            <a:off x="548640" y="4736592"/>
            <a:ext cx="8046720" cy="0"/>
          </a:xfrm>
          <a:prstGeom prst="line">
            <a:avLst/>
          </a:prstGeom>
          <a:noFill/>
          <a:ln w="9525">
            <a:solidFill>
              <a:srgbClr val="C9BDB2"/>
            </a:solidFill>
            <a:prstDash val="solid"/>
          </a:ln>
        </p:spPr>
      </p:sp>
      <p:sp>
        <p:nvSpPr>
          <p:cNvPr id="10" name="Text 7"/>
          <p:cNvSpPr/>
          <p:nvPr/>
        </p:nvSpPr>
        <p:spPr>
          <a:xfrm>
            <a:off x="548640" y="4791456"/>
            <a:ext cx="6858000" cy="228600"/>
          </a:xfrm>
          <a:prstGeom prst="rect">
            <a:avLst/>
          </a:prstGeom>
          <a:noFill/>
          <a:ln/>
        </p:spPr>
        <p:txBody>
          <a:bodyPr wrap="square" lIns="0" tIns="0" rIns="0" bIns="0" rtlCol="0" anchor="ctr"/>
          <a:lstStyle/>
          <a:p>
            <a:pPr indent="0" marL="0">
              <a:buNone/>
            </a:pPr>
            <a:r>
              <a:rPr lang="en-US" sz="850" spc="100" kern="0" dirty="0">
                <a:solidFill>
                  <a:srgbClr val="8A7E7A"/>
                </a:solidFill>
                <a:latin typeface="Calibri" pitchFamily="34" charset="0"/>
                <a:ea typeface="Calibri" pitchFamily="34" charset="-122"/>
                <a:cs typeface="Calibri" pitchFamily="34" charset="-120"/>
              </a:rPr>
              <a:t>Student Persistence · An Evidence Brief</a:t>
            </a:r>
            <a:endParaRPr lang="en-US" sz="850" dirty="0"/>
          </a:p>
        </p:txBody>
      </p:sp>
      <p:sp>
        <p:nvSpPr>
          <p:cNvPr id="11" name="Text 8"/>
          <p:cNvSpPr/>
          <p:nvPr/>
        </p:nvSpPr>
        <p:spPr>
          <a:xfrm>
            <a:off x="8229600" y="4791456"/>
            <a:ext cx="365760" cy="228600"/>
          </a:xfrm>
          <a:prstGeom prst="rect">
            <a:avLst/>
          </a:prstGeom>
          <a:noFill/>
          <a:ln/>
        </p:spPr>
        <p:txBody>
          <a:bodyPr wrap="square" lIns="0" tIns="0" rIns="0" bIns="0" rtlCol="0" anchor="ctr"/>
          <a:lstStyle/>
          <a:p>
            <a:pPr algn="r" indent="0" marL="0">
              <a:buNone/>
            </a:pPr>
            <a:r>
              <a:rPr lang="en-US" sz="850" dirty="0">
                <a:solidFill>
                  <a:srgbClr val="8A7E7A"/>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548640" y="411480"/>
            <a:ext cx="8046720" cy="256032"/>
          </a:xfrm>
          <a:prstGeom prst="rect">
            <a:avLst/>
          </a:prstGeom>
          <a:noFill/>
          <a:ln/>
        </p:spPr>
        <p:txBody>
          <a:bodyPr wrap="square" lIns="0" tIns="0" rIns="0" bIns="0" rtlCol="0" anchor="ctr"/>
          <a:lstStyle/>
          <a:p>
            <a:pPr indent="0" marL="0">
              <a:buNone/>
            </a:pPr>
            <a:r>
              <a:rPr lang="en-US" sz="1100" b="1" spc="250" kern="0" dirty="0">
                <a:solidFill>
                  <a:srgbClr val="B8956A"/>
                </a:solidFill>
                <a:latin typeface="Calibri" pitchFamily="34" charset="0"/>
                <a:ea typeface="Calibri" pitchFamily="34" charset="-122"/>
                <a:cs typeface="Calibri" pitchFamily="34" charset="-120"/>
              </a:rPr>
              <a:t>AN UNDERUTILIZED INFRASTRUCTURE</a:t>
            </a:r>
            <a:endParaRPr lang="en-US" sz="1100" dirty="0"/>
          </a:p>
        </p:txBody>
      </p:sp>
      <p:sp>
        <p:nvSpPr>
          <p:cNvPr id="3" name="Text 1"/>
          <p:cNvSpPr/>
          <p:nvPr/>
        </p:nvSpPr>
        <p:spPr>
          <a:xfrm>
            <a:off x="548640" y="676656"/>
            <a:ext cx="8046720" cy="777240"/>
          </a:xfrm>
          <a:prstGeom prst="rect">
            <a:avLst/>
          </a:prstGeom>
          <a:noFill/>
          <a:ln/>
        </p:spPr>
        <p:txBody>
          <a:bodyPr wrap="square" lIns="0" tIns="0" rIns="0" bIns="0" rtlCol="0" anchor="ctr"/>
          <a:lstStyle/>
          <a:p>
            <a:pPr algn="l" indent="0" marL="0">
              <a:buNone/>
            </a:pPr>
            <a:r>
              <a:rPr lang="en-US" sz="3000" b="1" dirty="0">
                <a:solidFill>
                  <a:srgbClr val="2C2330"/>
                </a:solidFill>
                <a:latin typeface="Georgia" pitchFamily="34" charset="0"/>
                <a:ea typeface="Georgia" pitchFamily="34" charset="-122"/>
                <a:cs typeface="Georgia" pitchFamily="34" charset="-120"/>
              </a:rPr>
              <a:t>The support exists. Students are not reaching it.</a:t>
            </a:r>
            <a:endParaRPr lang="en-US" sz="3000" dirty="0"/>
          </a:p>
        </p:txBody>
      </p:sp>
      <p:sp>
        <p:nvSpPr>
          <p:cNvPr id="4" name="Text 2"/>
          <p:cNvSpPr/>
          <p:nvPr/>
        </p:nvSpPr>
        <p:spPr>
          <a:xfrm>
            <a:off x="548640" y="1536192"/>
            <a:ext cx="8046720" cy="548640"/>
          </a:xfrm>
          <a:prstGeom prst="rect">
            <a:avLst/>
          </a:prstGeom>
          <a:noFill/>
          <a:ln/>
        </p:spPr>
        <p:txBody>
          <a:bodyPr wrap="square" lIns="0" tIns="0" rIns="0" bIns="0" rtlCol="0" anchor="t"/>
          <a:lstStyle/>
          <a:p>
            <a:pPr indent="0" marL="0">
              <a:buNone/>
            </a:pPr>
            <a:r>
              <a:rPr lang="en-US" sz="1400" dirty="0">
                <a:solidFill>
                  <a:srgbClr val="2C2330"/>
                </a:solidFill>
                <a:latin typeface="Calibri" pitchFamily="34" charset="0"/>
                <a:ea typeface="Calibri" pitchFamily="34" charset="-122"/>
                <a:cs typeface="Calibri" pitchFamily="34" charset="-120"/>
              </a:rPr>
              <a:t>Our colleges operate more than twenty distinct student-facing services. Most students, and many of us, cannot name a fraction of them. Awareness, not availability, is the binding constraint.</a:t>
            </a:r>
            <a:endParaRPr lang="en-US" sz="1400" dirty="0"/>
          </a:p>
        </p:txBody>
      </p:sp>
      <p:sp>
        <p:nvSpPr>
          <p:cNvPr id="5" name="Shape 3"/>
          <p:cNvSpPr/>
          <p:nvPr/>
        </p:nvSpPr>
        <p:spPr>
          <a:xfrm>
            <a:off x="548640" y="2148840"/>
            <a:ext cx="1947672" cy="365760"/>
          </a:xfrm>
          <a:prstGeom prst="rect">
            <a:avLst/>
          </a:prstGeom>
          <a:solidFill>
            <a:srgbClr val="F3EEE7"/>
          </a:solidFill>
          <a:ln w="6350">
            <a:solidFill>
              <a:srgbClr val="DAD0C6"/>
            </a:solidFill>
            <a:prstDash val="solid"/>
          </a:ln>
        </p:spPr>
      </p:sp>
      <p:sp>
        <p:nvSpPr>
          <p:cNvPr id="6" name="Text 4"/>
          <p:cNvSpPr/>
          <p:nvPr/>
        </p:nvSpPr>
        <p:spPr>
          <a:xfrm>
            <a:off x="594360" y="2148840"/>
            <a:ext cx="1856232" cy="365760"/>
          </a:xfrm>
          <a:prstGeom prst="rect">
            <a:avLst/>
          </a:prstGeom>
          <a:noFill/>
          <a:ln/>
        </p:spPr>
        <p:txBody>
          <a:bodyPr wrap="square" lIns="0" tIns="0" rIns="0" bIns="0" rtlCol="0" anchor="ctr"/>
          <a:lstStyle/>
          <a:p>
            <a:pPr algn="ctr" indent="0" marL="0">
              <a:buNone/>
            </a:pPr>
            <a:r>
              <a:rPr lang="en-US" sz="1050" dirty="0">
                <a:solidFill>
                  <a:srgbClr val="6E4677"/>
                </a:solidFill>
                <a:latin typeface="Calibri" pitchFamily="34" charset="0"/>
                <a:ea typeface="Calibri" pitchFamily="34" charset="-122"/>
                <a:cs typeface="Calibri" pitchFamily="34" charset="-120"/>
              </a:rPr>
              <a:t>Advising</a:t>
            </a:r>
            <a:endParaRPr lang="en-US" sz="1050" dirty="0"/>
          </a:p>
        </p:txBody>
      </p:sp>
      <p:sp>
        <p:nvSpPr>
          <p:cNvPr id="7" name="Shape 5"/>
          <p:cNvSpPr/>
          <p:nvPr/>
        </p:nvSpPr>
        <p:spPr>
          <a:xfrm>
            <a:off x="2606040" y="2148840"/>
            <a:ext cx="1947672" cy="365760"/>
          </a:xfrm>
          <a:prstGeom prst="rect">
            <a:avLst/>
          </a:prstGeom>
          <a:solidFill>
            <a:srgbClr val="F3EEE7"/>
          </a:solidFill>
          <a:ln w="6350">
            <a:solidFill>
              <a:srgbClr val="DAD0C6"/>
            </a:solidFill>
            <a:prstDash val="solid"/>
          </a:ln>
        </p:spPr>
      </p:sp>
      <p:sp>
        <p:nvSpPr>
          <p:cNvPr id="8" name="Text 6"/>
          <p:cNvSpPr/>
          <p:nvPr/>
        </p:nvSpPr>
        <p:spPr>
          <a:xfrm>
            <a:off x="2651760" y="2148840"/>
            <a:ext cx="1856232" cy="365760"/>
          </a:xfrm>
          <a:prstGeom prst="rect">
            <a:avLst/>
          </a:prstGeom>
          <a:noFill/>
          <a:ln/>
        </p:spPr>
        <p:txBody>
          <a:bodyPr wrap="square" lIns="0" tIns="0" rIns="0" bIns="0" rtlCol="0" anchor="ctr"/>
          <a:lstStyle/>
          <a:p>
            <a:pPr algn="ctr" indent="0" marL="0">
              <a:buNone/>
            </a:pPr>
            <a:r>
              <a:rPr lang="en-US" sz="1050" dirty="0">
                <a:solidFill>
                  <a:srgbClr val="6E4677"/>
                </a:solidFill>
                <a:latin typeface="Calibri" pitchFamily="34" charset="0"/>
                <a:ea typeface="Calibri" pitchFamily="34" charset="-122"/>
                <a:cs typeface="Calibri" pitchFamily="34" charset="-120"/>
              </a:rPr>
              <a:t>Counseling</a:t>
            </a:r>
            <a:endParaRPr lang="en-US" sz="1050" dirty="0"/>
          </a:p>
        </p:txBody>
      </p:sp>
      <p:sp>
        <p:nvSpPr>
          <p:cNvPr id="9" name="Shape 7"/>
          <p:cNvSpPr/>
          <p:nvPr/>
        </p:nvSpPr>
        <p:spPr>
          <a:xfrm>
            <a:off x="4663440" y="2148840"/>
            <a:ext cx="1947672" cy="365760"/>
          </a:xfrm>
          <a:prstGeom prst="rect">
            <a:avLst/>
          </a:prstGeom>
          <a:solidFill>
            <a:srgbClr val="F3EEE7"/>
          </a:solidFill>
          <a:ln w="6350">
            <a:solidFill>
              <a:srgbClr val="DAD0C6"/>
            </a:solidFill>
            <a:prstDash val="solid"/>
          </a:ln>
        </p:spPr>
      </p:sp>
      <p:sp>
        <p:nvSpPr>
          <p:cNvPr id="10" name="Text 8"/>
          <p:cNvSpPr/>
          <p:nvPr/>
        </p:nvSpPr>
        <p:spPr>
          <a:xfrm>
            <a:off x="4709160" y="2148840"/>
            <a:ext cx="1856232" cy="365760"/>
          </a:xfrm>
          <a:prstGeom prst="rect">
            <a:avLst/>
          </a:prstGeom>
          <a:noFill/>
          <a:ln/>
        </p:spPr>
        <p:txBody>
          <a:bodyPr wrap="square" lIns="0" tIns="0" rIns="0" bIns="0" rtlCol="0" anchor="ctr"/>
          <a:lstStyle/>
          <a:p>
            <a:pPr algn="ctr" indent="0" marL="0">
              <a:buNone/>
            </a:pPr>
            <a:r>
              <a:rPr lang="en-US" sz="1050" dirty="0">
                <a:solidFill>
                  <a:srgbClr val="6E4677"/>
                </a:solidFill>
                <a:latin typeface="Calibri" pitchFamily="34" charset="0"/>
                <a:ea typeface="Calibri" pitchFamily="34" charset="-122"/>
                <a:cs typeface="Calibri" pitchFamily="34" charset="-120"/>
              </a:rPr>
              <a:t>Financial aid</a:t>
            </a:r>
            <a:endParaRPr lang="en-US" sz="1050" dirty="0"/>
          </a:p>
        </p:txBody>
      </p:sp>
      <p:sp>
        <p:nvSpPr>
          <p:cNvPr id="11" name="Shape 9"/>
          <p:cNvSpPr/>
          <p:nvPr/>
        </p:nvSpPr>
        <p:spPr>
          <a:xfrm>
            <a:off x="6720840" y="2148840"/>
            <a:ext cx="1947672" cy="365760"/>
          </a:xfrm>
          <a:prstGeom prst="rect">
            <a:avLst/>
          </a:prstGeom>
          <a:solidFill>
            <a:srgbClr val="F3EEE7"/>
          </a:solidFill>
          <a:ln w="6350">
            <a:solidFill>
              <a:srgbClr val="DAD0C6"/>
            </a:solidFill>
            <a:prstDash val="solid"/>
          </a:ln>
        </p:spPr>
      </p:sp>
      <p:sp>
        <p:nvSpPr>
          <p:cNvPr id="12" name="Text 10"/>
          <p:cNvSpPr/>
          <p:nvPr/>
        </p:nvSpPr>
        <p:spPr>
          <a:xfrm>
            <a:off x="6766560" y="2148840"/>
            <a:ext cx="1856232" cy="365760"/>
          </a:xfrm>
          <a:prstGeom prst="rect">
            <a:avLst/>
          </a:prstGeom>
          <a:noFill/>
          <a:ln/>
        </p:spPr>
        <p:txBody>
          <a:bodyPr wrap="square" lIns="0" tIns="0" rIns="0" bIns="0" rtlCol="0" anchor="ctr"/>
          <a:lstStyle/>
          <a:p>
            <a:pPr algn="ctr" indent="0" marL="0">
              <a:buNone/>
            </a:pPr>
            <a:r>
              <a:rPr lang="en-US" sz="1050" dirty="0">
                <a:solidFill>
                  <a:srgbClr val="6E4677"/>
                </a:solidFill>
                <a:latin typeface="Calibri" pitchFamily="34" charset="0"/>
                <a:ea typeface="Calibri" pitchFamily="34" charset="-122"/>
                <a:cs typeface="Calibri" pitchFamily="34" charset="-120"/>
              </a:rPr>
              <a:t>Scholarships</a:t>
            </a:r>
            <a:endParaRPr lang="en-US" sz="1050" dirty="0"/>
          </a:p>
        </p:txBody>
      </p:sp>
      <p:sp>
        <p:nvSpPr>
          <p:cNvPr id="13" name="Shape 11"/>
          <p:cNvSpPr/>
          <p:nvPr/>
        </p:nvSpPr>
        <p:spPr>
          <a:xfrm>
            <a:off x="548640" y="2569464"/>
            <a:ext cx="1947672" cy="365760"/>
          </a:xfrm>
          <a:prstGeom prst="rect">
            <a:avLst/>
          </a:prstGeom>
          <a:solidFill>
            <a:srgbClr val="F3EEE7"/>
          </a:solidFill>
          <a:ln w="6350">
            <a:solidFill>
              <a:srgbClr val="DAD0C6"/>
            </a:solidFill>
            <a:prstDash val="solid"/>
          </a:ln>
        </p:spPr>
      </p:sp>
      <p:sp>
        <p:nvSpPr>
          <p:cNvPr id="14" name="Text 12"/>
          <p:cNvSpPr/>
          <p:nvPr/>
        </p:nvSpPr>
        <p:spPr>
          <a:xfrm>
            <a:off x="594360" y="2569464"/>
            <a:ext cx="1856232" cy="365760"/>
          </a:xfrm>
          <a:prstGeom prst="rect">
            <a:avLst/>
          </a:prstGeom>
          <a:noFill/>
          <a:ln/>
        </p:spPr>
        <p:txBody>
          <a:bodyPr wrap="square" lIns="0" tIns="0" rIns="0" bIns="0" rtlCol="0" anchor="ctr"/>
          <a:lstStyle/>
          <a:p>
            <a:pPr algn="ctr" indent="0" marL="0">
              <a:buNone/>
            </a:pPr>
            <a:r>
              <a:rPr lang="en-US" sz="1050" dirty="0">
                <a:solidFill>
                  <a:srgbClr val="6E4677"/>
                </a:solidFill>
                <a:latin typeface="Calibri" pitchFamily="34" charset="0"/>
                <a:ea typeface="Calibri" pitchFamily="34" charset="-122"/>
                <a:cs typeface="Calibri" pitchFamily="34" charset="-120"/>
              </a:rPr>
              <a:t>Basic Needs</a:t>
            </a:r>
            <a:endParaRPr lang="en-US" sz="1050" dirty="0"/>
          </a:p>
        </p:txBody>
      </p:sp>
      <p:sp>
        <p:nvSpPr>
          <p:cNvPr id="15" name="Shape 13"/>
          <p:cNvSpPr/>
          <p:nvPr/>
        </p:nvSpPr>
        <p:spPr>
          <a:xfrm>
            <a:off x="2606040" y="2569464"/>
            <a:ext cx="1947672" cy="365760"/>
          </a:xfrm>
          <a:prstGeom prst="rect">
            <a:avLst/>
          </a:prstGeom>
          <a:solidFill>
            <a:srgbClr val="F3EEE7"/>
          </a:solidFill>
          <a:ln w="6350">
            <a:solidFill>
              <a:srgbClr val="DAD0C6"/>
            </a:solidFill>
            <a:prstDash val="solid"/>
          </a:ln>
        </p:spPr>
      </p:sp>
      <p:sp>
        <p:nvSpPr>
          <p:cNvPr id="16" name="Text 14"/>
          <p:cNvSpPr/>
          <p:nvPr/>
        </p:nvSpPr>
        <p:spPr>
          <a:xfrm>
            <a:off x="2651760" y="2569464"/>
            <a:ext cx="1856232" cy="365760"/>
          </a:xfrm>
          <a:prstGeom prst="rect">
            <a:avLst/>
          </a:prstGeom>
          <a:noFill/>
          <a:ln/>
        </p:spPr>
        <p:txBody>
          <a:bodyPr wrap="square" lIns="0" tIns="0" rIns="0" bIns="0" rtlCol="0" anchor="ctr"/>
          <a:lstStyle/>
          <a:p>
            <a:pPr algn="ctr" indent="0" marL="0">
              <a:buNone/>
            </a:pPr>
            <a:r>
              <a:rPr lang="en-US" sz="1050" dirty="0">
                <a:solidFill>
                  <a:srgbClr val="6E4677"/>
                </a:solidFill>
                <a:latin typeface="Calibri" pitchFamily="34" charset="0"/>
                <a:ea typeface="Calibri" pitchFamily="34" charset="-122"/>
                <a:cs typeface="Calibri" pitchFamily="34" charset="-120"/>
              </a:rPr>
              <a:t>Food pantry</a:t>
            </a:r>
            <a:endParaRPr lang="en-US" sz="1050" dirty="0"/>
          </a:p>
        </p:txBody>
      </p:sp>
      <p:sp>
        <p:nvSpPr>
          <p:cNvPr id="17" name="Shape 15"/>
          <p:cNvSpPr/>
          <p:nvPr/>
        </p:nvSpPr>
        <p:spPr>
          <a:xfrm>
            <a:off x="4663440" y="2569464"/>
            <a:ext cx="1947672" cy="365760"/>
          </a:xfrm>
          <a:prstGeom prst="rect">
            <a:avLst/>
          </a:prstGeom>
          <a:solidFill>
            <a:srgbClr val="F3EEE7"/>
          </a:solidFill>
          <a:ln w="6350">
            <a:solidFill>
              <a:srgbClr val="DAD0C6"/>
            </a:solidFill>
            <a:prstDash val="solid"/>
          </a:ln>
        </p:spPr>
      </p:sp>
      <p:sp>
        <p:nvSpPr>
          <p:cNvPr id="18" name="Text 16"/>
          <p:cNvSpPr/>
          <p:nvPr/>
        </p:nvSpPr>
        <p:spPr>
          <a:xfrm>
            <a:off x="4709160" y="2569464"/>
            <a:ext cx="1856232" cy="365760"/>
          </a:xfrm>
          <a:prstGeom prst="rect">
            <a:avLst/>
          </a:prstGeom>
          <a:noFill/>
          <a:ln/>
        </p:spPr>
        <p:txBody>
          <a:bodyPr wrap="square" lIns="0" tIns="0" rIns="0" bIns="0" rtlCol="0" anchor="ctr"/>
          <a:lstStyle/>
          <a:p>
            <a:pPr algn="ctr" indent="0" marL="0">
              <a:buNone/>
            </a:pPr>
            <a:r>
              <a:rPr lang="en-US" sz="1050" dirty="0">
                <a:solidFill>
                  <a:srgbClr val="6E4677"/>
                </a:solidFill>
                <a:latin typeface="Calibri" pitchFamily="34" charset="0"/>
                <a:ea typeface="Calibri" pitchFamily="34" charset="-122"/>
                <a:cs typeface="Calibri" pitchFamily="34" charset="-120"/>
              </a:rPr>
              <a:t>Emergency funds</a:t>
            </a:r>
            <a:endParaRPr lang="en-US" sz="1050" dirty="0"/>
          </a:p>
        </p:txBody>
      </p:sp>
      <p:sp>
        <p:nvSpPr>
          <p:cNvPr id="19" name="Shape 17"/>
          <p:cNvSpPr/>
          <p:nvPr/>
        </p:nvSpPr>
        <p:spPr>
          <a:xfrm>
            <a:off x="6720840" y="2569464"/>
            <a:ext cx="1947672" cy="365760"/>
          </a:xfrm>
          <a:prstGeom prst="rect">
            <a:avLst/>
          </a:prstGeom>
          <a:solidFill>
            <a:srgbClr val="F3EEE7"/>
          </a:solidFill>
          <a:ln w="6350">
            <a:solidFill>
              <a:srgbClr val="DAD0C6"/>
            </a:solidFill>
            <a:prstDash val="solid"/>
          </a:ln>
        </p:spPr>
      </p:sp>
      <p:sp>
        <p:nvSpPr>
          <p:cNvPr id="20" name="Text 18"/>
          <p:cNvSpPr/>
          <p:nvPr/>
        </p:nvSpPr>
        <p:spPr>
          <a:xfrm>
            <a:off x="6766560" y="2569464"/>
            <a:ext cx="1856232" cy="365760"/>
          </a:xfrm>
          <a:prstGeom prst="rect">
            <a:avLst/>
          </a:prstGeom>
          <a:noFill/>
          <a:ln/>
        </p:spPr>
        <p:txBody>
          <a:bodyPr wrap="square" lIns="0" tIns="0" rIns="0" bIns="0" rtlCol="0" anchor="ctr"/>
          <a:lstStyle/>
          <a:p>
            <a:pPr algn="ctr" indent="0" marL="0">
              <a:buNone/>
            </a:pPr>
            <a:r>
              <a:rPr lang="en-US" sz="1050" dirty="0">
                <a:solidFill>
                  <a:srgbClr val="6E4677"/>
                </a:solidFill>
                <a:latin typeface="Calibri" pitchFamily="34" charset="0"/>
                <a:ea typeface="Calibri" pitchFamily="34" charset="-122"/>
                <a:cs typeface="Calibri" pitchFamily="34" charset="-120"/>
              </a:rPr>
              <a:t>Book vouchers</a:t>
            </a:r>
            <a:endParaRPr lang="en-US" sz="1050" dirty="0"/>
          </a:p>
        </p:txBody>
      </p:sp>
      <p:sp>
        <p:nvSpPr>
          <p:cNvPr id="21" name="Shape 19"/>
          <p:cNvSpPr/>
          <p:nvPr/>
        </p:nvSpPr>
        <p:spPr>
          <a:xfrm>
            <a:off x="548640" y="2990088"/>
            <a:ext cx="1947672" cy="365760"/>
          </a:xfrm>
          <a:prstGeom prst="rect">
            <a:avLst/>
          </a:prstGeom>
          <a:solidFill>
            <a:srgbClr val="F3EEE7"/>
          </a:solidFill>
          <a:ln w="6350">
            <a:solidFill>
              <a:srgbClr val="DAD0C6"/>
            </a:solidFill>
            <a:prstDash val="solid"/>
          </a:ln>
        </p:spPr>
      </p:sp>
      <p:sp>
        <p:nvSpPr>
          <p:cNvPr id="22" name="Text 20"/>
          <p:cNvSpPr/>
          <p:nvPr/>
        </p:nvSpPr>
        <p:spPr>
          <a:xfrm>
            <a:off x="594360" y="2990088"/>
            <a:ext cx="1856232" cy="365760"/>
          </a:xfrm>
          <a:prstGeom prst="rect">
            <a:avLst/>
          </a:prstGeom>
          <a:noFill/>
          <a:ln/>
        </p:spPr>
        <p:txBody>
          <a:bodyPr wrap="square" lIns="0" tIns="0" rIns="0" bIns="0" rtlCol="0" anchor="ctr"/>
          <a:lstStyle/>
          <a:p>
            <a:pPr algn="ctr" indent="0" marL="0">
              <a:buNone/>
            </a:pPr>
            <a:r>
              <a:rPr lang="en-US" sz="1050" dirty="0">
                <a:solidFill>
                  <a:srgbClr val="6E4677"/>
                </a:solidFill>
                <a:latin typeface="Calibri" pitchFamily="34" charset="0"/>
                <a:ea typeface="Calibri" pitchFamily="34" charset="-122"/>
                <a:cs typeface="Calibri" pitchFamily="34" charset="-120"/>
              </a:rPr>
              <a:t>Childcare</a:t>
            </a:r>
            <a:endParaRPr lang="en-US" sz="1050" dirty="0"/>
          </a:p>
        </p:txBody>
      </p:sp>
      <p:sp>
        <p:nvSpPr>
          <p:cNvPr id="23" name="Shape 21"/>
          <p:cNvSpPr/>
          <p:nvPr/>
        </p:nvSpPr>
        <p:spPr>
          <a:xfrm>
            <a:off x="2606040" y="2990088"/>
            <a:ext cx="1947672" cy="365760"/>
          </a:xfrm>
          <a:prstGeom prst="rect">
            <a:avLst/>
          </a:prstGeom>
          <a:solidFill>
            <a:srgbClr val="F3EEE7"/>
          </a:solidFill>
          <a:ln w="6350">
            <a:solidFill>
              <a:srgbClr val="DAD0C6"/>
            </a:solidFill>
            <a:prstDash val="solid"/>
          </a:ln>
        </p:spPr>
      </p:sp>
      <p:sp>
        <p:nvSpPr>
          <p:cNvPr id="24" name="Text 22"/>
          <p:cNvSpPr/>
          <p:nvPr/>
        </p:nvSpPr>
        <p:spPr>
          <a:xfrm>
            <a:off x="2651760" y="2990088"/>
            <a:ext cx="1856232" cy="365760"/>
          </a:xfrm>
          <a:prstGeom prst="rect">
            <a:avLst/>
          </a:prstGeom>
          <a:noFill/>
          <a:ln/>
        </p:spPr>
        <p:txBody>
          <a:bodyPr wrap="square" lIns="0" tIns="0" rIns="0" bIns="0" rtlCol="0" anchor="ctr"/>
          <a:lstStyle/>
          <a:p>
            <a:pPr algn="ctr" indent="0" marL="0">
              <a:buNone/>
            </a:pPr>
            <a:r>
              <a:rPr lang="en-US" sz="1050" dirty="0">
                <a:solidFill>
                  <a:srgbClr val="6E4677"/>
                </a:solidFill>
                <a:latin typeface="Calibri" pitchFamily="34" charset="0"/>
                <a:ea typeface="Calibri" pitchFamily="34" charset="-122"/>
                <a:cs typeface="Calibri" pitchFamily="34" charset="-120"/>
              </a:rPr>
              <a:t>Housing support</a:t>
            </a:r>
            <a:endParaRPr lang="en-US" sz="1050" dirty="0"/>
          </a:p>
        </p:txBody>
      </p:sp>
      <p:sp>
        <p:nvSpPr>
          <p:cNvPr id="25" name="Shape 23"/>
          <p:cNvSpPr/>
          <p:nvPr/>
        </p:nvSpPr>
        <p:spPr>
          <a:xfrm>
            <a:off x="4663440" y="2990088"/>
            <a:ext cx="1947672" cy="365760"/>
          </a:xfrm>
          <a:prstGeom prst="rect">
            <a:avLst/>
          </a:prstGeom>
          <a:solidFill>
            <a:srgbClr val="F3EEE7"/>
          </a:solidFill>
          <a:ln w="6350">
            <a:solidFill>
              <a:srgbClr val="DAD0C6"/>
            </a:solidFill>
            <a:prstDash val="solid"/>
          </a:ln>
        </p:spPr>
      </p:sp>
      <p:sp>
        <p:nvSpPr>
          <p:cNvPr id="26" name="Text 24"/>
          <p:cNvSpPr/>
          <p:nvPr/>
        </p:nvSpPr>
        <p:spPr>
          <a:xfrm>
            <a:off x="4709160" y="2990088"/>
            <a:ext cx="1856232" cy="365760"/>
          </a:xfrm>
          <a:prstGeom prst="rect">
            <a:avLst/>
          </a:prstGeom>
          <a:noFill/>
          <a:ln/>
        </p:spPr>
        <p:txBody>
          <a:bodyPr wrap="square" lIns="0" tIns="0" rIns="0" bIns="0" rtlCol="0" anchor="ctr"/>
          <a:lstStyle/>
          <a:p>
            <a:pPr algn="ctr" indent="0" marL="0">
              <a:buNone/>
            </a:pPr>
            <a:r>
              <a:rPr lang="en-US" sz="1050" dirty="0">
                <a:solidFill>
                  <a:srgbClr val="6E4677"/>
                </a:solidFill>
                <a:latin typeface="Calibri" pitchFamily="34" charset="0"/>
                <a:ea typeface="Calibri" pitchFamily="34" charset="-122"/>
                <a:cs typeface="Calibri" pitchFamily="34" charset="-120"/>
              </a:rPr>
              <a:t>Social workers</a:t>
            </a:r>
            <a:endParaRPr lang="en-US" sz="1050" dirty="0"/>
          </a:p>
        </p:txBody>
      </p:sp>
      <p:sp>
        <p:nvSpPr>
          <p:cNvPr id="27" name="Shape 25"/>
          <p:cNvSpPr/>
          <p:nvPr/>
        </p:nvSpPr>
        <p:spPr>
          <a:xfrm>
            <a:off x="6720840" y="2990088"/>
            <a:ext cx="1947672" cy="365760"/>
          </a:xfrm>
          <a:prstGeom prst="rect">
            <a:avLst/>
          </a:prstGeom>
          <a:solidFill>
            <a:srgbClr val="F3EEE7"/>
          </a:solidFill>
          <a:ln w="6350">
            <a:solidFill>
              <a:srgbClr val="DAD0C6"/>
            </a:solidFill>
            <a:prstDash val="solid"/>
          </a:ln>
        </p:spPr>
      </p:sp>
      <p:sp>
        <p:nvSpPr>
          <p:cNvPr id="28" name="Text 26"/>
          <p:cNvSpPr/>
          <p:nvPr/>
        </p:nvSpPr>
        <p:spPr>
          <a:xfrm>
            <a:off x="6766560" y="2990088"/>
            <a:ext cx="1856232" cy="365760"/>
          </a:xfrm>
          <a:prstGeom prst="rect">
            <a:avLst/>
          </a:prstGeom>
          <a:noFill/>
          <a:ln/>
        </p:spPr>
        <p:txBody>
          <a:bodyPr wrap="square" lIns="0" tIns="0" rIns="0" bIns="0" rtlCol="0" anchor="ctr"/>
          <a:lstStyle/>
          <a:p>
            <a:pPr algn="ctr" indent="0" marL="0">
              <a:buNone/>
            </a:pPr>
            <a:r>
              <a:rPr lang="en-US" sz="1050" dirty="0">
                <a:solidFill>
                  <a:srgbClr val="6E4677"/>
                </a:solidFill>
                <a:latin typeface="Calibri" pitchFamily="34" charset="0"/>
                <a:ea typeface="Calibri" pitchFamily="34" charset="-122"/>
                <a:cs typeface="Calibri" pitchFamily="34" charset="-120"/>
              </a:rPr>
              <a:t>Tutoring</a:t>
            </a:r>
            <a:endParaRPr lang="en-US" sz="1050" dirty="0"/>
          </a:p>
        </p:txBody>
      </p:sp>
      <p:sp>
        <p:nvSpPr>
          <p:cNvPr id="29" name="Shape 27"/>
          <p:cNvSpPr/>
          <p:nvPr/>
        </p:nvSpPr>
        <p:spPr>
          <a:xfrm>
            <a:off x="548640" y="3410712"/>
            <a:ext cx="1947672" cy="365760"/>
          </a:xfrm>
          <a:prstGeom prst="rect">
            <a:avLst/>
          </a:prstGeom>
          <a:solidFill>
            <a:srgbClr val="F3EEE7"/>
          </a:solidFill>
          <a:ln w="6350">
            <a:solidFill>
              <a:srgbClr val="DAD0C6"/>
            </a:solidFill>
            <a:prstDash val="solid"/>
          </a:ln>
        </p:spPr>
      </p:sp>
      <p:sp>
        <p:nvSpPr>
          <p:cNvPr id="30" name="Text 28"/>
          <p:cNvSpPr/>
          <p:nvPr/>
        </p:nvSpPr>
        <p:spPr>
          <a:xfrm>
            <a:off x="594360" y="3410712"/>
            <a:ext cx="1856232" cy="365760"/>
          </a:xfrm>
          <a:prstGeom prst="rect">
            <a:avLst/>
          </a:prstGeom>
          <a:noFill/>
          <a:ln/>
        </p:spPr>
        <p:txBody>
          <a:bodyPr wrap="square" lIns="0" tIns="0" rIns="0" bIns="0" rtlCol="0" anchor="ctr"/>
          <a:lstStyle/>
          <a:p>
            <a:pPr algn="ctr" indent="0" marL="0">
              <a:buNone/>
            </a:pPr>
            <a:r>
              <a:rPr lang="en-US" sz="1050" dirty="0">
                <a:solidFill>
                  <a:srgbClr val="6E4677"/>
                </a:solidFill>
                <a:latin typeface="Calibri" pitchFamily="34" charset="0"/>
                <a:ea typeface="Calibri" pitchFamily="34" charset="-122"/>
                <a:cs typeface="Calibri" pitchFamily="34" charset="-120"/>
              </a:rPr>
              <a:t>Math Solutions</a:t>
            </a:r>
            <a:endParaRPr lang="en-US" sz="1050" dirty="0"/>
          </a:p>
        </p:txBody>
      </p:sp>
      <p:sp>
        <p:nvSpPr>
          <p:cNvPr id="31" name="Shape 29"/>
          <p:cNvSpPr/>
          <p:nvPr/>
        </p:nvSpPr>
        <p:spPr>
          <a:xfrm>
            <a:off x="2606040" y="3410712"/>
            <a:ext cx="1947672" cy="365760"/>
          </a:xfrm>
          <a:prstGeom prst="rect">
            <a:avLst/>
          </a:prstGeom>
          <a:solidFill>
            <a:srgbClr val="F3EEE7"/>
          </a:solidFill>
          <a:ln w="6350">
            <a:solidFill>
              <a:srgbClr val="DAD0C6"/>
            </a:solidFill>
            <a:prstDash val="solid"/>
          </a:ln>
        </p:spPr>
      </p:sp>
      <p:sp>
        <p:nvSpPr>
          <p:cNvPr id="32" name="Text 30"/>
          <p:cNvSpPr/>
          <p:nvPr/>
        </p:nvSpPr>
        <p:spPr>
          <a:xfrm>
            <a:off x="2651760" y="3410712"/>
            <a:ext cx="1856232" cy="365760"/>
          </a:xfrm>
          <a:prstGeom prst="rect">
            <a:avLst/>
          </a:prstGeom>
          <a:noFill/>
          <a:ln/>
        </p:spPr>
        <p:txBody>
          <a:bodyPr wrap="square" lIns="0" tIns="0" rIns="0" bIns="0" rtlCol="0" anchor="ctr"/>
          <a:lstStyle/>
          <a:p>
            <a:pPr algn="ctr" indent="0" marL="0">
              <a:buNone/>
            </a:pPr>
            <a:r>
              <a:rPr lang="en-US" sz="1050" dirty="0">
                <a:solidFill>
                  <a:srgbClr val="6E4677"/>
                </a:solidFill>
                <a:latin typeface="Calibri" pitchFamily="34" charset="0"/>
                <a:ea typeface="Calibri" pitchFamily="34" charset="-122"/>
                <a:cs typeface="Calibri" pitchFamily="34" charset="-120"/>
              </a:rPr>
              <a:t>Writing Center</a:t>
            </a:r>
            <a:endParaRPr lang="en-US" sz="1050" dirty="0"/>
          </a:p>
        </p:txBody>
      </p:sp>
      <p:sp>
        <p:nvSpPr>
          <p:cNvPr id="33" name="Shape 31"/>
          <p:cNvSpPr/>
          <p:nvPr/>
        </p:nvSpPr>
        <p:spPr>
          <a:xfrm>
            <a:off x="4663440" y="3410712"/>
            <a:ext cx="1947672" cy="365760"/>
          </a:xfrm>
          <a:prstGeom prst="rect">
            <a:avLst/>
          </a:prstGeom>
          <a:solidFill>
            <a:srgbClr val="F3EEE7"/>
          </a:solidFill>
          <a:ln w="6350">
            <a:solidFill>
              <a:srgbClr val="DAD0C6"/>
            </a:solidFill>
            <a:prstDash val="solid"/>
          </a:ln>
        </p:spPr>
      </p:sp>
      <p:sp>
        <p:nvSpPr>
          <p:cNvPr id="34" name="Text 32"/>
          <p:cNvSpPr/>
          <p:nvPr/>
        </p:nvSpPr>
        <p:spPr>
          <a:xfrm>
            <a:off x="4709160" y="3410712"/>
            <a:ext cx="1856232" cy="365760"/>
          </a:xfrm>
          <a:prstGeom prst="rect">
            <a:avLst/>
          </a:prstGeom>
          <a:noFill/>
          <a:ln/>
        </p:spPr>
        <p:txBody>
          <a:bodyPr wrap="square" lIns="0" tIns="0" rIns="0" bIns="0" rtlCol="0" anchor="ctr"/>
          <a:lstStyle/>
          <a:p>
            <a:pPr algn="ctr" indent="0" marL="0">
              <a:buNone/>
            </a:pPr>
            <a:r>
              <a:rPr lang="en-US" sz="1050" dirty="0">
                <a:solidFill>
                  <a:srgbClr val="6E4677"/>
                </a:solidFill>
                <a:latin typeface="Calibri" pitchFamily="34" charset="0"/>
                <a:ea typeface="Calibri" pitchFamily="34" charset="-122"/>
                <a:cs typeface="Calibri" pitchFamily="34" charset="-120"/>
              </a:rPr>
              <a:t>Disability Resources</a:t>
            </a:r>
            <a:endParaRPr lang="en-US" sz="1050" dirty="0"/>
          </a:p>
        </p:txBody>
      </p:sp>
      <p:sp>
        <p:nvSpPr>
          <p:cNvPr id="35" name="Shape 33"/>
          <p:cNvSpPr/>
          <p:nvPr/>
        </p:nvSpPr>
        <p:spPr>
          <a:xfrm>
            <a:off x="6720840" y="3410712"/>
            <a:ext cx="1947672" cy="365760"/>
          </a:xfrm>
          <a:prstGeom prst="rect">
            <a:avLst/>
          </a:prstGeom>
          <a:solidFill>
            <a:srgbClr val="F3EEE7"/>
          </a:solidFill>
          <a:ln w="6350">
            <a:solidFill>
              <a:srgbClr val="DAD0C6"/>
            </a:solidFill>
            <a:prstDash val="solid"/>
          </a:ln>
        </p:spPr>
      </p:sp>
      <p:sp>
        <p:nvSpPr>
          <p:cNvPr id="36" name="Text 34"/>
          <p:cNvSpPr/>
          <p:nvPr/>
        </p:nvSpPr>
        <p:spPr>
          <a:xfrm>
            <a:off x="6766560" y="3410712"/>
            <a:ext cx="1856232" cy="365760"/>
          </a:xfrm>
          <a:prstGeom prst="rect">
            <a:avLst/>
          </a:prstGeom>
          <a:noFill/>
          <a:ln/>
        </p:spPr>
        <p:txBody>
          <a:bodyPr wrap="square" lIns="0" tIns="0" rIns="0" bIns="0" rtlCol="0" anchor="ctr"/>
          <a:lstStyle/>
          <a:p>
            <a:pPr algn="ctr" indent="0" marL="0">
              <a:buNone/>
            </a:pPr>
            <a:r>
              <a:rPr lang="en-US" sz="1050" dirty="0">
                <a:solidFill>
                  <a:srgbClr val="6E4677"/>
                </a:solidFill>
                <a:latin typeface="Calibri" pitchFamily="34" charset="0"/>
                <a:ea typeface="Calibri" pitchFamily="34" charset="-122"/>
                <a:cs typeface="Calibri" pitchFamily="34" charset="-120"/>
              </a:rPr>
              <a:t>ESL support</a:t>
            </a:r>
            <a:endParaRPr lang="en-US" sz="1050" dirty="0"/>
          </a:p>
        </p:txBody>
      </p:sp>
      <p:sp>
        <p:nvSpPr>
          <p:cNvPr id="37" name="Shape 35"/>
          <p:cNvSpPr/>
          <p:nvPr/>
        </p:nvSpPr>
        <p:spPr>
          <a:xfrm>
            <a:off x="548640" y="3831336"/>
            <a:ext cx="1947672" cy="365760"/>
          </a:xfrm>
          <a:prstGeom prst="rect">
            <a:avLst/>
          </a:prstGeom>
          <a:solidFill>
            <a:srgbClr val="F3EEE7"/>
          </a:solidFill>
          <a:ln w="6350">
            <a:solidFill>
              <a:srgbClr val="DAD0C6"/>
            </a:solidFill>
            <a:prstDash val="solid"/>
          </a:ln>
        </p:spPr>
      </p:sp>
      <p:sp>
        <p:nvSpPr>
          <p:cNvPr id="38" name="Text 36"/>
          <p:cNvSpPr/>
          <p:nvPr/>
        </p:nvSpPr>
        <p:spPr>
          <a:xfrm>
            <a:off x="594360" y="3831336"/>
            <a:ext cx="1856232" cy="365760"/>
          </a:xfrm>
          <a:prstGeom prst="rect">
            <a:avLst/>
          </a:prstGeom>
          <a:noFill/>
          <a:ln/>
        </p:spPr>
        <p:txBody>
          <a:bodyPr wrap="square" lIns="0" tIns="0" rIns="0" bIns="0" rtlCol="0" anchor="ctr"/>
          <a:lstStyle/>
          <a:p>
            <a:pPr algn="ctr" indent="0" marL="0">
              <a:buNone/>
            </a:pPr>
            <a:r>
              <a:rPr lang="en-US" sz="1050" dirty="0">
                <a:solidFill>
                  <a:srgbClr val="6E4677"/>
                </a:solidFill>
                <a:latin typeface="Calibri" pitchFamily="34" charset="0"/>
                <a:ea typeface="Calibri" pitchFamily="34" charset="-122"/>
                <a:cs typeface="Calibri" pitchFamily="34" charset="-120"/>
              </a:rPr>
              <a:t>Career services</a:t>
            </a:r>
            <a:endParaRPr lang="en-US" sz="1050" dirty="0"/>
          </a:p>
        </p:txBody>
      </p:sp>
      <p:sp>
        <p:nvSpPr>
          <p:cNvPr id="39" name="Shape 37"/>
          <p:cNvSpPr/>
          <p:nvPr/>
        </p:nvSpPr>
        <p:spPr>
          <a:xfrm>
            <a:off x="2606040" y="3831336"/>
            <a:ext cx="1947672" cy="365760"/>
          </a:xfrm>
          <a:prstGeom prst="rect">
            <a:avLst/>
          </a:prstGeom>
          <a:solidFill>
            <a:srgbClr val="F3EEE7"/>
          </a:solidFill>
          <a:ln w="6350">
            <a:solidFill>
              <a:srgbClr val="DAD0C6"/>
            </a:solidFill>
            <a:prstDash val="solid"/>
          </a:ln>
        </p:spPr>
      </p:sp>
      <p:sp>
        <p:nvSpPr>
          <p:cNvPr id="40" name="Text 38"/>
          <p:cNvSpPr/>
          <p:nvPr/>
        </p:nvSpPr>
        <p:spPr>
          <a:xfrm>
            <a:off x="2651760" y="3831336"/>
            <a:ext cx="1856232" cy="365760"/>
          </a:xfrm>
          <a:prstGeom prst="rect">
            <a:avLst/>
          </a:prstGeom>
          <a:noFill/>
          <a:ln/>
        </p:spPr>
        <p:txBody>
          <a:bodyPr wrap="square" lIns="0" tIns="0" rIns="0" bIns="0" rtlCol="0" anchor="ctr"/>
          <a:lstStyle/>
          <a:p>
            <a:pPr algn="ctr" indent="0" marL="0">
              <a:buNone/>
            </a:pPr>
            <a:r>
              <a:rPr lang="en-US" sz="1050" dirty="0">
                <a:solidFill>
                  <a:srgbClr val="6E4677"/>
                </a:solidFill>
                <a:latin typeface="Calibri" pitchFamily="34" charset="0"/>
                <a:ea typeface="Calibri" pitchFamily="34" charset="-122"/>
                <a:cs typeface="Calibri" pitchFamily="34" charset="-120"/>
              </a:rPr>
              <a:t>Veterans services</a:t>
            </a:r>
            <a:endParaRPr lang="en-US" sz="1050" dirty="0"/>
          </a:p>
        </p:txBody>
      </p:sp>
      <p:sp>
        <p:nvSpPr>
          <p:cNvPr id="41" name="Shape 39"/>
          <p:cNvSpPr/>
          <p:nvPr/>
        </p:nvSpPr>
        <p:spPr>
          <a:xfrm>
            <a:off x="4663440" y="3831336"/>
            <a:ext cx="1947672" cy="365760"/>
          </a:xfrm>
          <a:prstGeom prst="rect">
            <a:avLst/>
          </a:prstGeom>
          <a:solidFill>
            <a:srgbClr val="F3EEE7"/>
          </a:solidFill>
          <a:ln w="6350">
            <a:solidFill>
              <a:srgbClr val="DAD0C6"/>
            </a:solidFill>
            <a:prstDash val="solid"/>
          </a:ln>
        </p:spPr>
      </p:sp>
      <p:sp>
        <p:nvSpPr>
          <p:cNvPr id="42" name="Text 40"/>
          <p:cNvSpPr/>
          <p:nvPr/>
        </p:nvSpPr>
        <p:spPr>
          <a:xfrm>
            <a:off x="4709160" y="3831336"/>
            <a:ext cx="1856232" cy="365760"/>
          </a:xfrm>
          <a:prstGeom prst="rect">
            <a:avLst/>
          </a:prstGeom>
          <a:noFill/>
          <a:ln/>
        </p:spPr>
        <p:txBody>
          <a:bodyPr wrap="square" lIns="0" tIns="0" rIns="0" bIns="0" rtlCol="0" anchor="ctr"/>
          <a:lstStyle/>
          <a:p>
            <a:pPr algn="ctr" indent="0" marL="0">
              <a:buNone/>
            </a:pPr>
            <a:r>
              <a:rPr lang="en-US" sz="1050" dirty="0">
                <a:solidFill>
                  <a:srgbClr val="6E4677"/>
                </a:solidFill>
                <a:latin typeface="Calibri" pitchFamily="34" charset="0"/>
                <a:ea typeface="Calibri" pitchFamily="34" charset="-122"/>
                <a:cs typeface="Calibri" pitchFamily="34" charset="-120"/>
              </a:rPr>
              <a:t>Transfer center</a:t>
            </a:r>
            <a:endParaRPr lang="en-US" sz="1050" dirty="0"/>
          </a:p>
        </p:txBody>
      </p:sp>
      <p:sp>
        <p:nvSpPr>
          <p:cNvPr id="43" name="Shape 41"/>
          <p:cNvSpPr/>
          <p:nvPr/>
        </p:nvSpPr>
        <p:spPr>
          <a:xfrm>
            <a:off x="6720840" y="3831336"/>
            <a:ext cx="1947672" cy="365760"/>
          </a:xfrm>
          <a:prstGeom prst="rect">
            <a:avLst/>
          </a:prstGeom>
          <a:solidFill>
            <a:srgbClr val="F3EEE7"/>
          </a:solidFill>
          <a:ln w="6350">
            <a:solidFill>
              <a:srgbClr val="DAD0C6"/>
            </a:solidFill>
            <a:prstDash val="solid"/>
          </a:ln>
        </p:spPr>
      </p:sp>
      <p:sp>
        <p:nvSpPr>
          <p:cNvPr id="44" name="Text 42"/>
          <p:cNvSpPr/>
          <p:nvPr/>
        </p:nvSpPr>
        <p:spPr>
          <a:xfrm>
            <a:off x="6766560" y="3831336"/>
            <a:ext cx="1856232" cy="365760"/>
          </a:xfrm>
          <a:prstGeom prst="rect">
            <a:avLst/>
          </a:prstGeom>
          <a:noFill/>
          <a:ln/>
        </p:spPr>
        <p:txBody>
          <a:bodyPr wrap="square" lIns="0" tIns="0" rIns="0" bIns="0" rtlCol="0" anchor="ctr"/>
          <a:lstStyle/>
          <a:p>
            <a:pPr algn="ctr" indent="0" marL="0">
              <a:buNone/>
            </a:pPr>
            <a:r>
              <a:rPr lang="en-US" sz="1050" dirty="0">
                <a:solidFill>
                  <a:srgbClr val="6E4677"/>
                </a:solidFill>
                <a:latin typeface="Calibri" pitchFamily="34" charset="0"/>
                <a:ea typeface="Calibri" pitchFamily="34" charset="-122"/>
                <a:cs typeface="Calibri" pitchFamily="34" charset="-120"/>
              </a:rPr>
              <a:t>Library research</a:t>
            </a:r>
            <a:endParaRPr lang="en-US" sz="1050" dirty="0"/>
          </a:p>
        </p:txBody>
      </p:sp>
      <p:sp>
        <p:nvSpPr>
          <p:cNvPr id="45" name="Shape 43"/>
          <p:cNvSpPr/>
          <p:nvPr/>
        </p:nvSpPr>
        <p:spPr>
          <a:xfrm>
            <a:off x="548640" y="4251960"/>
            <a:ext cx="1947672" cy="365760"/>
          </a:xfrm>
          <a:prstGeom prst="rect">
            <a:avLst/>
          </a:prstGeom>
          <a:solidFill>
            <a:srgbClr val="F3EEE7"/>
          </a:solidFill>
          <a:ln w="6350">
            <a:solidFill>
              <a:srgbClr val="DAD0C6"/>
            </a:solidFill>
            <a:prstDash val="solid"/>
          </a:ln>
        </p:spPr>
      </p:sp>
      <p:sp>
        <p:nvSpPr>
          <p:cNvPr id="46" name="Text 44"/>
          <p:cNvSpPr/>
          <p:nvPr/>
        </p:nvSpPr>
        <p:spPr>
          <a:xfrm>
            <a:off x="594360" y="4251960"/>
            <a:ext cx="1856232" cy="365760"/>
          </a:xfrm>
          <a:prstGeom prst="rect">
            <a:avLst/>
          </a:prstGeom>
          <a:noFill/>
          <a:ln/>
        </p:spPr>
        <p:txBody>
          <a:bodyPr wrap="square" lIns="0" tIns="0" rIns="0" bIns="0" rtlCol="0" anchor="ctr"/>
          <a:lstStyle/>
          <a:p>
            <a:pPr algn="ctr" indent="0" marL="0">
              <a:buNone/>
            </a:pPr>
            <a:r>
              <a:rPr lang="en-US" sz="1050" dirty="0">
                <a:solidFill>
                  <a:srgbClr val="6E4677"/>
                </a:solidFill>
                <a:latin typeface="Calibri" pitchFamily="34" charset="0"/>
                <a:ea typeface="Calibri" pitchFamily="34" charset="-122"/>
                <a:cs typeface="Calibri" pitchFamily="34" charset="-120"/>
              </a:rPr>
              <a:t>Peer coaching</a:t>
            </a:r>
            <a:endParaRPr lang="en-US" sz="1050" dirty="0"/>
          </a:p>
        </p:txBody>
      </p:sp>
      <p:sp>
        <p:nvSpPr>
          <p:cNvPr id="47" name="Shape 45"/>
          <p:cNvSpPr/>
          <p:nvPr/>
        </p:nvSpPr>
        <p:spPr>
          <a:xfrm>
            <a:off x="2606040" y="4251960"/>
            <a:ext cx="1947672" cy="365760"/>
          </a:xfrm>
          <a:prstGeom prst="rect">
            <a:avLst/>
          </a:prstGeom>
          <a:solidFill>
            <a:srgbClr val="F3EEE7"/>
          </a:solidFill>
          <a:ln w="6350">
            <a:solidFill>
              <a:srgbClr val="DAD0C6"/>
            </a:solidFill>
            <a:prstDash val="solid"/>
          </a:ln>
        </p:spPr>
      </p:sp>
      <p:sp>
        <p:nvSpPr>
          <p:cNvPr id="48" name="Text 46"/>
          <p:cNvSpPr/>
          <p:nvPr/>
        </p:nvSpPr>
        <p:spPr>
          <a:xfrm>
            <a:off x="2651760" y="4251960"/>
            <a:ext cx="1856232" cy="365760"/>
          </a:xfrm>
          <a:prstGeom prst="rect">
            <a:avLst/>
          </a:prstGeom>
          <a:noFill/>
          <a:ln/>
        </p:spPr>
        <p:txBody>
          <a:bodyPr wrap="square" lIns="0" tIns="0" rIns="0" bIns="0" rtlCol="0" anchor="ctr"/>
          <a:lstStyle/>
          <a:p>
            <a:pPr algn="ctr" indent="0" marL="0">
              <a:buNone/>
            </a:pPr>
            <a:r>
              <a:rPr lang="en-US" sz="1050" dirty="0">
                <a:solidFill>
                  <a:srgbClr val="6E4677"/>
                </a:solidFill>
                <a:latin typeface="Calibri" pitchFamily="34" charset="0"/>
                <a:ea typeface="Calibri" pitchFamily="34" charset="-122"/>
                <a:cs typeface="Calibri" pitchFamily="34" charset="-120"/>
              </a:rPr>
              <a:t>Health &amp; wellness</a:t>
            </a:r>
            <a:endParaRPr lang="en-US" sz="1050" dirty="0"/>
          </a:p>
        </p:txBody>
      </p:sp>
      <p:sp>
        <p:nvSpPr>
          <p:cNvPr id="49" name="Text 47"/>
          <p:cNvSpPr/>
          <p:nvPr/>
        </p:nvSpPr>
        <p:spPr>
          <a:xfrm>
            <a:off x="548640" y="4297680"/>
            <a:ext cx="8046720" cy="411480"/>
          </a:xfrm>
          <a:prstGeom prst="rect">
            <a:avLst/>
          </a:prstGeom>
          <a:noFill/>
          <a:ln/>
        </p:spPr>
        <p:txBody>
          <a:bodyPr wrap="square" lIns="0" tIns="0" rIns="0" bIns="0" rtlCol="0" anchor="t"/>
          <a:lstStyle/>
          <a:p>
            <a:pPr indent="0" marL="0">
              <a:buNone/>
            </a:pPr>
            <a:r>
              <a:rPr lang="en-US" sz="1100" b="1" dirty="0">
                <a:solidFill>
                  <a:srgbClr val="B8956A"/>
                </a:solidFill>
                <a:latin typeface="Calibri" pitchFamily="34" charset="0"/>
                <a:ea typeface="Calibri" pitchFamily="34" charset="-122"/>
                <a:cs typeface="Calibri" pitchFamily="34" charset="-120"/>
              </a:rPr>
              <a:t>Worth underscoring: </a:t>
            </a:r>
            <a:pPr indent="0" marL="0">
              <a:buNone/>
            </a:pPr>
            <a:r>
              <a:rPr lang="en-US" sz="1100" dirty="0">
                <a:solidFill>
                  <a:srgbClr val="2C2330"/>
                </a:solidFill>
                <a:latin typeface="Calibri" pitchFamily="34" charset="0"/>
                <a:ea typeface="Calibri" pitchFamily="34" charset="-122"/>
                <a:cs typeface="Calibri" pitchFamily="34" charset="-120"/>
              </a:rPr>
              <a:t>Disability Resources serves students with ADHD, anxiety, and other non-apparent conditions, not only visible disabilities. A student who says they cannot focus may simply not know they qualify.</a:t>
            </a:r>
            <a:endParaRPr lang="en-US" sz="1100" dirty="0"/>
          </a:p>
        </p:txBody>
      </p:sp>
      <p:sp>
        <p:nvSpPr>
          <p:cNvPr id="50" name="Shape 48"/>
          <p:cNvSpPr/>
          <p:nvPr/>
        </p:nvSpPr>
        <p:spPr>
          <a:xfrm>
            <a:off x="548640" y="4736592"/>
            <a:ext cx="8046720" cy="0"/>
          </a:xfrm>
          <a:prstGeom prst="line">
            <a:avLst/>
          </a:prstGeom>
          <a:noFill/>
          <a:ln w="9525">
            <a:solidFill>
              <a:srgbClr val="C9BDB2"/>
            </a:solidFill>
            <a:prstDash val="solid"/>
          </a:ln>
        </p:spPr>
      </p:sp>
      <p:sp>
        <p:nvSpPr>
          <p:cNvPr id="51" name="Text 49"/>
          <p:cNvSpPr/>
          <p:nvPr/>
        </p:nvSpPr>
        <p:spPr>
          <a:xfrm>
            <a:off x="548640" y="4791456"/>
            <a:ext cx="6858000" cy="228600"/>
          </a:xfrm>
          <a:prstGeom prst="rect">
            <a:avLst/>
          </a:prstGeom>
          <a:noFill/>
          <a:ln/>
        </p:spPr>
        <p:txBody>
          <a:bodyPr wrap="square" lIns="0" tIns="0" rIns="0" bIns="0" rtlCol="0" anchor="ctr"/>
          <a:lstStyle/>
          <a:p>
            <a:pPr indent="0" marL="0">
              <a:buNone/>
            </a:pPr>
            <a:r>
              <a:rPr lang="en-US" sz="850" spc="100" kern="0" dirty="0">
                <a:solidFill>
                  <a:srgbClr val="8A7E7A"/>
                </a:solidFill>
                <a:latin typeface="Calibri" pitchFamily="34" charset="0"/>
                <a:ea typeface="Calibri" pitchFamily="34" charset="-122"/>
                <a:cs typeface="Calibri" pitchFamily="34" charset="-120"/>
              </a:rPr>
              <a:t>Student Persistence · An Evidence Brief</a:t>
            </a:r>
            <a:endParaRPr lang="en-US" sz="850" dirty="0"/>
          </a:p>
        </p:txBody>
      </p:sp>
      <p:sp>
        <p:nvSpPr>
          <p:cNvPr id="52" name="Text 50"/>
          <p:cNvSpPr/>
          <p:nvPr/>
        </p:nvSpPr>
        <p:spPr>
          <a:xfrm>
            <a:off x="8229600" y="4791456"/>
            <a:ext cx="365760" cy="228600"/>
          </a:xfrm>
          <a:prstGeom prst="rect">
            <a:avLst/>
          </a:prstGeom>
          <a:noFill/>
          <a:ln/>
        </p:spPr>
        <p:txBody>
          <a:bodyPr wrap="square" lIns="0" tIns="0" rIns="0" bIns="0" rtlCol="0" anchor="ctr"/>
          <a:lstStyle/>
          <a:p>
            <a:pPr algn="r" indent="0" marL="0">
              <a:buNone/>
            </a:pPr>
            <a:r>
              <a:rPr lang="en-US" sz="850" dirty="0">
                <a:solidFill>
                  <a:srgbClr val="8A7E7A"/>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548640" y="411480"/>
            <a:ext cx="8046720" cy="256032"/>
          </a:xfrm>
          <a:prstGeom prst="rect">
            <a:avLst/>
          </a:prstGeom>
          <a:noFill/>
          <a:ln/>
        </p:spPr>
        <p:txBody>
          <a:bodyPr wrap="square" lIns="0" tIns="0" rIns="0" bIns="0" rtlCol="0" anchor="ctr"/>
          <a:lstStyle/>
          <a:p>
            <a:pPr indent="0" marL="0">
              <a:buNone/>
            </a:pPr>
            <a:r>
              <a:rPr lang="en-US" sz="1100" b="1" spc="250" kern="0" dirty="0">
                <a:solidFill>
                  <a:srgbClr val="B8956A"/>
                </a:solidFill>
                <a:latin typeface="Calibri" pitchFamily="34" charset="0"/>
                <a:ea typeface="Calibri" pitchFamily="34" charset="-122"/>
                <a:cs typeface="Calibri" pitchFamily="34" charset="-120"/>
              </a:rPr>
              <a:t>ALIGNING BARRIERS TO SUPPORT</a:t>
            </a:r>
            <a:endParaRPr lang="en-US" sz="1100" dirty="0"/>
          </a:p>
        </p:txBody>
      </p:sp>
      <p:sp>
        <p:nvSpPr>
          <p:cNvPr id="3" name="Text 1"/>
          <p:cNvSpPr/>
          <p:nvPr/>
        </p:nvSpPr>
        <p:spPr>
          <a:xfrm>
            <a:off x="548640" y="676656"/>
            <a:ext cx="8046720" cy="777240"/>
          </a:xfrm>
          <a:prstGeom prst="rect">
            <a:avLst/>
          </a:prstGeom>
          <a:noFill/>
          <a:ln/>
        </p:spPr>
        <p:txBody>
          <a:bodyPr wrap="square" lIns="0" tIns="0" rIns="0" bIns="0" rtlCol="0" anchor="ctr"/>
          <a:lstStyle/>
          <a:p>
            <a:pPr algn="l" indent="0" marL="0">
              <a:buNone/>
            </a:pPr>
            <a:r>
              <a:rPr lang="en-US" sz="3000" b="1" dirty="0">
                <a:solidFill>
                  <a:srgbClr val="2C2330"/>
                </a:solidFill>
                <a:latin typeface="Georgia" pitchFamily="34" charset="0"/>
                <a:ea typeface="Georgia" pitchFamily="34" charset="-122"/>
                <a:cs typeface="Georgia" pitchFamily="34" charset="-120"/>
              </a:rPr>
              <a:t>Most barriers already have a service behind them</a:t>
            </a:r>
            <a:endParaRPr lang="en-US" sz="3000" dirty="0"/>
          </a:p>
        </p:txBody>
      </p:sp>
      <p:sp>
        <p:nvSpPr>
          <p:cNvPr id="4" name="Text 2"/>
          <p:cNvSpPr/>
          <p:nvPr/>
        </p:nvSpPr>
        <p:spPr>
          <a:xfrm>
            <a:off x="548640" y="1536192"/>
            <a:ext cx="8046720" cy="457200"/>
          </a:xfrm>
          <a:prstGeom prst="rect">
            <a:avLst/>
          </a:prstGeom>
          <a:noFill/>
          <a:ln/>
        </p:spPr>
        <p:txBody>
          <a:bodyPr wrap="square" lIns="0" tIns="0" rIns="0" bIns="0" rtlCol="0" anchor="t"/>
          <a:lstStyle/>
          <a:p>
            <a:pPr indent="0" marL="0">
              <a:buNone/>
            </a:pPr>
            <a:r>
              <a:rPr lang="en-US" sz="1350" dirty="0">
                <a:solidFill>
                  <a:srgbClr val="2C2330"/>
                </a:solidFill>
                <a:latin typeface="Calibri" pitchFamily="34" charset="0"/>
                <a:ea typeface="Calibri" pitchFamily="34" charset="-122"/>
                <a:cs typeface="Calibri" pitchFamily="34" charset="-120"/>
              </a:rPr>
              <a:t>A student in difficulty often does not know what to request, or hesitates to ask. A single, specific referral closes that gap.</a:t>
            </a:r>
            <a:endParaRPr lang="en-US" sz="1350" dirty="0"/>
          </a:p>
        </p:txBody>
      </p:sp>
      <p:sp>
        <p:nvSpPr>
          <p:cNvPr id="5" name="Shape 3"/>
          <p:cNvSpPr/>
          <p:nvPr/>
        </p:nvSpPr>
        <p:spPr>
          <a:xfrm>
            <a:off x="548640" y="2194560"/>
            <a:ext cx="8046720" cy="548640"/>
          </a:xfrm>
          <a:prstGeom prst="rect">
            <a:avLst/>
          </a:prstGeom>
          <a:solidFill>
            <a:srgbClr val="FFFFFF"/>
          </a:solidFill>
          <a:ln w="9525">
            <a:solidFill>
              <a:srgbClr val="DAD0C6"/>
            </a:solidFill>
            <a:prstDash val="solid"/>
          </a:ln>
        </p:spPr>
      </p:sp>
      <p:sp>
        <p:nvSpPr>
          <p:cNvPr id="6" name="Shape 4"/>
          <p:cNvSpPr/>
          <p:nvPr/>
        </p:nvSpPr>
        <p:spPr>
          <a:xfrm>
            <a:off x="548640" y="2194560"/>
            <a:ext cx="64008" cy="548640"/>
          </a:xfrm>
          <a:prstGeom prst="rect">
            <a:avLst/>
          </a:prstGeom>
          <a:solidFill>
            <a:srgbClr val="B07C8A"/>
          </a:solidFill>
          <a:ln/>
        </p:spPr>
      </p:sp>
      <p:sp>
        <p:nvSpPr>
          <p:cNvPr id="7" name="Text 5"/>
          <p:cNvSpPr/>
          <p:nvPr/>
        </p:nvSpPr>
        <p:spPr>
          <a:xfrm>
            <a:off x="731520" y="2194560"/>
            <a:ext cx="3017520" cy="548640"/>
          </a:xfrm>
          <a:prstGeom prst="rect">
            <a:avLst/>
          </a:prstGeom>
          <a:noFill/>
          <a:ln/>
        </p:spPr>
        <p:txBody>
          <a:bodyPr wrap="square" lIns="0" tIns="0" rIns="0" bIns="0" rtlCol="0" anchor="ctr"/>
          <a:lstStyle/>
          <a:p>
            <a:pPr indent="0" marL="0">
              <a:buNone/>
            </a:pPr>
            <a:r>
              <a:rPr lang="en-US" sz="1350" b="1" dirty="0">
                <a:solidFill>
                  <a:srgbClr val="B07C8A"/>
                </a:solidFill>
                <a:latin typeface="Georgia" pitchFamily="34" charset="0"/>
                <a:ea typeface="Georgia" pitchFamily="34" charset="-122"/>
                <a:cs typeface="Georgia" pitchFamily="34" charset="-120"/>
              </a:rPr>
              <a:t>Cost of course materials</a:t>
            </a:r>
            <a:endParaRPr lang="en-US" sz="1350" dirty="0"/>
          </a:p>
        </p:txBody>
      </p:sp>
      <p:sp>
        <p:nvSpPr>
          <p:cNvPr id="8" name="Text 6"/>
          <p:cNvSpPr/>
          <p:nvPr/>
        </p:nvSpPr>
        <p:spPr>
          <a:xfrm>
            <a:off x="3840480" y="2194560"/>
            <a:ext cx="4663440" cy="548640"/>
          </a:xfrm>
          <a:prstGeom prst="rect">
            <a:avLst/>
          </a:prstGeom>
          <a:noFill/>
          <a:ln/>
        </p:spPr>
        <p:txBody>
          <a:bodyPr wrap="square" lIns="0" tIns="0" rIns="0" bIns="0" rtlCol="0" anchor="ctr"/>
          <a:lstStyle/>
          <a:p>
            <a:pPr indent="0" marL="0">
              <a:buNone/>
            </a:pPr>
            <a:r>
              <a:rPr lang="en-US" sz="1200" dirty="0">
                <a:solidFill>
                  <a:srgbClr val="2C2330"/>
                </a:solidFill>
                <a:latin typeface="Calibri" pitchFamily="34" charset="0"/>
                <a:ea typeface="Calibri" pitchFamily="34" charset="-122"/>
                <a:cs typeface="Calibri" pitchFamily="34" charset="-120"/>
              </a:rPr>
              <a:t>Basic Needs book vouchers, library course reserves, open educational resources.</a:t>
            </a:r>
            <a:endParaRPr lang="en-US" sz="1200" dirty="0"/>
          </a:p>
        </p:txBody>
      </p:sp>
      <p:sp>
        <p:nvSpPr>
          <p:cNvPr id="9" name="Shape 7"/>
          <p:cNvSpPr/>
          <p:nvPr/>
        </p:nvSpPr>
        <p:spPr>
          <a:xfrm>
            <a:off x="548640" y="2798064"/>
            <a:ext cx="8046720" cy="548640"/>
          </a:xfrm>
          <a:prstGeom prst="rect">
            <a:avLst/>
          </a:prstGeom>
          <a:solidFill>
            <a:srgbClr val="FFFFFF"/>
          </a:solidFill>
          <a:ln w="9525">
            <a:solidFill>
              <a:srgbClr val="DAD0C6"/>
            </a:solidFill>
            <a:prstDash val="solid"/>
          </a:ln>
        </p:spPr>
      </p:sp>
      <p:sp>
        <p:nvSpPr>
          <p:cNvPr id="10" name="Shape 8"/>
          <p:cNvSpPr/>
          <p:nvPr/>
        </p:nvSpPr>
        <p:spPr>
          <a:xfrm>
            <a:off x="548640" y="2798064"/>
            <a:ext cx="64008" cy="548640"/>
          </a:xfrm>
          <a:prstGeom prst="rect">
            <a:avLst/>
          </a:prstGeom>
          <a:solidFill>
            <a:srgbClr val="B8956A"/>
          </a:solidFill>
          <a:ln/>
        </p:spPr>
      </p:sp>
      <p:sp>
        <p:nvSpPr>
          <p:cNvPr id="11" name="Text 9"/>
          <p:cNvSpPr/>
          <p:nvPr/>
        </p:nvSpPr>
        <p:spPr>
          <a:xfrm>
            <a:off x="731520" y="2798064"/>
            <a:ext cx="3017520" cy="548640"/>
          </a:xfrm>
          <a:prstGeom prst="rect">
            <a:avLst/>
          </a:prstGeom>
          <a:noFill/>
          <a:ln/>
        </p:spPr>
        <p:txBody>
          <a:bodyPr wrap="square" lIns="0" tIns="0" rIns="0" bIns="0" rtlCol="0" anchor="ctr"/>
          <a:lstStyle/>
          <a:p>
            <a:pPr indent="0" marL="0">
              <a:buNone/>
            </a:pPr>
            <a:r>
              <a:rPr lang="en-US" sz="1350" b="1" dirty="0">
                <a:solidFill>
                  <a:srgbClr val="B8956A"/>
                </a:solidFill>
                <a:latin typeface="Georgia" pitchFamily="34" charset="0"/>
                <a:ea typeface="Georgia" pitchFamily="34" charset="-122"/>
                <a:cs typeface="Georgia" pitchFamily="34" charset="-120"/>
              </a:rPr>
              <a:t>Childcare and dependent care</a:t>
            </a:r>
            <a:endParaRPr lang="en-US" sz="1350" dirty="0"/>
          </a:p>
        </p:txBody>
      </p:sp>
      <p:sp>
        <p:nvSpPr>
          <p:cNvPr id="12" name="Text 10"/>
          <p:cNvSpPr/>
          <p:nvPr/>
        </p:nvSpPr>
        <p:spPr>
          <a:xfrm>
            <a:off x="3840480" y="2798064"/>
            <a:ext cx="4663440" cy="548640"/>
          </a:xfrm>
          <a:prstGeom prst="rect">
            <a:avLst/>
          </a:prstGeom>
          <a:noFill/>
          <a:ln/>
        </p:spPr>
        <p:txBody>
          <a:bodyPr wrap="square" lIns="0" tIns="0" rIns="0" bIns="0" rtlCol="0" anchor="ctr"/>
          <a:lstStyle/>
          <a:p>
            <a:pPr indent="0" marL="0">
              <a:buNone/>
            </a:pPr>
            <a:r>
              <a:rPr lang="en-US" sz="1200" dirty="0">
                <a:solidFill>
                  <a:srgbClr val="2C2330"/>
                </a:solidFill>
                <a:latin typeface="Calibri" pitchFamily="34" charset="0"/>
                <a:ea typeface="Calibri" pitchFamily="34" charset="-122"/>
                <a:cs typeface="Calibri" pitchFamily="34" charset="-120"/>
              </a:rPr>
              <a:t>Childcare assistance and family resources, often determinative for caregivers.</a:t>
            </a:r>
            <a:endParaRPr lang="en-US" sz="1200" dirty="0"/>
          </a:p>
        </p:txBody>
      </p:sp>
      <p:sp>
        <p:nvSpPr>
          <p:cNvPr id="13" name="Shape 11"/>
          <p:cNvSpPr/>
          <p:nvPr/>
        </p:nvSpPr>
        <p:spPr>
          <a:xfrm>
            <a:off x="548640" y="3401568"/>
            <a:ext cx="8046720" cy="548640"/>
          </a:xfrm>
          <a:prstGeom prst="rect">
            <a:avLst/>
          </a:prstGeom>
          <a:solidFill>
            <a:srgbClr val="FFFFFF"/>
          </a:solidFill>
          <a:ln w="9525">
            <a:solidFill>
              <a:srgbClr val="DAD0C6"/>
            </a:solidFill>
            <a:prstDash val="solid"/>
          </a:ln>
        </p:spPr>
      </p:sp>
      <p:sp>
        <p:nvSpPr>
          <p:cNvPr id="14" name="Shape 12"/>
          <p:cNvSpPr/>
          <p:nvPr/>
        </p:nvSpPr>
        <p:spPr>
          <a:xfrm>
            <a:off x="548640" y="3401568"/>
            <a:ext cx="64008" cy="548640"/>
          </a:xfrm>
          <a:prstGeom prst="rect">
            <a:avLst/>
          </a:prstGeom>
          <a:solidFill>
            <a:srgbClr val="5F7E63"/>
          </a:solidFill>
          <a:ln/>
        </p:spPr>
      </p:sp>
      <p:sp>
        <p:nvSpPr>
          <p:cNvPr id="15" name="Text 13"/>
          <p:cNvSpPr/>
          <p:nvPr/>
        </p:nvSpPr>
        <p:spPr>
          <a:xfrm>
            <a:off x="731520" y="3401568"/>
            <a:ext cx="3017520" cy="548640"/>
          </a:xfrm>
          <a:prstGeom prst="rect">
            <a:avLst/>
          </a:prstGeom>
          <a:noFill/>
          <a:ln/>
        </p:spPr>
        <p:txBody>
          <a:bodyPr wrap="square" lIns="0" tIns="0" rIns="0" bIns="0" rtlCol="0" anchor="ctr"/>
          <a:lstStyle/>
          <a:p>
            <a:pPr indent="0" marL="0">
              <a:buNone/>
            </a:pPr>
            <a:r>
              <a:rPr lang="en-US" sz="1350" b="1" dirty="0">
                <a:solidFill>
                  <a:srgbClr val="5F7E63"/>
                </a:solidFill>
                <a:latin typeface="Georgia" pitchFamily="34" charset="0"/>
                <a:ea typeface="Georgia" pitchFamily="34" charset="-122"/>
                <a:cs typeface="Georgia" pitchFamily="34" charset="-120"/>
              </a:rPr>
              <a:t>Food and housing insecurity</a:t>
            </a:r>
            <a:endParaRPr lang="en-US" sz="1350" dirty="0"/>
          </a:p>
        </p:txBody>
      </p:sp>
      <p:sp>
        <p:nvSpPr>
          <p:cNvPr id="16" name="Text 14"/>
          <p:cNvSpPr/>
          <p:nvPr/>
        </p:nvSpPr>
        <p:spPr>
          <a:xfrm>
            <a:off x="3840480" y="3401568"/>
            <a:ext cx="4663440" cy="548640"/>
          </a:xfrm>
          <a:prstGeom prst="rect">
            <a:avLst/>
          </a:prstGeom>
          <a:noFill/>
          <a:ln/>
        </p:spPr>
        <p:txBody>
          <a:bodyPr wrap="square" lIns="0" tIns="0" rIns="0" bIns="0" rtlCol="0" anchor="ctr"/>
          <a:lstStyle/>
          <a:p>
            <a:pPr indent="0" marL="0">
              <a:buNone/>
            </a:pPr>
            <a:r>
              <a:rPr lang="en-US" sz="1200" dirty="0">
                <a:solidFill>
                  <a:srgbClr val="2C2330"/>
                </a:solidFill>
                <a:latin typeface="Calibri" pitchFamily="34" charset="0"/>
                <a:ea typeface="Calibri" pitchFamily="34" charset="-122"/>
                <a:cs typeface="Calibri" pitchFamily="34" charset="-120"/>
              </a:rPr>
              <a:t>The food pantry, emergency funds, and campus social workers: our Basic Needs programs.</a:t>
            </a:r>
            <a:endParaRPr lang="en-US" sz="1200" dirty="0"/>
          </a:p>
        </p:txBody>
      </p:sp>
      <p:sp>
        <p:nvSpPr>
          <p:cNvPr id="17" name="Shape 15"/>
          <p:cNvSpPr/>
          <p:nvPr/>
        </p:nvSpPr>
        <p:spPr>
          <a:xfrm>
            <a:off x="548640" y="4005072"/>
            <a:ext cx="8046720" cy="548640"/>
          </a:xfrm>
          <a:prstGeom prst="rect">
            <a:avLst/>
          </a:prstGeom>
          <a:solidFill>
            <a:srgbClr val="FFFFFF"/>
          </a:solidFill>
          <a:ln w="9525">
            <a:solidFill>
              <a:srgbClr val="DAD0C6"/>
            </a:solidFill>
            <a:prstDash val="solid"/>
          </a:ln>
        </p:spPr>
      </p:sp>
      <p:sp>
        <p:nvSpPr>
          <p:cNvPr id="18" name="Shape 16"/>
          <p:cNvSpPr/>
          <p:nvPr/>
        </p:nvSpPr>
        <p:spPr>
          <a:xfrm>
            <a:off x="548640" y="4005072"/>
            <a:ext cx="64008" cy="548640"/>
          </a:xfrm>
          <a:prstGeom prst="rect">
            <a:avLst/>
          </a:prstGeom>
          <a:solidFill>
            <a:srgbClr val="6E4677"/>
          </a:solidFill>
          <a:ln/>
        </p:spPr>
      </p:sp>
      <p:sp>
        <p:nvSpPr>
          <p:cNvPr id="19" name="Text 17"/>
          <p:cNvSpPr/>
          <p:nvPr/>
        </p:nvSpPr>
        <p:spPr>
          <a:xfrm>
            <a:off x="731520" y="4005072"/>
            <a:ext cx="3017520" cy="548640"/>
          </a:xfrm>
          <a:prstGeom prst="rect">
            <a:avLst/>
          </a:prstGeom>
          <a:noFill/>
          <a:ln/>
        </p:spPr>
        <p:txBody>
          <a:bodyPr wrap="square" lIns="0" tIns="0" rIns="0" bIns="0" rtlCol="0" anchor="ctr"/>
          <a:lstStyle/>
          <a:p>
            <a:pPr indent="0" marL="0">
              <a:buNone/>
            </a:pPr>
            <a:r>
              <a:rPr lang="en-US" sz="1350" b="1" dirty="0">
                <a:solidFill>
                  <a:srgbClr val="6E4677"/>
                </a:solidFill>
                <a:latin typeface="Georgia" pitchFamily="34" charset="0"/>
                <a:ea typeface="Georgia" pitchFamily="34" charset="-122"/>
                <a:cs typeface="Georgia" pitchFamily="34" charset="-120"/>
              </a:rPr>
              <a:t>Inability to attend in person</a:t>
            </a:r>
            <a:endParaRPr lang="en-US" sz="1350" dirty="0"/>
          </a:p>
        </p:txBody>
      </p:sp>
      <p:sp>
        <p:nvSpPr>
          <p:cNvPr id="20" name="Text 18"/>
          <p:cNvSpPr/>
          <p:nvPr/>
        </p:nvSpPr>
        <p:spPr>
          <a:xfrm>
            <a:off x="3840480" y="4005072"/>
            <a:ext cx="4663440" cy="548640"/>
          </a:xfrm>
          <a:prstGeom prst="rect">
            <a:avLst/>
          </a:prstGeom>
          <a:noFill/>
          <a:ln/>
        </p:spPr>
        <p:txBody>
          <a:bodyPr wrap="square" lIns="0" tIns="0" rIns="0" bIns="0" rtlCol="0" anchor="ctr"/>
          <a:lstStyle/>
          <a:p>
            <a:pPr indent="0" marL="0">
              <a:buNone/>
            </a:pPr>
            <a:r>
              <a:rPr lang="en-US" sz="1200" dirty="0">
                <a:solidFill>
                  <a:srgbClr val="2C2330"/>
                </a:solidFill>
                <a:latin typeface="Calibri" pitchFamily="34" charset="0"/>
                <a:ea typeface="Calibri" pitchFamily="34" charset="-122"/>
                <a:cs typeface="Calibri" pitchFamily="34" charset="-120"/>
              </a:rPr>
              <a:t>An alternate means to submit or participate, before any administrative drop.</a:t>
            </a:r>
            <a:endParaRPr lang="en-US" sz="1200" dirty="0"/>
          </a:p>
        </p:txBody>
      </p:sp>
      <p:sp>
        <p:nvSpPr>
          <p:cNvPr id="21" name="Shape 19"/>
          <p:cNvSpPr/>
          <p:nvPr/>
        </p:nvSpPr>
        <p:spPr>
          <a:xfrm>
            <a:off x="548640" y="4736592"/>
            <a:ext cx="8046720" cy="0"/>
          </a:xfrm>
          <a:prstGeom prst="line">
            <a:avLst/>
          </a:prstGeom>
          <a:noFill/>
          <a:ln w="9525">
            <a:solidFill>
              <a:srgbClr val="C9BDB2"/>
            </a:solidFill>
            <a:prstDash val="solid"/>
          </a:ln>
        </p:spPr>
      </p:sp>
      <p:sp>
        <p:nvSpPr>
          <p:cNvPr id="22" name="Text 20"/>
          <p:cNvSpPr/>
          <p:nvPr/>
        </p:nvSpPr>
        <p:spPr>
          <a:xfrm>
            <a:off x="548640" y="4791456"/>
            <a:ext cx="6858000" cy="228600"/>
          </a:xfrm>
          <a:prstGeom prst="rect">
            <a:avLst/>
          </a:prstGeom>
          <a:noFill/>
          <a:ln/>
        </p:spPr>
        <p:txBody>
          <a:bodyPr wrap="square" lIns="0" tIns="0" rIns="0" bIns="0" rtlCol="0" anchor="ctr"/>
          <a:lstStyle/>
          <a:p>
            <a:pPr indent="0" marL="0">
              <a:buNone/>
            </a:pPr>
            <a:r>
              <a:rPr lang="en-US" sz="850" spc="100" kern="0" dirty="0">
                <a:solidFill>
                  <a:srgbClr val="8A7E7A"/>
                </a:solidFill>
                <a:latin typeface="Calibri" pitchFamily="34" charset="0"/>
                <a:ea typeface="Calibri" pitchFamily="34" charset="-122"/>
                <a:cs typeface="Calibri" pitchFamily="34" charset="-120"/>
              </a:rPr>
              <a:t>Student Persistence · An Evidence Brief</a:t>
            </a:r>
            <a:endParaRPr lang="en-US" sz="850" dirty="0"/>
          </a:p>
        </p:txBody>
      </p:sp>
      <p:sp>
        <p:nvSpPr>
          <p:cNvPr id="23" name="Text 21"/>
          <p:cNvSpPr/>
          <p:nvPr/>
        </p:nvSpPr>
        <p:spPr>
          <a:xfrm>
            <a:off x="8229600" y="4791456"/>
            <a:ext cx="365760" cy="228600"/>
          </a:xfrm>
          <a:prstGeom prst="rect">
            <a:avLst/>
          </a:prstGeom>
          <a:noFill/>
          <a:ln/>
        </p:spPr>
        <p:txBody>
          <a:bodyPr wrap="square" lIns="0" tIns="0" rIns="0" bIns="0" rtlCol="0" anchor="ctr"/>
          <a:lstStyle/>
          <a:p>
            <a:pPr algn="r" indent="0" marL="0">
              <a:buNone/>
            </a:pPr>
            <a:r>
              <a:rPr lang="en-US" sz="850" dirty="0">
                <a:solidFill>
                  <a:srgbClr val="8A7E7A"/>
                </a:solidFill>
                <a:latin typeface="Calibri" pitchFamily="34" charset="0"/>
                <a:ea typeface="Calibri" pitchFamily="34" charset="-122"/>
                <a:cs typeface="Calibr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548640" y="411480"/>
            <a:ext cx="8046720" cy="256032"/>
          </a:xfrm>
          <a:prstGeom prst="rect">
            <a:avLst/>
          </a:prstGeom>
          <a:noFill/>
          <a:ln/>
        </p:spPr>
        <p:txBody>
          <a:bodyPr wrap="square" lIns="0" tIns="0" rIns="0" bIns="0" rtlCol="0" anchor="ctr"/>
          <a:lstStyle/>
          <a:p>
            <a:pPr indent="0" marL="0">
              <a:buNone/>
            </a:pPr>
            <a:r>
              <a:rPr lang="en-US" sz="1100" b="1" spc="250" kern="0" dirty="0">
                <a:solidFill>
                  <a:srgbClr val="B8956A"/>
                </a:solidFill>
                <a:latin typeface="Calibri" pitchFamily="34" charset="0"/>
                <a:ea typeface="Calibri" pitchFamily="34" charset="-122"/>
                <a:cs typeface="Calibri" pitchFamily="34" charset="-120"/>
              </a:rPr>
              <a:t>THE EVIDENCE BASE</a:t>
            </a:r>
            <a:endParaRPr lang="en-US" sz="1100" dirty="0"/>
          </a:p>
        </p:txBody>
      </p:sp>
      <p:sp>
        <p:nvSpPr>
          <p:cNvPr id="3" name="Text 1"/>
          <p:cNvSpPr/>
          <p:nvPr/>
        </p:nvSpPr>
        <p:spPr>
          <a:xfrm>
            <a:off x="548640" y="676656"/>
            <a:ext cx="8046720" cy="777240"/>
          </a:xfrm>
          <a:prstGeom prst="rect">
            <a:avLst/>
          </a:prstGeom>
          <a:noFill/>
          <a:ln/>
        </p:spPr>
        <p:txBody>
          <a:bodyPr wrap="square" lIns="0" tIns="0" rIns="0" bIns="0" rtlCol="0" anchor="ctr"/>
          <a:lstStyle/>
          <a:p>
            <a:pPr algn="l" indent="0" marL="0">
              <a:buNone/>
            </a:pPr>
            <a:r>
              <a:rPr lang="en-US" sz="3000" b="1" dirty="0">
                <a:solidFill>
                  <a:srgbClr val="2C2330"/>
                </a:solidFill>
                <a:latin typeface="Georgia" pitchFamily="34" charset="0"/>
                <a:ea typeface="Georgia" pitchFamily="34" charset="-122"/>
                <a:cs typeface="Georgia" pitchFamily="34" charset="-120"/>
              </a:rPr>
              <a:t>Connection is a proven, measurable retention strategy</a:t>
            </a:r>
            <a:endParaRPr lang="en-US" sz="3000" dirty="0"/>
          </a:p>
        </p:txBody>
      </p:sp>
      <p:sp>
        <p:nvSpPr>
          <p:cNvPr id="4" name="Text 2"/>
          <p:cNvSpPr/>
          <p:nvPr/>
        </p:nvSpPr>
        <p:spPr>
          <a:xfrm>
            <a:off x="548640" y="1536192"/>
            <a:ext cx="8046720" cy="502920"/>
          </a:xfrm>
          <a:prstGeom prst="rect">
            <a:avLst/>
          </a:prstGeom>
          <a:noFill/>
          <a:ln/>
        </p:spPr>
        <p:txBody>
          <a:bodyPr wrap="square" lIns="0" tIns="0" rIns="0" bIns="0" rtlCol="0" anchor="t"/>
          <a:lstStyle/>
          <a:p>
            <a:pPr indent="0" marL="0">
              <a:buNone/>
            </a:pPr>
            <a:r>
              <a:rPr lang="en-US" sz="1350" dirty="0">
                <a:solidFill>
                  <a:srgbClr val="2C2330"/>
                </a:solidFill>
                <a:latin typeface="Calibri" pitchFamily="34" charset="0"/>
                <a:ea typeface="Calibri" pitchFamily="34" charset="-122"/>
                <a:cs typeface="Calibri" pitchFamily="34" charset="-120"/>
              </a:rPr>
              <a:t>This is not aspirational. Peer institutions have moved completion at scale by connecting students to support, with rigorous evaluation behind the results.</a:t>
            </a:r>
            <a:endParaRPr lang="en-US" sz="13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8046720" cy="914400"/>
        </p:xfrm>
        <a:graphic>
          <a:graphicData uri="http://schemas.openxmlformats.org/drawingml/2006/table">
            <a:tbl>
              <a:tblPr/>
              <a:tblGrid>
                <a:gridCol w="1828800"/>
                <a:gridCol w="2743200"/>
                <a:gridCol w="3474720"/>
              </a:tblGrid>
              <a:tr h="38404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Institution</a:t>
                      </a:r>
                      <a:endParaRPr lang="en-US" sz="1200" dirty="0">
                        <a:latin typeface="Calibri" charset="0"/>
                        <a:ea typeface="Calibri" charset="0"/>
                        <a:cs typeface="Calibri" charset="0"/>
                      </a:endParaRPr>
                    </a:p>
                  </a:txBody>
                  <a:tcPr marL="76200" marR="76200" marT="25400" marB="25400" anchor="ctr">
                    <a:lnL w="6350" cap="flat" cmpd="sng" algn="ctr">
                      <a:solidFill>
                        <a:srgbClr val="DAD0C6"/>
                      </a:solidFill>
                      <a:prstDash val="solid"/>
                      <a:round/>
                      <a:headEnd type="none" w="med" len="med"/>
                      <a:tailEnd type="none" w="med" len="med"/>
                    </a:lnL>
                    <a:lnR w="6350" cap="flat" cmpd="sng" algn="ctr">
                      <a:solidFill>
                        <a:srgbClr val="DAD0C6"/>
                      </a:solidFill>
                      <a:prstDash val="solid"/>
                      <a:round/>
                      <a:headEnd type="none" w="med" len="med"/>
                      <a:tailEnd type="none" w="med" len="med"/>
                    </a:lnR>
                    <a:lnT w="6350" cap="flat" cmpd="sng" algn="ctr">
                      <a:solidFill>
                        <a:srgbClr val="DAD0C6"/>
                      </a:solidFill>
                      <a:prstDash val="solid"/>
                      <a:round/>
                      <a:headEnd type="none" w="med" len="med"/>
                      <a:tailEnd type="none" w="med" len="med"/>
                    </a:lnT>
                    <a:lnB w="6350" cap="flat" cmpd="sng" algn="ctr">
                      <a:solidFill>
                        <a:srgbClr val="DAD0C6"/>
                      </a:solidFill>
                      <a:prstDash val="solid"/>
                      <a:round/>
                      <a:headEnd type="none" w="med" len="med"/>
                      <a:tailEnd type="none" w="med" len="med"/>
                    </a:lnB>
                    <a:solidFill>
                      <a:srgbClr val="4E2F55"/>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Intervention</a:t>
                      </a:r>
                      <a:endParaRPr lang="en-US" sz="1200" dirty="0">
                        <a:latin typeface="Calibri" charset="0"/>
                        <a:ea typeface="Calibri" charset="0"/>
                        <a:cs typeface="Calibri" charset="0"/>
                      </a:endParaRPr>
                    </a:p>
                  </a:txBody>
                  <a:tcPr marL="76200" marR="76200" marT="25400" marB="25400" anchor="ctr">
                    <a:lnL w="6350" cap="flat" cmpd="sng" algn="ctr">
                      <a:solidFill>
                        <a:srgbClr val="DAD0C6"/>
                      </a:solidFill>
                      <a:prstDash val="solid"/>
                      <a:round/>
                      <a:headEnd type="none" w="med" len="med"/>
                      <a:tailEnd type="none" w="med" len="med"/>
                    </a:lnL>
                    <a:lnR w="6350" cap="flat" cmpd="sng" algn="ctr">
                      <a:solidFill>
                        <a:srgbClr val="DAD0C6"/>
                      </a:solidFill>
                      <a:prstDash val="solid"/>
                      <a:round/>
                      <a:headEnd type="none" w="med" len="med"/>
                      <a:tailEnd type="none" w="med" len="med"/>
                    </a:lnR>
                    <a:lnT w="6350" cap="flat" cmpd="sng" algn="ctr">
                      <a:solidFill>
                        <a:srgbClr val="DAD0C6"/>
                      </a:solidFill>
                      <a:prstDash val="solid"/>
                      <a:round/>
                      <a:headEnd type="none" w="med" len="med"/>
                      <a:tailEnd type="none" w="med" len="med"/>
                    </a:lnT>
                    <a:lnB w="6350" cap="flat" cmpd="sng" algn="ctr">
                      <a:solidFill>
                        <a:srgbClr val="DAD0C6"/>
                      </a:solidFill>
                      <a:prstDash val="solid"/>
                      <a:round/>
                      <a:headEnd type="none" w="med" len="med"/>
                      <a:tailEnd type="none" w="med" len="med"/>
                    </a:lnB>
                    <a:solidFill>
                      <a:srgbClr val="4E2F55"/>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Documented outcome</a:t>
                      </a:r>
                      <a:endParaRPr lang="en-US" sz="1200" dirty="0">
                        <a:latin typeface="Calibri" charset="0"/>
                        <a:ea typeface="Calibri" charset="0"/>
                        <a:cs typeface="Calibri" charset="0"/>
                      </a:endParaRPr>
                    </a:p>
                  </a:txBody>
                  <a:tcPr marL="76200" marR="76200" marT="25400" marB="25400" anchor="ctr">
                    <a:lnL w="6350" cap="flat" cmpd="sng" algn="ctr">
                      <a:solidFill>
                        <a:srgbClr val="DAD0C6"/>
                      </a:solidFill>
                      <a:prstDash val="solid"/>
                      <a:round/>
                      <a:headEnd type="none" w="med" len="med"/>
                      <a:tailEnd type="none" w="med" len="med"/>
                    </a:lnL>
                    <a:lnR w="6350" cap="flat" cmpd="sng" algn="ctr">
                      <a:solidFill>
                        <a:srgbClr val="DAD0C6"/>
                      </a:solidFill>
                      <a:prstDash val="solid"/>
                      <a:round/>
                      <a:headEnd type="none" w="med" len="med"/>
                      <a:tailEnd type="none" w="med" len="med"/>
                    </a:lnR>
                    <a:lnT w="6350" cap="flat" cmpd="sng" algn="ctr">
                      <a:solidFill>
                        <a:srgbClr val="DAD0C6"/>
                      </a:solidFill>
                      <a:prstDash val="solid"/>
                      <a:round/>
                      <a:headEnd type="none" w="med" len="med"/>
                      <a:tailEnd type="none" w="med" len="med"/>
                    </a:lnT>
                    <a:lnB w="6350" cap="flat" cmpd="sng" algn="ctr">
                      <a:solidFill>
                        <a:srgbClr val="DAD0C6"/>
                      </a:solidFill>
                      <a:prstDash val="solid"/>
                      <a:round/>
                      <a:headEnd type="none" w="med" len="med"/>
                      <a:tailEnd type="none" w="med" len="med"/>
                    </a:lnB>
                    <a:solidFill>
                      <a:srgbClr val="4E2F55"/>
                    </a:solidFill>
                  </a:tcPr>
                </a:tc>
              </a:tr>
              <a:tr h="457200">
                <a:tc>
                  <a:txBody>
                    <a:bodyPr/>
                    <a:lstStyle/>
                    <a:p>
                      <a:pPr algn="l" indent="0" marL="0">
                        <a:buNone/>
                      </a:pPr>
                      <a:r>
                        <a:rPr lang="en-US" sz="1150" b="1" dirty="0">
                          <a:solidFill>
                            <a:srgbClr val="2C2330"/>
                          </a:solidFill>
                          <a:latin typeface="Calibri" pitchFamily="34" charset="0"/>
                          <a:ea typeface="Calibri" pitchFamily="34" charset="-122"/>
                          <a:cs typeface="Calibri" pitchFamily="34" charset="-120"/>
                        </a:rPr>
                        <a:t>Georgia State</a:t>
                      </a:r>
                      <a:endParaRPr lang="en-US" sz="1150" dirty="0">
                        <a:latin typeface="Calibri" charset="0"/>
                        <a:ea typeface="Calibri" charset="0"/>
                        <a:cs typeface="Calibri" charset="0"/>
                      </a:endParaRPr>
                    </a:p>
                  </a:txBody>
                  <a:tcPr marL="76200" marR="76200" marT="25400" marB="25400" anchor="ctr">
                    <a:lnL w="6350" cap="flat" cmpd="sng" algn="ctr">
                      <a:solidFill>
                        <a:srgbClr val="DAD0C6"/>
                      </a:solidFill>
                      <a:prstDash val="solid"/>
                      <a:round/>
                      <a:headEnd type="none" w="med" len="med"/>
                      <a:tailEnd type="none" w="med" len="med"/>
                    </a:lnL>
                    <a:lnR w="6350" cap="flat" cmpd="sng" algn="ctr">
                      <a:solidFill>
                        <a:srgbClr val="DAD0C6"/>
                      </a:solidFill>
                      <a:prstDash val="solid"/>
                      <a:round/>
                      <a:headEnd type="none" w="med" len="med"/>
                      <a:tailEnd type="none" w="med" len="med"/>
                    </a:lnR>
                    <a:lnT w="6350" cap="flat" cmpd="sng" algn="ctr">
                      <a:solidFill>
                        <a:srgbClr val="DAD0C6"/>
                      </a:solidFill>
                      <a:prstDash val="solid"/>
                      <a:round/>
                      <a:headEnd type="none" w="med" len="med"/>
                      <a:tailEnd type="none" w="med" len="med"/>
                    </a:lnT>
                    <a:lnB w="6350" cap="flat" cmpd="sng" algn="ctr">
                      <a:solidFill>
                        <a:srgbClr val="DAD0C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C2330"/>
                          </a:solidFill>
                          <a:latin typeface="Calibri" pitchFamily="34" charset="0"/>
                          <a:ea typeface="Calibri" pitchFamily="34" charset="-122"/>
                          <a:cs typeface="Calibri" pitchFamily="34" charset="-120"/>
                        </a:rPr>
                        <a:t>AI-assisted proactive outreach</a:t>
                      </a:r>
                      <a:endParaRPr lang="en-US" sz="1150" dirty="0">
                        <a:latin typeface="Calibri" charset="0"/>
                        <a:ea typeface="Calibri" charset="0"/>
                        <a:cs typeface="Calibri" charset="0"/>
                      </a:endParaRPr>
                    </a:p>
                  </a:txBody>
                  <a:tcPr marL="76200" marR="76200" marT="25400" marB="25400" anchor="ctr">
                    <a:lnL w="6350" cap="flat" cmpd="sng" algn="ctr">
                      <a:solidFill>
                        <a:srgbClr val="DAD0C6"/>
                      </a:solidFill>
                      <a:prstDash val="solid"/>
                      <a:round/>
                      <a:headEnd type="none" w="med" len="med"/>
                      <a:tailEnd type="none" w="med" len="med"/>
                    </a:lnL>
                    <a:lnR w="6350" cap="flat" cmpd="sng" algn="ctr">
                      <a:solidFill>
                        <a:srgbClr val="DAD0C6"/>
                      </a:solidFill>
                      <a:prstDash val="solid"/>
                      <a:round/>
                      <a:headEnd type="none" w="med" len="med"/>
                      <a:tailEnd type="none" w="med" len="med"/>
                    </a:lnR>
                    <a:lnT w="6350" cap="flat" cmpd="sng" algn="ctr">
                      <a:solidFill>
                        <a:srgbClr val="DAD0C6"/>
                      </a:solidFill>
                      <a:prstDash val="solid"/>
                      <a:round/>
                      <a:headEnd type="none" w="med" len="med"/>
                      <a:tailEnd type="none" w="med" len="med"/>
                    </a:lnT>
                    <a:lnB w="6350" cap="flat" cmpd="sng" algn="ctr">
                      <a:solidFill>
                        <a:srgbClr val="DAD0C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C2330"/>
                          </a:solidFill>
                          <a:latin typeface="Calibri" pitchFamily="34" charset="0"/>
                          <a:ea typeface="Calibri" pitchFamily="34" charset="-122"/>
                          <a:cs typeface="Calibri" pitchFamily="34" charset="-120"/>
                        </a:rPr>
                        <a:t>Persistence +3% (~1,300 students); summer melt −22%</a:t>
                      </a:r>
                      <a:endParaRPr lang="en-US" sz="1150" dirty="0">
                        <a:latin typeface="Calibri" charset="0"/>
                        <a:ea typeface="Calibri" charset="0"/>
                        <a:cs typeface="Calibri" charset="0"/>
                      </a:endParaRPr>
                    </a:p>
                  </a:txBody>
                  <a:tcPr marL="76200" marR="76200" marT="25400" marB="25400" anchor="ctr">
                    <a:lnL w="6350" cap="flat" cmpd="sng" algn="ctr">
                      <a:solidFill>
                        <a:srgbClr val="DAD0C6"/>
                      </a:solidFill>
                      <a:prstDash val="solid"/>
                      <a:round/>
                      <a:headEnd type="none" w="med" len="med"/>
                      <a:tailEnd type="none" w="med" len="med"/>
                    </a:lnL>
                    <a:lnR w="6350" cap="flat" cmpd="sng" algn="ctr">
                      <a:solidFill>
                        <a:srgbClr val="DAD0C6"/>
                      </a:solidFill>
                      <a:prstDash val="solid"/>
                      <a:round/>
                      <a:headEnd type="none" w="med" len="med"/>
                      <a:tailEnd type="none" w="med" len="med"/>
                    </a:lnR>
                    <a:lnT w="6350" cap="flat" cmpd="sng" algn="ctr">
                      <a:solidFill>
                        <a:srgbClr val="DAD0C6"/>
                      </a:solidFill>
                      <a:prstDash val="solid"/>
                      <a:round/>
                      <a:headEnd type="none" w="med" len="med"/>
                      <a:tailEnd type="none" w="med" len="med"/>
                    </a:lnT>
                    <a:lnB w="6350" cap="flat" cmpd="sng" algn="ctr">
                      <a:solidFill>
                        <a:srgbClr val="DAD0C6"/>
                      </a:solidFill>
                      <a:prstDash val="solid"/>
                      <a:round/>
                      <a:headEnd type="none" w="med" len="med"/>
                      <a:tailEnd type="none" w="med" len="med"/>
                    </a:lnB>
                    <a:solidFill>
                      <a:srgbClr val="FFFFFF"/>
                    </a:solidFill>
                  </a:tcPr>
                </a:tc>
              </a:tr>
              <a:tr h="457200">
                <a:tc>
                  <a:txBody>
                    <a:bodyPr/>
                    <a:lstStyle/>
                    <a:p>
                      <a:pPr algn="l" indent="0" marL="0">
                        <a:buNone/>
                      </a:pPr>
                      <a:r>
                        <a:rPr lang="en-US" sz="1150" b="1" dirty="0">
                          <a:solidFill>
                            <a:srgbClr val="2C2330"/>
                          </a:solidFill>
                          <a:latin typeface="Calibri" pitchFamily="34" charset="0"/>
                          <a:ea typeface="Calibri" pitchFamily="34" charset="-122"/>
                          <a:cs typeface="Calibri" pitchFamily="34" charset="-120"/>
                        </a:rPr>
                        <a:t>CUNY ASAP</a:t>
                      </a:r>
                      <a:endParaRPr lang="en-US" sz="1150" dirty="0">
                        <a:latin typeface="Calibri" charset="0"/>
                        <a:ea typeface="Calibri" charset="0"/>
                        <a:cs typeface="Calibri" charset="0"/>
                      </a:endParaRPr>
                    </a:p>
                  </a:txBody>
                  <a:tcPr marL="76200" marR="76200" marT="25400" marB="25400" anchor="ctr">
                    <a:lnL w="6350" cap="flat" cmpd="sng" algn="ctr">
                      <a:solidFill>
                        <a:srgbClr val="DAD0C6"/>
                      </a:solidFill>
                      <a:prstDash val="solid"/>
                      <a:round/>
                      <a:headEnd type="none" w="med" len="med"/>
                      <a:tailEnd type="none" w="med" len="med"/>
                    </a:lnL>
                    <a:lnR w="6350" cap="flat" cmpd="sng" algn="ctr">
                      <a:solidFill>
                        <a:srgbClr val="DAD0C6"/>
                      </a:solidFill>
                      <a:prstDash val="solid"/>
                      <a:round/>
                      <a:headEnd type="none" w="med" len="med"/>
                      <a:tailEnd type="none" w="med" len="med"/>
                    </a:lnR>
                    <a:lnT w="6350" cap="flat" cmpd="sng" algn="ctr">
                      <a:solidFill>
                        <a:srgbClr val="DAD0C6"/>
                      </a:solidFill>
                      <a:prstDash val="solid"/>
                      <a:round/>
                      <a:headEnd type="none" w="med" len="med"/>
                      <a:tailEnd type="none" w="med" len="med"/>
                    </a:lnT>
                    <a:lnB w="6350" cap="flat" cmpd="sng" algn="ctr">
                      <a:solidFill>
                        <a:srgbClr val="DAD0C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C2330"/>
                          </a:solidFill>
                          <a:latin typeface="Calibri" pitchFamily="34" charset="0"/>
                          <a:ea typeface="Calibri" pitchFamily="34" charset="-122"/>
                          <a:cs typeface="Calibri" pitchFamily="34" charset="-120"/>
                        </a:rPr>
                        <a:t>Coordinated wraparound support</a:t>
                      </a:r>
                      <a:endParaRPr lang="en-US" sz="1150" dirty="0">
                        <a:latin typeface="Calibri" charset="0"/>
                        <a:ea typeface="Calibri" charset="0"/>
                        <a:cs typeface="Calibri" charset="0"/>
                      </a:endParaRPr>
                    </a:p>
                  </a:txBody>
                  <a:tcPr marL="76200" marR="76200" marT="25400" marB="25400" anchor="ctr">
                    <a:lnL w="6350" cap="flat" cmpd="sng" algn="ctr">
                      <a:solidFill>
                        <a:srgbClr val="DAD0C6"/>
                      </a:solidFill>
                      <a:prstDash val="solid"/>
                      <a:round/>
                      <a:headEnd type="none" w="med" len="med"/>
                      <a:tailEnd type="none" w="med" len="med"/>
                    </a:lnL>
                    <a:lnR w="6350" cap="flat" cmpd="sng" algn="ctr">
                      <a:solidFill>
                        <a:srgbClr val="DAD0C6"/>
                      </a:solidFill>
                      <a:prstDash val="solid"/>
                      <a:round/>
                      <a:headEnd type="none" w="med" len="med"/>
                      <a:tailEnd type="none" w="med" len="med"/>
                    </a:lnR>
                    <a:lnT w="6350" cap="flat" cmpd="sng" algn="ctr">
                      <a:solidFill>
                        <a:srgbClr val="DAD0C6"/>
                      </a:solidFill>
                      <a:prstDash val="solid"/>
                      <a:round/>
                      <a:headEnd type="none" w="med" len="med"/>
                      <a:tailEnd type="none" w="med" len="med"/>
                    </a:lnT>
                    <a:lnB w="6350" cap="flat" cmpd="sng" algn="ctr">
                      <a:solidFill>
                        <a:srgbClr val="DAD0C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C2330"/>
                          </a:solidFill>
                          <a:latin typeface="Calibri" pitchFamily="34" charset="0"/>
                          <a:ea typeface="Calibri" pitchFamily="34" charset="-122"/>
                          <a:cs typeface="Calibri" pitchFamily="34" charset="-120"/>
                        </a:rPr>
                        <a:t>3-year graduation 53% vs 24.6%, more than double</a:t>
                      </a:r>
                      <a:endParaRPr lang="en-US" sz="1150" dirty="0">
                        <a:latin typeface="Calibri" charset="0"/>
                        <a:ea typeface="Calibri" charset="0"/>
                        <a:cs typeface="Calibri" charset="0"/>
                      </a:endParaRPr>
                    </a:p>
                  </a:txBody>
                  <a:tcPr marL="76200" marR="76200" marT="25400" marB="25400" anchor="ctr">
                    <a:lnL w="6350" cap="flat" cmpd="sng" algn="ctr">
                      <a:solidFill>
                        <a:srgbClr val="DAD0C6"/>
                      </a:solidFill>
                      <a:prstDash val="solid"/>
                      <a:round/>
                      <a:headEnd type="none" w="med" len="med"/>
                      <a:tailEnd type="none" w="med" len="med"/>
                    </a:lnL>
                    <a:lnR w="6350" cap="flat" cmpd="sng" algn="ctr">
                      <a:solidFill>
                        <a:srgbClr val="DAD0C6"/>
                      </a:solidFill>
                      <a:prstDash val="solid"/>
                      <a:round/>
                      <a:headEnd type="none" w="med" len="med"/>
                      <a:tailEnd type="none" w="med" len="med"/>
                    </a:lnR>
                    <a:lnT w="6350" cap="flat" cmpd="sng" algn="ctr">
                      <a:solidFill>
                        <a:srgbClr val="DAD0C6"/>
                      </a:solidFill>
                      <a:prstDash val="solid"/>
                      <a:round/>
                      <a:headEnd type="none" w="med" len="med"/>
                      <a:tailEnd type="none" w="med" len="med"/>
                    </a:lnT>
                    <a:lnB w="6350" cap="flat" cmpd="sng" algn="ctr">
                      <a:solidFill>
                        <a:srgbClr val="DAD0C6"/>
                      </a:solidFill>
                      <a:prstDash val="solid"/>
                      <a:round/>
                      <a:headEnd type="none" w="med" len="med"/>
                      <a:tailEnd type="none" w="med" len="med"/>
                    </a:lnB>
                    <a:solidFill>
                      <a:srgbClr val="FFFFFF"/>
                    </a:solidFill>
                  </a:tcPr>
                </a:tc>
              </a:tr>
              <a:tr h="457200">
                <a:tc>
                  <a:txBody>
                    <a:bodyPr/>
                    <a:lstStyle/>
                    <a:p>
                      <a:pPr algn="l" indent="0" marL="0">
                        <a:buNone/>
                      </a:pPr>
                      <a:r>
                        <a:rPr lang="en-US" sz="1150" b="1" dirty="0">
                          <a:solidFill>
                            <a:srgbClr val="2C2330"/>
                          </a:solidFill>
                          <a:latin typeface="Calibri" pitchFamily="34" charset="0"/>
                          <a:ea typeface="Calibri" pitchFamily="34" charset="-122"/>
                          <a:cs typeface="Calibri" pitchFamily="34" charset="-120"/>
                        </a:rPr>
                        <a:t>Valencia College</a:t>
                      </a:r>
                      <a:endParaRPr lang="en-US" sz="1150" dirty="0">
                        <a:latin typeface="Calibri" charset="0"/>
                        <a:ea typeface="Calibri" charset="0"/>
                        <a:cs typeface="Calibri" charset="0"/>
                      </a:endParaRPr>
                    </a:p>
                  </a:txBody>
                  <a:tcPr marL="76200" marR="76200" marT="25400" marB="25400" anchor="ctr">
                    <a:lnL w="6350" cap="flat" cmpd="sng" algn="ctr">
                      <a:solidFill>
                        <a:srgbClr val="DAD0C6"/>
                      </a:solidFill>
                      <a:prstDash val="solid"/>
                      <a:round/>
                      <a:headEnd type="none" w="med" len="med"/>
                      <a:tailEnd type="none" w="med" len="med"/>
                    </a:lnL>
                    <a:lnR w="6350" cap="flat" cmpd="sng" algn="ctr">
                      <a:solidFill>
                        <a:srgbClr val="DAD0C6"/>
                      </a:solidFill>
                      <a:prstDash val="solid"/>
                      <a:round/>
                      <a:headEnd type="none" w="med" len="med"/>
                      <a:tailEnd type="none" w="med" len="med"/>
                    </a:lnR>
                    <a:lnT w="6350" cap="flat" cmpd="sng" algn="ctr">
                      <a:solidFill>
                        <a:srgbClr val="DAD0C6"/>
                      </a:solidFill>
                      <a:prstDash val="solid"/>
                      <a:round/>
                      <a:headEnd type="none" w="med" len="med"/>
                      <a:tailEnd type="none" w="med" len="med"/>
                    </a:lnT>
                    <a:lnB w="6350" cap="flat" cmpd="sng" algn="ctr">
                      <a:solidFill>
                        <a:srgbClr val="DAD0C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C2330"/>
                          </a:solidFill>
                          <a:latin typeface="Calibri" pitchFamily="34" charset="0"/>
                          <a:ea typeface="Calibri" pitchFamily="34" charset="-122"/>
                          <a:cs typeface="Calibri" pitchFamily="34" charset="-120"/>
                        </a:rPr>
                        <a:t>Integrated developmental advising</a:t>
                      </a:r>
                      <a:endParaRPr lang="en-US" sz="1150" dirty="0">
                        <a:latin typeface="Calibri" charset="0"/>
                        <a:ea typeface="Calibri" charset="0"/>
                        <a:cs typeface="Calibri" charset="0"/>
                      </a:endParaRPr>
                    </a:p>
                  </a:txBody>
                  <a:tcPr marL="76200" marR="76200" marT="25400" marB="25400" anchor="ctr">
                    <a:lnL w="6350" cap="flat" cmpd="sng" algn="ctr">
                      <a:solidFill>
                        <a:srgbClr val="DAD0C6"/>
                      </a:solidFill>
                      <a:prstDash val="solid"/>
                      <a:round/>
                      <a:headEnd type="none" w="med" len="med"/>
                      <a:tailEnd type="none" w="med" len="med"/>
                    </a:lnL>
                    <a:lnR w="6350" cap="flat" cmpd="sng" algn="ctr">
                      <a:solidFill>
                        <a:srgbClr val="DAD0C6"/>
                      </a:solidFill>
                      <a:prstDash val="solid"/>
                      <a:round/>
                      <a:headEnd type="none" w="med" len="med"/>
                      <a:tailEnd type="none" w="med" len="med"/>
                    </a:lnR>
                    <a:lnT w="6350" cap="flat" cmpd="sng" algn="ctr">
                      <a:solidFill>
                        <a:srgbClr val="DAD0C6"/>
                      </a:solidFill>
                      <a:prstDash val="solid"/>
                      <a:round/>
                      <a:headEnd type="none" w="med" len="med"/>
                      <a:tailEnd type="none" w="med" len="med"/>
                    </a:lnT>
                    <a:lnB w="6350" cap="flat" cmpd="sng" algn="ctr">
                      <a:solidFill>
                        <a:srgbClr val="DAD0C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C2330"/>
                          </a:solidFill>
                          <a:latin typeface="Calibri" pitchFamily="34" charset="0"/>
                          <a:ea typeface="Calibri" pitchFamily="34" charset="-122"/>
                          <a:cs typeface="Calibri" pitchFamily="34" charset="-120"/>
                        </a:rPr>
                        <a:t>Plan-to-enrollment alignment 43% → 60%</a:t>
                      </a:r>
                      <a:endParaRPr lang="en-US" sz="1150" dirty="0">
                        <a:latin typeface="Calibri" charset="0"/>
                        <a:ea typeface="Calibri" charset="0"/>
                        <a:cs typeface="Calibri" charset="0"/>
                      </a:endParaRPr>
                    </a:p>
                  </a:txBody>
                  <a:tcPr marL="76200" marR="76200" marT="25400" marB="25400" anchor="ctr">
                    <a:lnL w="6350" cap="flat" cmpd="sng" algn="ctr">
                      <a:solidFill>
                        <a:srgbClr val="DAD0C6"/>
                      </a:solidFill>
                      <a:prstDash val="solid"/>
                      <a:round/>
                      <a:headEnd type="none" w="med" len="med"/>
                      <a:tailEnd type="none" w="med" len="med"/>
                    </a:lnL>
                    <a:lnR w="6350" cap="flat" cmpd="sng" algn="ctr">
                      <a:solidFill>
                        <a:srgbClr val="DAD0C6"/>
                      </a:solidFill>
                      <a:prstDash val="solid"/>
                      <a:round/>
                      <a:headEnd type="none" w="med" len="med"/>
                      <a:tailEnd type="none" w="med" len="med"/>
                    </a:lnR>
                    <a:lnT w="6350" cap="flat" cmpd="sng" algn="ctr">
                      <a:solidFill>
                        <a:srgbClr val="DAD0C6"/>
                      </a:solidFill>
                      <a:prstDash val="solid"/>
                      <a:round/>
                      <a:headEnd type="none" w="med" len="med"/>
                      <a:tailEnd type="none" w="med" len="med"/>
                    </a:lnT>
                    <a:lnB w="6350" cap="flat" cmpd="sng" algn="ctr">
                      <a:solidFill>
                        <a:srgbClr val="DAD0C6"/>
                      </a:solidFill>
                      <a:prstDash val="solid"/>
                      <a:round/>
                      <a:headEnd type="none" w="med" len="med"/>
                      <a:tailEnd type="none" w="med" len="med"/>
                    </a:lnB>
                    <a:solidFill>
                      <a:srgbClr val="FFFFFF"/>
                    </a:solidFill>
                  </a:tcPr>
                </a:tc>
              </a:tr>
              <a:tr h="457200">
                <a:tc>
                  <a:txBody>
                    <a:bodyPr/>
                    <a:lstStyle/>
                    <a:p>
                      <a:pPr algn="l" indent="0" marL="0">
                        <a:buNone/>
                      </a:pPr>
                      <a:r>
                        <a:rPr lang="en-US" sz="1150" b="1" dirty="0">
                          <a:solidFill>
                            <a:srgbClr val="2C2330"/>
                          </a:solidFill>
                          <a:latin typeface="Calibri" pitchFamily="34" charset="0"/>
                          <a:ea typeface="Calibri" pitchFamily="34" charset="-122"/>
                          <a:cs typeface="Calibri" pitchFamily="34" charset="-120"/>
                        </a:rPr>
                        <a:t>Our campus</a:t>
                      </a:r>
                      <a:endParaRPr lang="en-US" sz="1150" dirty="0">
                        <a:latin typeface="Calibri" charset="0"/>
                        <a:ea typeface="Calibri" charset="0"/>
                        <a:cs typeface="Calibri" charset="0"/>
                      </a:endParaRPr>
                    </a:p>
                  </a:txBody>
                  <a:tcPr marL="76200" marR="76200" marT="25400" marB="25400" anchor="ctr">
                    <a:lnL w="6350" cap="flat" cmpd="sng" algn="ctr">
                      <a:solidFill>
                        <a:srgbClr val="DAD0C6"/>
                      </a:solidFill>
                      <a:prstDash val="solid"/>
                      <a:round/>
                      <a:headEnd type="none" w="med" len="med"/>
                      <a:tailEnd type="none" w="med" len="med"/>
                    </a:lnL>
                    <a:lnR w="6350" cap="flat" cmpd="sng" algn="ctr">
                      <a:solidFill>
                        <a:srgbClr val="DAD0C6"/>
                      </a:solidFill>
                      <a:prstDash val="solid"/>
                      <a:round/>
                      <a:headEnd type="none" w="med" len="med"/>
                      <a:tailEnd type="none" w="med" len="med"/>
                    </a:lnR>
                    <a:lnT w="6350" cap="flat" cmpd="sng" algn="ctr">
                      <a:solidFill>
                        <a:srgbClr val="DAD0C6"/>
                      </a:solidFill>
                      <a:prstDash val="solid"/>
                      <a:round/>
                      <a:headEnd type="none" w="med" len="med"/>
                      <a:tailEnd type="none" w="med" len="med"/>
                    </a:lnT>
                    <a:lnB w="6350" cap="flat" cmpd="sng" algn="ctr">
                      <a:solidFill>
                        <a:srgbClr val="DAD0C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C2330"/>
                          </a:solidFill>
                          <a:latin typeface="Calibri" pitchFamily="34" charset="0"/>
                          <a:ea typeface="Calibri" pitchFamily="34" charset="-122"/>
                          <a:cs typeface="Calibri" pitchFamily="34" charset="-120"/>
                        </a:rPr>
                        <a:t>Peer Success Coaches</a:t>
                      </a:r>
                      <a:endParaRPr lang="en-US" sz="1150" dirty="0">
                        <a:latin typeface="Calibri" charset="0"/>
                        <a:ea typeface="Calibri" charset="0"/>
                        <a:cs typeface="Calibri" charset="0"/>
                      </a:endParaRPr>
                    </a:p>
                  </a:txBody>
                  <a:tcPr marL="76200" marR="76200" marT="25400" marB="25400" anchor="ctr">
                    <a:lnL w="6350" cap="flat" cmpd="sng" algn="ctr">
                      <a:solidFill>
                        <a:srgbClr val="DAD0C6"/>
                      </a:solidFill>
                      <a:prstDash val="solid"/>
                      <a:round/>
                      <a:headEnd type="none" w="med" len="med"/>
                      <a:tailEnd type="none" w="med" len="med"/>
                    </a:lnL>
                    <a:lnR w="6350" cap="flat" cmpd="sng" algn="ctr">
                      <a:solidFill>
                        <a:srgbClr val="DAD0C6"/>
                      </a:solidFill>
                      <a:prstDash val="solid"/>
                      <a:round/>
                      <a:headEnd type="none" w="med" len="med"/>
                      <a:tailEnd type="none" w="med" len="med"/>
                    </a:lnR>
                    <a:lnT w="6350" cap="flat" cmpd="sng" algn="ctr">
                      <a:solidFill>
                        <a:srgbClr val="DAD0C6"/>
                      </a:solidFill>
                      <a:prstDash val="solid"/>
                      <a:round/>
                      <a:headEnd type="none" w="med" len="med"/>
                      <a:tailEnd type="none" w="med" len="med"/>
                    </a:lnT>
                    <a:lnB w="6350" cap="flat" cmpd="sng" algn="ctr">
                      <a:solidFill>
                        <a:srgbClr val="DAD0C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C2330"/>
                          </a:solidFill>
                          <a:latin typeface="Calibri" pitchFamily="34" charset="0"/>
                          <a:ea typeface="Calibri" pitchFamily="34" charset="-122"/>
                          <a:cs typeface="Calibri" pitchFamily="34" charset="-120"/>
                        </a:rPr>
                        <a:t>Higher retention for coached students (our own data)</a:t>
                      </a:r>
                      <a:endParaRPr lang="en-US" sz="1150" dirty="0">
                        <a:latin typeface="Calibri" charset="0"/>
                        <a:ea typeface="Calibri" charset="0"/>
                        <a:cs typeface="Calibri" charset="0"/>
                      </a:endParaRPr>
                    </a:p>
                  </a:txBody>
                  <a:tcPr marL="76200" marR="76200" marT="25400" marB="25400" anchor="ctr">
                    <a:lnL w="6350" cap="flat" cmpd="sng" algn="ctr">
                      <a:solidFill>
                        <a:srgbClr val="DAD0C6"/>
                      </a:solidFill>
                      <a:prstDash val="solid"/>
                      <a:round/>
                      <a:headEnd type="none" w="med" len="med"/>
                      <a:tailEnd type="none" w="med" len="med"/>
                    </a:lnL>
                    <a:lnR w="6350" cap="flat" cmpd="sng" algn="ctr">
                      <a:solidFill>
                        <a:srgbClr val="DAD0C6"/>
                      </a:solidFill>
                      <a:prstDash val="solid"/>
                      <a:round/>
                      <a:headEnd type="none" w="med" len="med"/>
                      <a:tailEnd type="none" w="med" len="med"/>
                    </a:lnR>
                    <a:lnT w="6350" cap="flat" cmpd="sng" algn="ctr">
                      <a:solidFill>
                        <a:srgbClr val="DAD0C6"/>
                      </a:solidFill>
                      <a:prstDash val="solid"/>
                      <a:round/>
                      <a:headEnd type="none" w="med" len="med"/>
                      <a:tailEnd type="none" w="med" len="med"/>
                    </a:lnT>
                    <a:lnB w="6350" cap="flat" cmpd="sng" algn="ctr">
                      <a:solidFill>
                        <a:srgbClr val="DAD0C6"/>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4526280"/>
            <a:ext cx="8046720" cy="201168"/>
          </a:xfrm>
          <a:prstGeom prst="rect">
            <a:avLst/>
          </a:prstGeom>
          <a:noFill/>
          <a:ln/>
        </p:spPr>
        <p:txBody>
          <a:bodyPr wrap="square" lIns="0" tIns="0" rIns="0" bIns="0" rtlCol="0" anchor="ctr"/>
          <a:lstStyle/>
          <a:p>
            <a:pPr indent="0" marL="0">
              <a:buNone/>
            </a:pPr>
            <a:r>
              <a:rPr lang="en-US" sz="850" i="1" dirty="0">
                <a:solidFill>
                  <a:srgbClr val="8A7E7A"/>
                </a:solidFill>
                <a:latin typeface="Calibri" pitchFamily="34" charset="0"/>
                <a:ea typeface="Calibri" pitchFamily="34" charset="-122"/>
                <a:cs typeface="Calibri" pitchFamily="34" charset="-120"/>
              </a:rPr>
              <a:t>Georgia State / Mainstay · CUNY / MDRC · EDUCAUSE · League for Innovation, 2024</a:t>
            </a:r>
            <a:endParaRPr lang="en-US" sz="850" dirty="0"/>
          </a:p>
        </p:txBody>
      </p:sp>
      <p:sp>
        <p:nvSpPr>
          <p:cNvPr id="7" name="Shape 4"/>
          <p:cNvSpPr/>
          <p:nvPr/>
        </p:nvSpPr>
        <p:spPr>
          <a:xfrm>
            <a:off x="548640" y="4736592"/>
            <a:ext cx="8046720" cy="0"/>
          </a:xfrm>
          <a:prstGeom prst="line">
            <a:avLst/>
          </a:prstGeom>
          <a:noFill/>
          <a:ln w="9525">
            <a:solidFill>
              <a:srgbClr val="C9BDB2"/>
            </a:solidFill>
            <a:prstDash val="solid"/>
          </a:ln>
        </p:spPr>
      </p:sp>
      <p:sp>
        <p:nvSpPr>
          <p:cNvPr id="8" name="Text 5"/>
          <p:cNvSpPr/>
          <p:nvPr/>
        </p:nvSpPr>
        <p:spPr>
          <a:xfrm>
            <a:off x="548640" y="4791456"/>
            <a:ext cx="6858000" cy="228600"/>
          </a:xfrm>
          <a:prstGeom prst="rect">
            <a:avLst/>
          </a:prstGeom>
          <a:noFill/>
          <a:ln/>
        </p:spPr>
        <p:txBody>
          <a:bodyPr wrap="square" lIns="0" tIns="0" rIns="0" bIns="0" rtlCol="0" anchor="ctr"/>
          <a:lstStyle/>
          <a:p>
            <a:pPr indent="0" marL="0">
              <a:buNone/>
            </a:pPr>
            <a:r>
              <a:rPr lang="en-US" sz="850" spc="100" kern="0" dirty="0">
                <a:solidFill>
                  <a:srgbClr val="8A7E7A"/>
                </a:solidFill>
                <a:latin typeface="Calibri" pitchFamily="34" charset="0"/>
                <a:ea typeface="Calibri" pitchFamily="34" charset="-122"/>
                <a:cs typeface="Calibri" pitchFamily="34" charset="-120"/>
              </a:rPr>
              <a:t>Student Persistence · An Evidence Brief</a:t>
            </a:r>
            <a:endParaRPr lang="en-US" sz="850" dirty="0"/>
          </a:p>
        </p:txBody>
      </p:sp>
      <p:sp>
        <p:nvSpPr>
          <p:cNvPr id="9" name="Text 6"/>
          <p:cNvSpPr/>
          <p:nvPr/>
        </p:nvSpPr>
        <p:spPr>
          <a:xfrm>
            <a:off x="8229600" y="4791456"/>
            <a:ext cx="365760" cy="228600"/>
          </a:xfrm>
          <a:prstGeom prst="rect">
            <a:avLst/>
          </a:prstGeom>
          <a:noFill/>
          <a:ln/>
        </p:spPr>
        <p:txBody>
          <a:bodyPr wrap="square" lIns="0" tIns="0" rIns="0" bIns="0" rtlCol="0" anchor="ctr"/>
          <a:lstStyle/>
          <a:p>
            <a:pPr algn="r" indent="0" marL="0">
              <a:buNone/>
            </a:pPr>
            <a:r>
              <a:rPr lang="en-US" sz="850" dirty="0">
                <a:solidFill>
                  <a:srgbClr val="8A7E7A"/>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548640" y="411480"/>
            <a:ext cx="8046720" cy="256032"/>
          </a:xfrm>
          <a:prstGeom prst="rect">
            <a:avLst/>
          </a:prstGeom>
          <a:noFill/>
          <a:ln/>
        </p:spPr>
        <p:txBody>
          <a:bodyPr wrap="square" lIns="0" tIns="0" rIns="0" bIns="0" rtlCol="0" anchor="ctr"/>
          <a:lstStyle/>
          <a:p>
            <a:pPr indent="0" marL="0">
              <a:buNone/>
            </a:pPr>
            <a:r>
              <a:rPr lang="en-US" sz="1100" b="1" spc="250" kern="0" dirty="0">
                <a:solidFill>
                  <a:srgbClr val="B8956A"/>
                </a:solidFill>
                <a:latin typeface="Calibri" pitchFamily="34" charset="0"/>
                <a:ea typeface="Calibri" pitchFamily="34" charset="-122"/>
                <a:cs typeface="Calibri" pitchFamily="34" charset="-120"/>
              </a:rPr>
              <a:t>A POLICY LEVER WITHIN OUR CONTROL</a:t>
            </a:r>
            <a:endParaRPr lang="en-US" sz="1100" dirty="0"/>
          </a:p>
        </p:txBody>
      </p:sp>
      <p:sp>
        <p:nvSpPr>
          <p:cNvPr id="3" name="Text 1"/>
          <p:cNvSpPr/>
          <p:nvPr/>
        </p:nvSpPr>
        <p:spPr>
          <a:xfrm>
            <a:off x="548640" y="676656"/>
            <a:ext cx="8046720" cy="777240"/>
          </a:xfrm>
          <a:prstGeom prst="rect">
            <a:avLst/>
          </a:prstGeom>
          <a:noFill/>
          <a:ln/>
        </p:spPr>
        <p:txBody>
          <a:bodyPr wrap="square" lIns="0" tIns="0" rIns="0" bIns="0" rtlCol="0" anchor="ctr"/>
          <a:lstStyle/>
          <a:p>
            <a:pPr algn="l" indent="0" marL="0">
              <a:buNone/>
            </a:pPr>
            <a:r>
              <a:rPr lang="en-US" sz="3000" b="1" dirty="0">
                <a:solidFill>
                  <a:srgbClr val="2C2330"/>
                </a:solidFill>
                <a:latin typeface="Georgia" pitchFamily="34" charset="0"/>
                <a:ea typeface="Georgia" pitchFamily="34" charset="-122"/>
                <a:cs typeface="Georgia" pitchFamily="34" charset="-120"/>
              </a:rPr>
              <a:t>Punitive attrition undermines the completion we seek</a:t>
            </a:r>
            <a:endParaRPr lang="en-US" sz="3000" dirty="0"/>
          </a:p>
        </p:txBody>
      </p:sp>
      <p:sp>
        <p:nvSpPr>
          <p:cNvPr id="4" name="Text 2"/>
          <p:cNvSpPr/>
          <p:nvPr/>
        </p:nvSpPr>
        <p:spPr>
          <a:xfrm>
            <a:off x="548640" y="1554480"/>
            <a:ext cx="8046720" cy="1280160"/>
          </a:xfrm>
          <a:prstGeom prst="rect">
            <a:avLst/>
          </a:prstGeom>
          <a:noFill/>
          <a:ln/>
        </p:spPr>
        <p:txBody>
          <a:bodyPr wrap="square" lIns="0" tIns="0" rIns="0" bIns="0" rtlCol="0" anchor="t"/>
          <a:lstStyle/>
          <a:p>
            <a:pPr indent="0" marL="0">
              <a:buNone/>
            </a:pPr>
            <a:r>
              <a:rPr lang="en-US" sz="1450" dirty="0">
                <a:solidFill>
                  <a:srgbClr val="2C2330"/>
                </a:solidFill>
                <a:latin typeface="Calibri" pitchFamily="34" charset="0"/>
                <a:ea typeface="Calibri" pitchFamily="34" charset="-122"/>
                <a:cs typeface="Calibri" pitchFamily="34" charset="-120"/>
              </a:rPr>
              <a:t>Administrative drops for early absence remove students at their most vulnerable moment and frequently manufacture the non-completion we are trying to prevent. An early absence is a leading indicator of a student in difficulty, working a double shift, managing a family crisis, not a measure of their commitment. The evidence is unambiguous: outreach and flexible pathways retain; removal does not.</a:t>
            </a:r>
            <a:endParaRPr lang="en-US" sz="1450" dirty="0"/>
          </a:p>
        </p:txBody>
      </p:sp>
      <p:sp>
        <p:nvSpPr>
          <p:cNvPr id="5" name="Shape 3"/>
          <p:cNvSpPr/>
          <p:nvPr/>
        </p:nvSpPr>
        <p:spPr>
          <a:xfrm>
            <a:off x="548640" y="2971800"/>
            <a:ext cx="3931920" cy="1417320"/>
          </a:xfrm>
          <a:prstGeom prst="rect">
            <a:avLst/>
          </a:prstGeom>
          <a:solidFill>
            <a:srgbClr val="F3EEE7"/>
          </a:solidFill>
          <a:ln/>
        </p:spPr>
      </p:sp>
      <p:sp>
        <p:nvSpPr>
          <p:cNvPr id="6" name="Shape 4"/>
          <p:cNvSpPr/>
          <p:nvPr/>
        </p:nvSpPr>
        <p:spPr>
          <a:xfrm>
            <a:off x="548640" y="2971800"/>
            <a:ext cx="64008" cy="1417320"/>
          </a:xfrm>
          <a:prstGeom prst="rect">
            <a:avLst/>
          </a:prstGeom>
          <a:solidFill>
            <a:srgbClr val="B07C8A"/>
          </a:solidFill>
          <a:ln/>
        </p:spPr>
      </p:sp>
      <p:sp>
        <p:nvSpPr>
          <p:cNvPr id="7" name="Text 5"/>
          <p:cNvSpPr/>
          <p:nvPr/>
        </p:nvSpPr>
        <p:spPr>
          <a:xfrm>
            <a:off x="749808" y="3108960"/>
            <a:ext cx="3566160" cy="320040"/>
          </a:xfrm>
          <a:prstGeom prst="rect">
            <a:avLst/>
          </a:prstGeom>
          <a:noFill/>
          <a:ln/>
        </p:spPr>
        <p:txBody>
          <a:bodyPr wrap="square" lIns="0" tIns="0" rIns="0" bIns="0" rtlCol="0" anchor="ctr"/>
          <a:lstStyle/>
          <a:p>
            <a:pPr indent="0" marL="0">
              <a:buNone/>
            </a:pPr>
            <a:r>
              <a:rPr lang="en-US" sz="1500" b="1" dirty="0">
                <a:solidFill>
                  <a:srgbClr val="B07C8A"/>
                </a:solidFill>
                <a:latin typeface="Georgia" pitchFamily="34" charset="0"/>
                <a:ea typeface="Georgia" pitchFamily="34" charset="-122"/>
                <a:cs typeface="Georgia" pitchFamily="34" charset="-120"/>
              </a:rPr>
              <a:t>Removal</a:t>
            </a:r>
            <a:endParaRPr lang="en-US" sz="1500" dirty="0"/>
          </a:p>
        </p:txBody>
      </p:sp>
      <p:sp>
        <p:nvSpPr>
          <p:cNvPr id="8" name="Text 6"/>
          <p:cNvSpPr/>
          <p:nvPr/>
        </p:nvSpPr>
        <p:spPr>
          <a:xfrm>
            <a:off x="749808" y="3474720"/>
            <a:ext cx="3566160" cy="868680"/>
          </a:xfrm>
          <a:prstGeom prst="rect">
            <a:avLst/>
          </a:prstGeom>
          <a:noFill/>
          <a:ln/>
        </p:spPr>
        <p:txBody>
          <a:bodyPr wrap="square" lIns="0" tIns="0" rIns="0" bIns="0" rtlCol="0" anchor="t"/>
          <a:lstStyle/>
          <a:p>
            <a:pPr indent="0" marL="0">
              <a:buNone/>
            </a:pPr>
            <a:r>
              <a:rPr lang="en-US" sz="1250" dirty="0">
                <a:solidFill>
                  <a:srgbClr val="2C2330"/>
                </a:solidFill>
                <a:latin typeface="Calibri" pitchFamily="34" charset="0"/>
                <a:ea typeface="Calibri" pitchFamily="34" charset="-122"/>
                <a:cs typeface="Calibri" pitchFamily="34" charset="-120"/>
              </a:rPr>
              <a:t>Ends the relationship at the point of greatest need and forecloses recovery. The student is gone before anyone has asked why.</a:t>
            </a:r>
            <a:endParaRPr lang="en-US" sz="1250" dirty="0"/>
          </a:p>
        </p:txBody>
      </p:sp>
      <p:sp>
        <p:nvSpPr>
          <p:cNvPr id="9" name="Shape 7"/>
          <p:cNvSpPr/>
          <p:nvPr/>
        </p:nvSpPr>
        <p:spPr>
          <a:xfrm>
            <a:off x="4663440" y="2971800"/>
            <a:ext cx="3931920" cy="1417320"/>
          </a:xfrm>
          <a:prstGeom prst="rect">
            <a:avLst/>
          </a:prstGeom>
          <a:solidFill>
            <a:srgbClr val="F3EEE7"/>
          </a:solidFill>
          <a:ln/>
        </p:spPr>
      </p:sp>
      <p:sp>
        <p:nvSpPr>
          <p:cNvPr id="10" name="Shape 8"/>
          <p:cNvSpPr/>
          <p:nvPr/>
        </p:nvSpPr>
        <p:spPr>
          <a:xfrm>
            <a:off x="4663440" y="2971800"/>
            <a:ext cx="64008" cy="1417320"/>
          </a:xfrm>
          <a:prstGeom prst="rect">
            <a:avLst/>
          </a:prstGeom>
          <a:solidFill>
            <a:srgbClr val="5F7E63"/>
          </a:solidFill>
          <a:ln/>
        </p:spPr>
      </p:sp>
      <p:sp>
        <p:nvSpPr>
          <p:cNvPr id="11" name="Text 9"/>
          <p:cNvSpPr/>
          <p:nvPr/>
        </p:nvSpPr>
        <p:spPr>
          <a:xfrm>
            <a:off x="4864608" y="3108960"/>
            <a:ext cx="3566160" cy="320040"/>
          </a:xfrm>
          <a:prstGeom prst="rect">
            <a:avLst/>
          </a:prstGeom>
          <a:noFill/>
          <a:ln/>
        </p:spPr>
        <p:txBody>
          <a:bodyPr wrap="square" lIns="0" tIns="0" rIns="0" bIns="0" rtlCol="0" anchor="ctr"/>
          <a:lstStyle/>
          <a:p>
            <a:pPr indent="0" marL="0">
              <a:buNone/>
            </a:pPr>
            <a:r>
              <a:rPr lang="en-US" sz="1500" b="1" dirty="0">
                <a:solidFill>
                  <a:srgbClr val="5F7E63"/>
                </a:solidFill>
                <a:latin typeface="Georgia" pitchFamily="34" charset="0"/>
                <a:ea typeface="Georgia" pitchFamily="34" charset="-122"/>
                <a:cs typeface="Georgia" pitchFamily="34" charset="-120"/>
              </a:rPr>
              <a:t>Reconnection</a:t>
            </a:r>
            <a:endParaRPr lang="en-US" sz="1500" dirty="0"/>
          </a:p>
        </p:txBody>
      </p:sp>
      <p:sp>
        <p:nvSpPr>
          <p:cNvPr id="12" name="Text 10"/>
          <p:cNvSpPr/>
          <p:nvPr/>
        </p:nvSpPr>
        <p:spPr>
          <a:xfrm>
            <a:off x="4864608" y="3474720"/>
            <a:ext cx="3566160" cy="868680"/>
          </a:xfrm>
          <a:prstGeom prst="rect">
            <a:avLst/>
          </a:prstGeom>
          <a:noFill/>
          <a:ln/>
        </p:spPr>
        <p:txBody>
          <a:bodyPr wrap="square" lIns="0" tIns="0" rIns="0" bIns="0" rtlCol="0" anchor="t"/>
          <a:lstStyle/>
          <a:p>
            <a:pPr indent="0" marL="0">
              <a:buNone/>
            </a:pPr>
            <a:r>
              <a:rPr lang="en-US" sz="1250" dirty="0">
                <a:solidFill>
                  <a:srgbClr val="2C2330"/>
                </a:solidFill>
                <a:latin typeface="Calibri" pitchFamily="34" charset="0"/>
                <a:ea typeface="Calibri" pitchFamily="34" charset="-122"/>
                <a:cs typeface="Calibri" pitchFamily="34" charset="-120"/>
              </a:rPr>
              <a:t>A brief outreach and an alternate pathway, a make-up, a flexible deadline, a referral, keep the student enrolled and the door open.</a:t>
            </a:r>
            <a:endParaRPr lang="en-US" sz="1250" dirty="0"/>
          </a:p>
        </p:txBody>
      </p:sp>
      <p:sp>
        <p:nvSpPr>
          <p:cNvPr id="13" name="Shape 11"/>
          <p:cNvSpPr/>
          <p:nvPr/>
        </p:nvSpPr>
        <p:spPr>
          <a:xfrm>
            <a:off x="548640" y="4736592"/>
            <a:ext cx="8046720" cy="0"/>
          </a:xfrm>
          <a:prstGeom prst="line">
            <a:avLst/>
          </a:prstGeom>
          <a:noFill/>
          <a:ln w="9525">
            <a:solidFill>
              <a:srgbClr val="C9BDB2"/>
            </a:solidFill>
            <a:prstDash val="solid"/>
          </a:ln>
        </p:spPr>
      </p:sp>
      <p:sp>
        <p:nvSpPr>
          <p:cNvPr id="14" name="Text 12"/>
          <p:cNvSpPr/>
          <p:nvPr/>
        </p:nvSpPr>
        <p:spPr>
          <a:xfrm>
            <a:off x="548640" y="4791456"/>
            <a:ext cx="6858000" cy="228600"/>
          </a:xfrm>
          <a:prstGeom prst="rect">
            <a:avLst/>
          </a:prstGeom>
          <a:noFill/>
          <a:ln/>
        </p:spPr>
        <p:txBody>
          <a:bodyPr wrap="square" lIns="0" tIns="0" rIns="0" bIns="0" rtlCol="0" anchor="ctr"/>
          <a:lstStyle/>
          <a:p>
            <a:pPr indent="0" marL="0">
              <a:buNone/>
            </a:pPr>
            <a:r>
              <a:rPr lang="en-US" sz="850" spc="100" kern="0" dirty="0">
                <a:solidFill>
                  <a:srgbClr val="8A7E7A"/>
                </a:solidFill>
                <a:latin typeface="Calibri" pitchFamily="34" charset="0"/>
                <a:ea typeface="Calibri" pitchFamily="34" charset="-122"/>
                <a:cs typeface="Calibri" pitchFamily="34" charset="-120"/>
              </a:rPr>
              <a:t>Student Persistence · An Evidence Brief</a:t>
            </a:r>
            <a:endParaRPr lang="en-US" sz="850" dirty="0"/>
          </a:p>
        </p:txBody>
      </p:sp>
      <p:sp>
        <p:nvSpPr>
          <p:cNvPr id="15" name="Text 13"/>
          <p:cNvSpPr/>
          <p:nvPr/>
        </p:nvSpPr>
        <p:spPr>
          <a:xfrm>
            <a:off x="8229600" y="4791456"/>
            <a:ext cx="365760" cy="228600"/>
          </a:xfrm>
          <a:prstGeom prst="rect">
            <a:avLst/>
          </a:prstGeom>
          <a:noFill/>
          <a:ln/>
        </p:spPr>
        <p:txBody>
          <a:bodyPr wrap="square" lIns="0" tIns="0" rIns="0" bIns="0" rtlCol="0" anchor="ctr"/>
          <a:lstStyle/>
          <a:p>
            <a:pPr algn="r" indent="0" marL="0">
              <a:buNone/>
            </a:pPr>
            <a:r>
              <a:rPr lang="en-US" sz="850" dirty="0">
                <a:solidFill>
                  <a:srgbClr val="8A7E7A"/>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548640" y="411480"/>
            <a:ext cx="8046720" cy="256032"/>
          </a:xfrm>
          <a:prstGeom prst="rect">
            <a:avLst/>
          </a:prstGeom>
          <a:noFill/>
          <a:ln/>
        </p:spPr>
        <p:txBody>
          <a:bodyPr wrap="square" lIns="0" tIns="0" rIns="0" bIns="0" rtlCol="0" anchor="ctr"/>
          <a:lstStyle/>
          <a:p>
            <a:pPr indent="0" marL="0">
              <a:buNone/>
            </a:pPr>
            <a:r>
              <a:rPr lang="en-US" sz="1100" b="1" spc="250" kern="0" dirty="0">
                <a:solidFill>
                  <a:srgbClr val="B8956A"/>
                </a:solidFill>
                <a:latin typeface="Calibri" pitchFamily="34" charset="0"/>
                <a:ea typeface="Calibri" pitchFamily="34" charset="-122"/>
                <a:cs typeface="Calibri" pitchFamily="34" charset="-120"/>
              </a:rPr>
              <a:t>THE FACULTY ROLE</a:t>
            </a:r>
            <a:endParaRPr lang="en-US" sz="1100" dirty="0"/>
          </a:p>
        </p:txBody>
      </p:sp>
      <p:sp>
        <p:nvSpPr>
          <p:cNvPr id="3" name="Text 1"/>
          <p:cNvSpPr/>
          <p:nvPr/>
        </p:nvSpPr>
        <p:spPr>
          <a:xfrm>
            <a:off x="548640" y="676656"/>
            <a:ext cx="8046720" cy="777240"/>
          </a:xfrm>
          <a:prstGeom prst="rect">
            <a:avLst/>
          </a:prstGeom>
          <a:noFill/>
          <a:ln/>
        </p:spPr>
        <p:txBody>
          <a:bodyPr wrap="square" lIns="0" tIns="0" rIns="0" bIns="0" rtlCol="0" anchor="ctr"/>
          <a:lstStyle/>
          <a:p>
            <a:pPr algn="l" indent="0" marL="0">
              <a:buNone/>
            </a:pPr>
            <a:r>
              <a:rPr lang="en-US" sz="3000" b="1" dirty="0">
                <a:solidFill>
                  <a:srgbClr val="2C2330"/>
                </a:solidFill>
                <a:latin typeface="Georgia" pitchFamily="34" charset="0"/>
                <a:ea typeface="Georgia" pitchFamily="34" charset="-122"/>
                <a:cs typeface="Georgia" pitchFamily="34" charset="-120"/>
              </a:rPr>
              <a:t>High-leverage, low-effort: what we ask of our faculty</a:t>
            </a:r>
            <a:endParaRPr lang="en-US" sz="3000" dirty="0"/>
          </a:p>
        </p:txBody>
      </p:sp>
      <p:sp>
        <p:nvSpPr>
          <p:cNvPr id="4" name="Text 2"/>
          <p:cNvSpPr/>
          <p:nvPr/>
        </p:nvSpPr>
        <p:spPr>
          <a:xfrm>
            <a:off x="548640" y="1536192"/>
            <a:ext cx="8046720" cy="502920"/>
          </a:xfrm>
          <a:prstGeom prst="rect">
            <a:avLst/>
          </a:prstGeom>
          <a:noFill/>
          <a:ln/>
        </p:spPr>
        <p:txBody>
          <a:bodyPr wrap="square" lIns="0" tIns="0" rIns="0" bIns="0" rtlCol="0" anchor="t"/>
          <a:lstStyle/>
          <a:p>
            <a:pPr indent="0" marL="0">
              <a:buNone/>
            </a:pPr>
            <a:r>
              <a:rPr lang="en-US" sz="1350" dirty="0">
                <a:solidFill>
                  <a:srgbClr val="2C2330"/>
                </a:solidFill>
                <a:latin typeface="Calibri" pitchFamily="34" charset="0"/>
                <a:ea typeface="Calibri" pitchFamily="34" charset="-122"/>
                <a:cs typeface="Calibri" pitchFamily="34" charset="-120"/>
              </a:rPr>
              <a:t>Faculty are the first to observe disengagement and the most trusted source of referral. Four practices, each a matter of seconds, materially shift outcomes.</a:t>
            </a:r>
            <a:endParaRPr lang="en-US" sz="1350" dirty="0"/>
          </a:p>
        </p:txBody>
      </p:sp>
      <p:sp>
        <p:nvSpPr>
          <p:cNvPr id="5" name="Shape 3"/>
          <p:cNvSpPr/>
          <p:nvPr/>
        </p:nvSpPr>
        <p:spPr>
          <a:xfrm>
            <a:off x="548640" y="2148840"/>
            <a:ext cx="3931920" cy="1005840"/>
          </a:xfrm>
          <a:prstGeom prst="rect">
            <a:avLst/>
          </a:prstGeom>
          <a:solidFill>
            <a:srgbClr val="FFFFFF"/>
          </a:solidFill>
          <a:ln w="9525">
            <a:solidFill>
              <a:srgbClr val="DAD0C6"/>
            </a:solidFill>
            <a:prstDash val="solid"/>
          </a:ln>
        </p:spPr>
      </p:sp>
      <p:sp>
        <p:nvSpPr>
          <p:cNvPr id="6" name="Shape 4"/>
          <p:cNvSpPr/>
          <p:nvPr/>
        </p:nvSpPr>
        <p:spPr>
          <a:xfrm>
            <a:off x="548640" y="2148840"/>
            <a:ext cx="64008" cy="1005840"/>
          </a:xfrm>
          <a:prstGeom prst="rect">
            <a:avLst/>
          </a:prstGeom>
          <a:solidFill>
            <a:srgbClr val="6E4677"/>
          </a:solidFill>
          <a:ln/>
        </p:spPr>
      </p:sp>
      <p:sp>
        <p:nvSpPr>
          <p:cNvPr id="7" name="Text 5"/>
          <p:cNvSpPr/>
          <p:nvPr/>
        </p:nvSpPr>
        <p:spPr>
          <a:xfrm>
            <a:off x="749808" y="2258568"/>
            <a:ext cx="3657600" cy="347472"/>
          </a:xfrm>
          <a:prstGeom prst="rect">
            <a:avLst/>
          </a:prstGeom>
          <a:noFill/>
          <a:ln/>
        </p:spPr>
        <p:txBody>
          <a:bodyPr wrap="square" lIns="0" tIns="0" rIns="0" bIns="0" rtlCol="0" anchor="ctr"/>
          <a:lstStyle/>
          <a:p>
            <a:pPr indent="0" marL="0">
              <a:buNone/>
            </a:pPr>
            <a:r>
              <a:rPr lang="en-US" sz="1450" b="1" dirty="0">
                <a:solidFill>
                  <a:srgbClr val="2C2330"/>
                </a:solidFill>
                <a:latin typeface="Georgia" pitchFamily="34" charset="0"/>
                <a:ea typeface="Georgia" pitchFamily="34" charset="-122"/>
                <a:cs typeface="Georgia" pitchFamily="34" charset="-120"/>
              </a:rPr>
              <a:t>1.  Proactive outreach</a:t>
            </a:r>
            <a:endParaRPr lang="en-US" sz="1450" dirty="0"/>
          </a:p>
        </p:txBody>
      </p:sp>
      <p:sp>
        <p:nvSpPr>
          <p:cNvPr id="8" name="Text 6"/>
          <p:cNvSpPr/>
          <p:nvPr/>
        </p:nvSpPr>
        <p:spPr>
          <a:xfrm>
            <a:off x="749808" y="2606040"/>
            <a:ext cx="3657600" cy="502920"/>
          </a:xfrm>
          <a:prstGeom prst="rect">
            <a:avLst/>
          </a:prstGeom>
          <a:noFill/>
          <a:ln/>
        </p:spPr>
        <p:txBody>
          <a:bodyPr wrap="square" lIns="0" tIns="0" rIns="0" bIns="0" rtlCol="0" anchor="t"/>
          <a:lstStyle/>
          <a:p>
            <a:pPr indent="0" marL="0">
              <a:buNone/>
            </a:pPr>
            <a:r>
              <a:rPr lang="en-US" sz="1150" dirty="0">
                <a:solidFill>
                  <a:srgbClr val="2C2330"/>
                </a:solidFill>
                <a:latin typeface="Calibri" pitchFamily="34" charset="0"/>
                <a:ea typeface="Calibri" pitchFamily="34" charset="-122"/>
                <a:cs typeface="Calibri" pitchFamily="34" charset="-120"/>
              </a:rPr>
              <a:t>A brief check-in at the first sign of disengagement. Often the single intervention that re-engages a student.</a:t>
            </a:r>
            <a:endParaRPr lang="en-US" sz="1150" dirty="0"/>
          </a:p>
        </p:txBody>
      </p:sp>
      <p:sp>
        <p:nvSpPr>
          <p:cNvPr id="9" name="Shape 7"/>
          <p:cNvSpPr/>
          <p:nvPr/>
        </p:nvSpPr>
        <p:spPr>
          <a:xfrm>
            <a:off x="4663440" y="2148840"/>
            <a:ext cx="3931920" cy="1005840"/>
          </a:xfrm>
          <a:prstGeom prst="rect">
            <a:avLst/>
          </a:prstGeom>
          <a:solidFill>
            <a:srgbClr val="FFFFFF"/>
          </a:solidFill>
          <a:ln w="9525">
            <a:solidFill>
              <a:srgbClr val="DAD0C6"/>
            </a:solidFill>
            <a:prstDash val="solid"/>
          </a:ln>
        </p:spPr>
      </p:sp>
      <p:sp>
        <p:nvSpPr>
          <p:cNvPr id="10" name="Shape 8"/>
          <p:cNvSpPr/>
          <p:nvPr/>
        </p:nvSpPr>
        <p:spPr>
          <a:xfrm>
            <a:off x="4663440" y="2148840"/>
            <a:ext cx="64008" cy="1005840"/>
          </a:xfrm>
          <a:prstGeom prst="rect">
            <a:avLst/>
          </a:prstGeom>
          <a:solidFill>
            <a:srgbClr val="6E4677"/>
          </a:solidFill>
          <a:ln/>
        </p:spPr>
      </p:sp>
      <p:sp>
        <p:nvSpPr>
          <p:cNvPr id="11" name="Text 9"/>
          <p:cNvSpPr/>
          <p:nvPr/>
        </p:nvSpPr>
        <p:spPr>
          <a:xfrm>
            <a:off x="4864608" y="2258568"/>
            <a:ext cx="3657600" cy="347472"/>
          </a:xfrm>
          <a:prstGeom prst="rect">
            <a:avLst/>
          </a:prstGeom>
          <a:noFill/>
          <a:ln/>
        </p:spPr>
        <p:txBody>
          <a:bodyPr wrap="square" lIns="0" tIns="0" rIns="0" bIns="0" rtlCol="0" anchor="ctr"/>
          <a:lstStyle/>
          <a:p>
            <a:pPr indent="0" marL="0">
              <a:buNone/>
            </a:pPr>
            <a:r>
              <a:rPr lang="en-US" sz="1450" b="1" dirty="0">
                <a:solidFill>
                  <a:srgbClr val="2C2330"/>
                </a:solidFill>
                <a:latin typeface="Georgia" pitchFamily="34" charset="0"/>
                <a:ea typeface="Georgia" pitchFamily="34" charset="-122"/>
                <a:cs typeface="Georgia" pitchFamily="34" charset="-120"/>
              </a:rPr>
              <a:t>2.  Normalize help-seeking</a:t>
            </a:r>
            <a:endParaRPr lang="en-US" sz="1450" dirty="0"/>
          </a:p>
        </p:txBody>
      </p:sp>
      <p:sp>
        <p:nvSpPr>
          <p:cNvPr id="12" name="Text 10"/>
          <p:cNvSpPr/>
          <p:nvPr/>
        </p:nvSpPr>
        <p:spPr>
          <a:xfrm>
            <a:off x="4864608" y="2606040"/>
            <a:ext cx="3657600" cy="502920"/>
          </a:xfrm>
          <a:prstGeom prst="rect">
            <a:avLst/>
          </a:prstGeom>
          <a:noFill/>
          <a:ln/>
        </p:spPr>
        <p:txBody>
          <a:bodyPr wrap="square" lIns="0" tIns="0" rIns="0" bIns="0" rtlCol="0" anchor="t"/>
          <a:lstStyle/>
          <a:p>
            <a:pPr indent="0" marL="0">
              <a:buNone/>
            </a:pPr>
            <a:r>
              <a:rPr lang="en-US" sz="1150" dirty="0">
                <a:solidFill>
                  <a:srgbClr val="2C2330"/>
                </a:solidFill>
                <a:latin typeface="Calibri" pitchFamily="34" charset="0"/>
                <a:ea typeface="Calibri" pitchFamily="34" charset="-122"/>
                <a:cs typeface="Calibri" pitchFamily="34" charset="-120"/>
              </a:rPr>
              <a:t>Frame support as standard practice, not remediation. Stigma is a primary barrier to utilization.</a:t>
            </a:r>
            <a:endParaRPr lang="en-US" sz="1150" dirty="0"/>
          </a:p>
        </p:txBody>
      </p:sp>
      <p:sp>
        <p:nvSpPr>
          <p:cNvPr id="13" name="Shape 11"/>
          <p:cNvSpPr/>
          <p:nvPr/>
        </p:nvSpPr>
        <p:spPr>
          <a:xfrm>
            <a:off x="548640" y="3291840"/>
            <a:ext cx="3931920" cy="1005840"/>
          </a:xfrm>
          <a:prstGeom prst="rect">
            <a:avLst/>
          </a:prstGeom>
          <a:solidFill>
            <a:srgbClr val="FFFFFF"/>
          </a:solidFill>
          <a:ln w="9525">
            <a:solidFill>
              <a:srgbClr val="DAD0C6"/>
            </a:solidFill>
            <a:prstDash val="solid"/>
          </a:ln>
        </p:spPr>
      </p:sp>
      <p:sp>
        <p:nvSpPr>
          <p:cNvPr id="14" name="Shape 12"/>
          <p:cNvSpPr/>
          <p:nvPr/>
        </p:nvSpPr>
        <p:spPr>
          <a:xfrm>
            <a:off x="548640" y="3291840"/>
            <a:ext cx="64008" cy="1005840"/>
          </a:xfrm>
          <a:prstGeom prst="rect">
            <a:avLst/>
          </a:prstGeom>
          <a:solidFill>
            <a:srgbClr val="6E4677"/>
          </a:solidFill>
          <a:ln/>
        </p:spPr>
      </p:sp>
      <p:sp>
        <p:nvSpPr>
          <p:cNvPr id="15" name="Text 13"/>
          <p:cNvSpPr/>
          <p:nvPr/>
        </p:nvSpPr>
        <p:spPr>
          <a:xfrm>
            <a:off x="749808" y="3401568"/>
            <a:ext cx="3657600" cy="347472"/>
          </a:xfrm>
          <a:prstGeom prst="rect">
            <a:avLst/>
          </a:prstGeom>
          <a:noFill/>
          <a:ln/>
        </p:spPr>
        <p:txBody>
          <a:bodyPr wrap="square" lIns="0" tIns="0" rIns="0" bIns="0" rtlCol="0" anchor="ctr"/>
          <a:lstStyle/>
          <a:p>
            <a:pPr indent="0" marL="0">
              <a:buNone/>
            </a:pPr>
            <a:r>
              <a:rPr lang="en-US" sz="1450" b="1" dirty="0">
                <a:solidFill>
                  <a:srgbClr val="2C2330"/>
                </a:solidFill>
                <a:latin typeface="Georgia" pitchFamily="34" charset="0"/>
                <a:ea typeface="Georgia" pitchFamily="34" charset="-122"/>
                <a:cs typeface="Georgia" pitchFamily="34" charset="-120"/>
              </a:rPr>
              <a:t>3.  Targeted referral</a:t>
            </a:r>
            <a:endParaRPr lang="en-US" sz="1450" dirty="0"/>
          </a:p>
        </p:txBody>
      </p:sp>
      <p:sp>
        <p:nvSpPr>
          <p:cNvPr id="16" name="Text 14"/>
          <p:cNvSpPr/>
          <p:nvPr/>
        </p:nvSpPr>
        <p:spPr>
          <a:xfrm>
            <a:off x="749808" y="3749040"/>
            <a:ext cx="3657600" cy="502920"/>
          </a:xfrm>
          <a:prstGeom prst="rect">
            <a:avLst/>
          </a:prstGeom>
          <a:noFill/>
          <a:ln/>
        </p:spPr>
        <p:txBody>
          <a:bodyPr wrap="square" lIns="0" tIns="0" rIns="0" bIns="0" rtlCol="0" anchor="t"/>
          <a:lstStyle/>
          <a:p>
            <a:pPr indent="0" marL="0">
              <a:buNone/>
            </a:pPr>
            <a:r>
              <a:rPr lang="en-US" sz="1150" dirty="0">
                <a:solidFill>
                  <a:srgbClr val="2C2330"/>
                </a:solidFill>
                <a:latin typeface="Calibri" pitchFamily="34" charset="0"/>
                <a:ea typeface="Calibri" pitchFamily="34" charset="-122"/>
                <a:cs typeface="Calibri" pitchFamily="34" charset="-120"/>
              </a:rPr>
              <a:t>One service, one contact, named specifically. Precision beats a catalogue of options.</a:t>
            </a:r>
            <a:endParaRPr lang="en-US" sz="1150" dirty="0"/>
          </a:p>
        </p:txBody>
      </p:sp>
      <p:sp>
        <p:nvSpPr>
          <p:cNvPr id="17" name="Shape 15"/>
          <p:cNvSpPr/>
          <p:nvPr/>
        </p:nvSpPr>
        <p:spPr>
          <a:xfrm>
            <a:off x="4663440" y="3291840"/>
            <a:ext cx="3931920" cy="1005840"/>
          </a:xfrm>
          <a:prstGeom prst="rect">
            <a:avLst/>
          </a:prstGeom>
          <a:solidFill>
            <a:srgbClr val="FFFFFF"/>
          </a:solidFill>
          <a:ln w="9525">
            <a:solidFill>
              <a:srgbClr val="DAD0C6"/>
            </a:solidFill>
            <a:prstDash val="solid"/>
          </a:ln>
        </p:spPr>
      </p:sp>
      <p:sp>
        <p:nvSpPr>
          <p:cNvPr id="18" name="Shape 16"/>
          <p:cNvSpPr/>
          <p:nvPr/>
        </p:nvSpPr>
        <p:spPr>
          <a:xfrm>
            <a:off x="4663440" y="3291840"/>
            <a:ext cx="64008" cy="1005840"/>
          </a:xfrm>
          <a:prstGeom prst="rect">
            <a:avLst/>
          </a:prstGeom>
          <a:solidFill>
            <a:srgbClr val="6E4677"/>
          </a:solidFill>
          <a:ln/>
        </p:spPr>
      </p:sp>
      <p:sp>
        <p:nvSpPr>
          <p:cNvPr id="19" name="Text 17"/>
          <p:cNvSpPr/>
          <p:nvPr/>
        </p:nvSpPr>
        <p:spPr>
          <a:xfrm>
            <a:off x="4864608" y="3401568"/>
            <a:ext cx="3657600" cy="347472"/>
          </a:xfrm>
          <a:prstGeom prst="rect">
            <a:avLst/>
          </a:prstGeom>
          <a:noFill/>
          <a:ln/>
        </p:spPr>
        <p:txBody>
          <a:bodyPr wrap="square" lIns="0" tIns="0" rIns="0" bIns="0" rtlCol="0" anchor="ctr"/>
          <a:lstStyle/>
          <a:p>
            <a:pPr indent="0" marL="0">
              <a:buNone/>
            </a:pPr>
            <a:r>
              <a:rPr lang="en-US" sz="1450" b="1" dirty="0">
                <a:solidFill>
                  <a:srgbClr val="2C2330"/>
                </a:solidFill>
                <a:latin typeface="Georgia" pitchFamily="34" charset="0"/>
                <a:ea typeface="Georgia" pitchFamily="34" charset="-122"/>
                <a:cs typeface="Georgia" pitchFamily="34" charset="-120"/>
              </a:rPr>
              <a:t>4.  Flexible pathways</a:t>
            </a:r>
            <a:endParaRPr lang="en-US" sz="1450" dirty="0"/>
          </a:p>
        </p:txBody>
      </p:sp>
      <p:sp>
        <p:nvSpPr>
          <p:cNvPr id="20" name="Text 18"/>
          <p:cNvSpPr/>
          <p:nvPr/>
        </p:nvSpPr>
        <p:spPr>
          <a:xfrm>
            <a:off x="4864608" y="3749040"/>
            <a:ext cx="3657600" cy="502920"/>
          </a:xfrm>
          <a:prstGeom prst="rect">
            <a:avLst/>
          </a:prstGeom>
          <a:noFill/>
          <a:ln/>
        </p:spPr>
        <p:txBody>
          <a:bodyPr wrap="square" lIns="0" tIns="0" rIns="0" bIns="0" rtlCol="0" anchor="t"/>
          <a:lstStyle/>
          <a:p>
            <a:pPr indent="0" marL="0">
              <a:buNone/>
            </a:pPr>
            <a:r>
              <a:rPr lang="en-US" sz="1150" dirty="0">
                <a:solidFill>
                  <a:srgbClr val="2C2330"/>
                </a:solidFill>
                <a:latin typeface="Calibri" pitchFamily="34" charset="0"/>
                <a:ea typeface="Calibri" pitchFamily="34" charset="-122"/>
                <a:cs typeface="Calibri" pitchFamily="34" charset="-120"/>
              </a:rPr>
              <a:t>An alternate means to submit or participate before any administrative drop.</a:t>
            </a:r>
            <a:endParaRPr lang="en-US" sz="1150" dirty="0"/>
          </a:p>
        </p:txBody>
      </p:sp>
      <p:sp>
        <p:nvSpPr>
          <p:cNvPr id="21" name="Shape 19"/>
          <p:cNvSpPr/>
          <p:nvPr/>
        </p:nvSpPr>
        <p:spPr>
          <a:xfrm>
            <a:off x="548640" y="4736592"/>
            <a:ext cx="8046720" cy="0"/>
          </a:xfrm>
          <a:prstGeom prst="line">
            <a:avLst/>
          </a:prstGeom>
          <a:noFill/>
          <a:ln w="9525">
            <a:solidFill>
              <a:srgbClr val="C9BDB2"/>
            </a:solidFill>
            <a:prstDash val="solid"/>
          </a:ln>
        </p:spPr>
      </p:sp>
      <p:sp>
        <p:nvSpPr>
          <p:cNvPr id="22" name="Text 20"/>
          <p:cNvSpPr/>
          <p:nvPr/>
        </p:nvSpPr>
        <p:spPr>
          <a:xfrm>
            <a:off x="548640" y="4791456"/>
            <a:ext cx="6858000" cy="228600"/>
          </a:xfrm>
          <a:prstGeom prst="rect">
            <a:avLst/>
          </a:prstGeom>
          <a:noFill/>
          <a:ln/>
        </p:spPr>
        <p:txBody>
          <a:bodyPr wrap="square" lIns="0" tIns="0" rIns="0" bIns="0" rtlCol="0" anchor="ctr"/>
          <a:lstStyle/>
          <a:p>
            <a:pPr indent="0" marL="0">
              <a:buNone/>
            </a:pPr>
            <a:r>
              <a:rPr lang="en-US" sz="850" spc="100" kern="0" dirty="0">
                <a:solidFill>
                  <a:srgbClr val="8A7E7A"/>
                </a:solidFill>
                <a:latin typeface="Calibri" pitchFamily="34" charset="0"/>
                <a:ea typeface="Calibri" pitchFamily="34" charset="-122"/>
                <a:cs typeface="Calibri" pitchFamily="34" charset="-120"/>
              </a:rPr>
              <a:t>Student Persistence · An Evidence Brief</a:t>
            </a:r>
            <a:endParaRPr lang="en-US" sz="850" dirty="0"/>
          </a:p>
        </p:txBody>
      </p:sp>
      <p:sp>
        <p:nvSpPr>
          <p:cNvPr id="23" name="Text 21"/>
          <p:cNvSpPr/>
          <p:nvPr/>
        </p:nvSpPr>
        <p:spPr>
          <a:xfrm>
            <a:off x="8229600" y="4791456"/>
            <a:ext cx="365760" cy="228600"/>
          </a:xfrm>
          <a:prstGeom prst="rect">
            <a:avLst/>
          </a:prstGeom>
          <a:noFill/>
          <a:ln/>
        </p:spPr>
        <p:txBody>
          <a:bodyPr wrap="square" lIns="0" tIns="0" rIns="0" bIns="0" rtlCol="0" anchor="ctr"/>
          <a:lstStyle/>
          <a:p>
            <a:pPr algn="r" indent="0" marL="0">
              <a:buNone/>
            </a:pPr>
            <a:r>
              <a:rPr lang="en-US" sz="850" dirty="0">
                <a:solidFill>
                  <a:srgbClr val="8A7E7A"/>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4E2F55"/>
        </a:solidFill>
      </p:bgPr>
    </p:bg>
    <p:spTree>
      <p:nvGrpSpPr>
        <p:cNvPr id="1" name=""/>
        <p:cNvGrpSpPr/>
        <p:nvPr/>
      </p:nvGrpSpPr>
      <p:grpSpPr>
        <a:xfrm>
          <a:off x="0" y="0"/>
          <a:ext cx="0" cy="0"/>
          <a:chOff x="0" y="0"/>
          <a:chExt cx="0" cy="0"/>
        </a:xfrm>
      </p:grpSpPr>
      <p:sp>
        <p:nvSpPr>
          <p:cNvPr id="2" name="Shape 0"/>
          <p:cNvSpPr/>
          <p:nvPr/>
        </p:nvSpPr>
        <p:spPr>
          <a:xfrm>
            <a:off x="640080" y="1188720"/>
            <a:ext cx="1280160" cy="0"/>
          </a:xfrm>
          <a:prstGeom prst="line">
            <a:avLst/>
          </a:prstGeom>
          <a:noFill/>
          <a:ln w="31750">
            <a:solidFill>
              <a:srgbClr val="B8956A"/>
            </a:solidFill>
            <a:prstDash val="solid"/>
          </a:ln>
        </p:spPr>
      </p:sp>
      <p:sp>
        <p:nvSpPr>
          <p:cNvPr id="3" name="Text 1"/>
          <p:cNvSpPr/>
          <p:nvPr/>
        </p:nvSpPr>
        <p:spPr>
          <a:xfrm>
            <a:off x="640080" y="1417320"/>
            <a:ext cx="7863840" cy="731520"/>
          </a:xfrm>
          <a:prstGeom prst="rect">
            <a:avLst/>
          </a:prstGeom>
          <a:noFill/>
          <a:ln/>
        </p:spPr>
        <p:txBody>
          <a:bodyPr wrap="square" lIns="0" tIns="0" rIns="0" bIns="0" rtlCol="0" anchor="ctr"/>
          <a:lstStyle/>
          <a:p>
            <a:pPr indent="0" marL="0">
              <a:buNone/>
            </a:pPr>
            <a:r>
              <a:rPr lang="en-US" sz="3100" b="1" dirty="0">
                <a:solidFill>
                  <a:srgbClr val="FFFFFF"/>
                </a:solidFill>
                <a:latin typeface="Georgia" pitchFamily="34" charset="0"/>
                <a:ea typeface="Georgia" pitchFamily="34" charset="-122"/>
                <a:cs typeface="Georgia" pitchFamily="34" charset="-120"/>
              </a:rPr>
              <a:t>The leverage of a single connection</a:t>
            </a:r>
            <a:endParaRPr lang="en-US" sz="3100" dirty="0"/>
          </a:p>
        </p:txBody>
      </p:sp>
      <p:sp>
        <p:nvSpPr>
          <p:cNvPr id="4" name="Text 2"/>
          <p:cNvSpPr/>
          <p:nvPr/>
        </p:nvSpPr>
        <p:spPr>
          <a:xfrm>
            <a:off x="640080" y="2240280"/>
            <a:ext cx="7680960" cy="1417320"/>
          </a:xfrm>
          <a:prstGeom prst="rect">
            <a:avLst/>
          </a:prstGeom>
          <a:noFill/>
          <a:ln/>
        </p:spPr>
        <p:txBody>
          <a:bodyPr wrap="square" lIns="0" tIns="0" rIns="0" bIns="0" rtlCol="0" anchor="t"/>
          <a:lstStyle/>
          <a:p>
            <a:pPr indent="0" marL="0">
              <a:buNone/>
            </a:pPr>
            <a:r>
              <a:rPr lang="en-US" sz="1800" i="1" dirty="0">
                <a:solidFill>
                  <a:srgbClr val="E8DEE9"/>
                </a:solidFill>
                <a:latin typeface="Georgia" pitchFamily="34" charset="0"/>
                <a:ea typeface="Georgia" pitchFamily="34" charset="-122"/>
                <a:cs typeface="Georgia" pitchFamily="34" charset="-120"/>
              </a:rPr>
              <a:t>A mentor who encouraged a graduate’s goals more than doubled their odds of thriving in work and life. Only two in ten graduates report having had one. That person, a professor, an advisor, a coach, a club sponsor, a social worker, someone who believed in them, is within each of us to be.</a:t>
            </a:r>
            <a:endParaRPr lang="en-US" sz="1800" dirty="0"/>
          </a:p>
        </p:txBody>
      </p:sp>
      <p:sp>
        <p:nvSpPr>
          <p:cNvPr id="5" name="Text 3"/>
          <p:cNvSpPr/>
          <p:nvPr/>
        </p:nvSpPr>
        <p:spPr>
          <a:xfrm>
            <a:off x="640080" y="3977640"/>
            <a:ext cx="7863840" cy="457200"/>
          </a:xfrm>
          <a:prstGeom prst="rect">
            <a:avLst/>
          </a:prstGeom>
          <a:noFill/>
          <a:ln/>
        </p:spPr>
        <p:txBody>
          <a:bodyPr wrap="square" lIns="0" tIns="0" rIns="0" bIns="0" rtlCol="0" anchor="ctr"/>
          <a:lstStyle/>
          <a:p>
            <a:pPr indent="0" marL="0">
              <a:buNone/>
            </a:pPr>
            <a:r>
              <a:rPr lang="en-US" sz="1300" b="1" spc="50" kern="0" dirty="0">
                <a:solidFill>
                  <a:srgbClr val="D9C7A6"/>
                </a:solidFill>
                <a:latin typeface="Calibri" pitchFamily="34" charset="0"/>
                <a:ea typeface="Calibri" pitchFamily="34" charset="-122"/>
                <a:cs typeface="Calibri" pitchFamily="34" charset="-120"/>
              </a:rPr>
              <a:t>No student should leave us for want of one connection. When students feel connected and supported, they persist.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548640" y="411480"/>
            <a:ext cx="8046720" cy="256032"/>
          </a:xfrm>
          <a:prstGeom prst="rect">
            <a:avLst/>
          </a:prstGeom>
          <a:noFill/>
          <a:ln/>
        </p:spPr>
        <p:txBody>
          <a:bodyPr wrap="square" lIns="0" tIns="0" rIns="0" bIns="0" rtlCol="0" anchor="ctr"/>
          <a:lstStyle/>
          <a:p>
            <a:pPr indent="0" marL="0">
              <a:buNone/>
            </a:pPr>
            <a:r>
              <a:rPr lang="en-US" sz="1100" b="1" spc="250" kern="0" dirty="0">
                <a:solidFill>
                  <a:srgbClr val="B8956A"/>
                </a:solidFill>
                <a:latin typeface="Calibri" pitchFamily="34" charset="0"/>
                <a:ea typeface="Calibri" pitchFamily="34" charset="-122"/>
                <a:cs typeface="Calibri" pitchFamily="34" charset="-120"/>
              </a:rPr>
              <a:t>SOURCES</a:t>
            </a:r>
            <a:endParaRPr lang="en-US" sz="1100" dirty="0"/>
          </a:p>
        </p:txBody>
      </p:sp>
      <p:sp>
        <p:nvSpPr>
          <p:cNvPr id="3" name="Text 1"/>
          <p:cNvSpPr/>
          <p:nvPr/>
        </p:nvSpPr>
        <p:spPr>
          <a:xfrm>
            <a:off x="548640" y="676656"/>
            <a:ext cx="8046720" cy="777240"/>
          </a:xfrm>
          <a:prstGeom prst="rect">
            <a:avLst/>
          </a:prstGeom>
          <a:noFill/>
          <a:ln/>
        </p:spPr>
        <p:txBody>
          <a:bodyPr wrap="square" lIns="0" tIns="0" rIns="0" bIns="0" rtlCol="0" anchor="ctr"/>
          <a:lstStyle/>
          <a:p>
            <a:pPr algn="l" indent="0" marL="0">
              <a:buNone/>
            </a:pPr>
            <a:r>
              <a:rPr lang="en-US" sz="3000" b="1" dirty="0">
                <a:solidFill>
                  <a:srgbClr val="2C2330"/>
                </a:solidFill>
                <a:latin typeface="Georgia" pitchFamily="34" charset="0"/>
                <a:ea typeface="Georgia" pitchFamily="34" charset="-122"/>
                <a:cs typeface="Georgia" pitchFamily="34" charset="-120"/>
              </a:rPr>
              <a:t>Evidence base</a:t>
            </a:r>
            <a:endParaRPr lang="en-US" sz="3000" dirty="0"/>
          </a:p>
        </p:txBody>
      </p:sp>
      <p:sp>
        <p:nvSpPr>
          <p:cNvPr id="4" name="Text 2"/>
          <p:cNvSpPr/>
          <p:nvPr/>
        </p:nvSpPr>
        <p:spPr>
          <a:xfrm>
            <a:off x="548640" y="1417320"/>
            <a:ext cx="8046720" cy="3200400"/>
          </a:xfrm>
          <a:prstGeom prst="rect">
            <a:avLst/>
          </a:prstGeom>
          <a:noFill/>
          <a:ln/>
        </p:spPr>
        <p:txBody>
          <a:bodyPr wrap="square" rtlCol="0" anchor="t"/>
          <a:lstStyle/>
          <a:p>
            <a:pPr marL="342900" indent="-342900">
              <a:spcAft>
                <a:spcPts val="700"/>
              </a:spcAft>
              <a:buSzPct val="100000"/>
              <a:buChar char="•"/>
            </a:pPr>
            <a:r>
              <a:rPr lang="en-US" sz="1050" dirty="0">
                <a:solidFill>
                  <a:srgbClr val="2C2330"/>
                </a:solidFill>
                <a:latin typeface="Calibri" pitchFamily="34" charset="0"/>
                <a:ea typeface="Calibri" pitchFamily="34" charset="-122"/>
                <a:cs typeface="Calibri" pitchFamily="34" charset="-120"/>
              </a:rPr>
              <a:t>National Student Clearinghouse Research Center (2024, 2025). Persistence and retention. 55% community college second-fall retention; 53% part-time.</a:t>
            </a:r>
            <a:endParaRPr lang="en-US" sz="1050" dirty="0"/>
          </a:p>
          <a:p>
            <a:pPr marL="342900" indent="-342900">
              <a:spcAft>
                <a:spcPts val="700"/>
              </a:spcAft>
              <a:buSzPct val="100000"/>
              <a:buChar char="•"/>
            </a:pPr>
            <a:r>
              <a:rPr lang="en-US" sz="1050" dirty="0">
                <a:solidFill>
                  <a:srgbClr val="2C2330"/>
                </a:solidFill>
                <a:latin typeface="Calibri" pitchFamily="34" charset="0"/>
                <a:ea typeface="Calibri" pitchFamily="34" charset="-122"/>
                <a:cs typeface="Calibri" pitchFamily="34" charset="-120"/>
              </a:rPr>
              <a:t>Lumina Foundation &amp; Gallup (2024). State of Higher Education. 35% considered departure; emotional stress 54%, mental health 43%, cost 31%.</a:t>
            </a:r>
            <a:endParaRPr lang="en-US" sz="1050" dirty="0"/>
          </a:p>
          <a:p>
            <a:pPr marL="342900" indent="-342900">
              <a:spcAft>
                <a:spcPts val="700"/>
              </a:spcAft>
              <a:buSzPct val="100000"/>
              <a:buChar char="•"/>
            </a:pPr>
            <a:r>
              <a:rPr lang="en-US" sz="1050" dirty="0">
                <a:solidFill>
                  <a:srgbClr val="2C2330"/>
                </a:solidFill>
                <a:latin typeface="Calibri" pitchFamily="34" charset="0"/>
                <a:ea typeface="Calibri" pitchFamily="34" charset="-122"/>
                <a:cs typeface="Calibri" pitchFamily="34" charset="-120"/>
              </a:rPr>
              <a:t>The Hope Center for Student Basic Needs (2025). 2023–24 Student Basic Needs Survey (74,350 students). 59% basic-needs insecure; 79% of stop-outs cite basic needs and finances.</a:t>
            </a:r>
            <a:endParaRPr lang="en-US" sz="1050" dirty="0"/>
          </a:p>
          <a:p>
            <a:pPr marL="342900" indent="-342900">
              <a:spcAft>
                <a:spcPts val="700"/>
              </a:spcAft>
              <a:buSzPct val="100000"/>
              <a:buChar char="•"/>
            </a:pPr>
            <a:r>
              <a:rPr lang="en-US" sz="1050" dirty="0">
                <a:solidFill>
                  <a:srgbClr val="2C2330"/>
                </a:solidFill>
                <a:latin typeface="Calibri" pitchFamily="34" charset="0"/>
                <a:ea typeface="Calibri" pitchFamily="34" charset="-122"/>
                <a:cs typeface="Calibri" pitchFamily="34" charset="-120"/>
              </a:rPr>
              <a:t>AAUP; NCES. Working college students. ~80% employed, 39% full-time; two-thirds of two-year entrants work 20+ hours weekly.</a:t>
            </a:r>
            <a:endParaRPr lang="en-US" sz="1050" dirty="0"/>
          </a:p>
          <a:p>
            <a:pPr marL="342900" indent="-342900">
              <a:spcAft>
                <a:spcPts val="700"/>
              </a:spcAft>
              <a:buSzPct val="100000"/>
              <a:buChar char="•"/>
            </a:pPr>
            <a:r>
              <a:rPr lang="en-US" sz="1050" dirty="0">
                <a:solidFill>
                  <a:srgbClr val="2C2330"/>
                </a:solidFill>
                <a:latin typeface="Calibri" pitchFamily="34" charset="0"/>
                <a:ea typeface="Calibri" pitchFamily="34" charset="-122"/>
                <a:cs typeface="Calibri" pitchFamily="34" charset="-120"/>
              </a:rPr>
              <a:t>CCSSE (2024) via Higher Ed Dive; New America and IWPR. 71% of caregiving students cite caregiving as a withdrawal risk; student-parent six-year completion 18% vs 54%.</a:t>
            </a:r>
            <a:endParaRPr lang="en-US" sz="1050" dirty="0"/>
          </a:p>
          <a:p>
            <a:pPr marL="342900" indent="-342900">
              <a:spcAft>
                <a:spcPts val="700"/>
              </a:spcAft>
              <a:buSzPct val="100000"/>
              <a:buChar char="•"/>
            </a:pPr>
            <a:r>
              <a:rPr lang="en-US" sz="1050" dirty="0">
                <a:solidFill>
                  <a:srgbClr val="2C2330"/>
                </a:solidFill>
                <a:latin typeface="Calibri" pitchFamily="34" charset="0"/>
                <a:ea typeface="Calibri" pitchFamily="34" charset="-122"/>
                <a:cs typeface="Calibri" pitchFamily="34" charset="-120"/>
              </a:rPr>
              <a:t>Tyton Partners (2024), Listening to Learners, via Inside Higher Ed. Awareness of five or more services linked to +13 points persistence; 55% report effective communication of support.</a:t>
            </a:r>
            <a:endParaRPr lang="en-US" sz="1050" dirty="0"/>
          </a:p>
          <a:p>
            <a:pPr marL="342900" indent="-342900">
              <a:spcAft>
                <a:spcPts val="700"/>
              </a:spcAft>
              <a:buSzPct val="100000"/>
              <a:buChar char="•"/>
            </a:pPr>
            <a:r>
              <a:rPr lang="en-US" sz="1050" dirty="0">
                <a:solidFill>
                  <a:srgbClr val="2C2330"/>
                </a:solidFill>
                <a:latin typeface="Calibri" pitchFamily="34" charset="0"/>
                <a:ea typeface="Calibri" pitchFamily="34" charset="-122"/>
                <a:cs typeface="Calibri" pitchFamily="34" charset="-120"/>
              </a:rPr>
              <a:t>Georgia State University / Mainstay; CUNY / MDRC; EDUCAUSE (Valencia LifeMap); League for Innovation (2024), GCC Peer Success Coaches.</a:t>
            </a:r>
            <a:endParaRPr lang="en-US" sz="1050" dirty="0"/>
          </a:p>
          <a:p>
            <a:pPr marL="342900" indent="-342900">
              <a:spcAft>
                <a:spcPts val="700"/>
              </a:spcAft>
              <a:buSzPct val="100000"/>
              <a:buChar char="•"/>
            </a:pPr>
            <a:r>
              <a:rPr lang="en-US" sz="1050" dirty="0">
                <a:solidFill>
                  <a:srgbClr val="2C2330"/>
                </a:solidFill>
                <a:latin typeface="Calibri" pitchFamily="34" charset="0"/>
                <a:ea typeface="Calibri" pitchFamily="34" charset="-122"/>
                <a:cs typeface="Calibri" pitchFamily="34" charset="-120"/>
              </a:rPr>
              <a:t>Online outcomes: Community College Research Center (Xu &amp; Jaggars); Public Policy Institute of California and the CCCCO. Online course success roughly 10 points below in-person, 11 to 14 points after controls; gaps widest for students already at risk.</a:t>
            </a:r>
            <a:endParaRPr lang="en-US" sz="1050" dirty="0"/>
          </a:p>
          <a:p>
            <a:pPr marL="342900" indent="-342900">
              <a:spcAft>
                <a:spcPts val="700"/>
              </a:spcAft>
              <a:buSzPct val="100000"/>
              <a:buChar char="•"/>
            </a:pPr>
            <a:r>
              <a:rPr lang="en-US" sz="1050" dirty="0">
                <a:solidFill>
                  <a:srgbClr val="2C2330"/>
                </a:solidFill>
                <a:latin typeface="Calibri" pitchFamily="34" charset="0"/>
                <a:ea typeface="Calibri" pitchFamily="34" charset="-122"/>
                <a:cs typeface="Calibri" pitchFamily="34" charset="-120"/>
              </a:rPr>
              <a:t>Hispanic-Serving Institution status: Maricopa Community Colleges (2021), nine of ten colleges federally recognized as HSIs; GCC approximately 43% Hispanic enrollment (GCC Office of Hispanic-Serving Initiatives; Data USA).</a:t>
            </a:r>
            <a:endParaRPr lang="en-US" sz="1050" dirty="0"/>
          </a:p>
          <a:p>
            <a:pPr marL="342900" indent="-342900">
              <a:spcAft>
                <a:spcPts val="700"/>
              </a:spcAft>
              <a:buSzPct val="100000"/>
              <a:buChar char="•"/>
            </a:pPr>
            <a:r>
              <a:rPr lang="en-US" sz="1050" dirty="0">
                <a:solidFill>
                  <a:srgbClr val="2C2330"/>
                </a:solidFill>
                <a:latin typeface="Calibri" pitchFamily="34" charset="0"/>
                <a:ea typeface="Calibri" pitchFamily="34" charset="-122"/>
                <a:cs typeface="Calibri" pitchFamily="34" charset="-120"/>
              </a:rPr>
              <a:t>Caregiving breadth: university-wide caregiving-student survey (Nature, Humanities &amp; Social Sciences Communications, 2022); AARP and the National Alliance for Caregiving, Caregiving in the U.S. (2020).</a:t>
            </a:r>
            <a:endParaRPr lang="en-US" sz="1050" dirty="0"/>
          </a:p>
          <a:p>
            <a:pPr marL="342900" indent="-342900">
              <a:spcAft>
                <a:spcPts val="700"/>
              </a:spcAft>
              <a:buSzPct val="100000"/>
              <a:buChar char="•"/>
            </a:pPr>
            <a:r>
              <a:rPr lang="en-US" sz="1050" dirty="0">
                <a:solidFill>
                  <a:srgbClr val="2C2330"/>
                </a:solidFill>
                <a:latin typeface="Calibri" pitchFamily="34" charset="0"/>
                <a:ea typeface="Calibri" pitchFamily="34" charset="-122"/>
                <a:cs typeface="Calibri" pitchFamily="34" charset="-120"/>
              </a:rPr>
              <a:t>Gallup-Purdue Index and Strada-Gallup Alumni Survey (2014, 2018): a mentor who encouraged a graduate’s goals more than doubled their odds of engagement and wellbeing; a caring professor 1.9x engagement; about two in ten graduates had such a mentor.</a:t>
            </a:r>
            <a:endParaRPr lang="en-US" sz="1050" dirty="0"/>
          </a:p>
          <a:p>
            <a:pPr marL="342900" indent="-342900">
              <a:spcAft>
                <a:spcPts val="700"/>
              </a:spcAft>
              <a:buSzPct val="100000"/>
              <a:buChar char="•"/>
            </a:pPr>
            <a:r>
              <a:rPr lang="en-US" sz="1050" dirty="0">
                <a:solidFill>
                  <a:srgbClr val="2C2330"/>
                </a:solidFill>
                <a:latin typeface="Calibri" pitchFamily="34" charset="0"/>
                <a:ea typeface="Calibri" pitchFamily="34" charset="-122"/>
                <a:cs typeface="Calibri" pitchFamily="34" charset="-120"/>
              </a:rPr>
              <a:t>GCC Student Frustrations Survey (2025); GCC Student Services (food insecurity). Internal institutional data.</a:t>
            </a:r>
            <a:endParaRPr lang="en-US" sz="1050" dirty="0"/>
          </a:p>
        </p:txBody>
      </p:sp>
      <p:sp>
        <p:nvSpPr>
          <p:cNvPr id="5" name="Shape 3"/>
          <p:cNvSpPr/>
          <p:nvPr/>
        </p:nvSpPr>
        <p:spPr>
          <a:xfrm>
            <a:off x="548640" y="4736592"/>
            <a:ext cx="8046720" cy="0"/>
          </a:xfrm>
          <a:prstGeom prst="line">
            <a:avLst/>
          </a:prstGeom>
          <a:noFill/>
          <a:ln w="9525">
            <a:solidFill>
              <a:srgbClr val="C9BDB2"/>
            </a:solidFill>
            <a:prstDash val="solid"/>
          </a:ln>
        </p:spPr>
      </p:sp>
      <p:sp>
        <p:nvSpPr>
          <p:cNvPr id="6" name="Text 4"/>
          <p:cNvSpPr/>
          <p:nvPr/>
        </p:nvSpPr>
        <p:spPr>
          <a:xfrm>
            <a:off x="548640" y="4791456"/>
            <a:ext cx="6858000" cy="228600"/>
          </a:xfrm>
          <a:prstGeom prst="rect">
            <a:avLst/>
          </a:prstGeom>
          <a:noFill/>
          <a:ln/>
        </p:spPr>
        <p:txBody>
          <a:bodyPr wrap="square" lIns="0" tIns="0" rIns="0" bIns="0" rtlCol="0" anchor="ctr"/>
          <a:lstStyle/>
          <a:p>
            <a:pPr indent="0" marL="0">
              <a:buNone/>
            </a:pPr>
            <a:r>
              <a:rPr lang="en-US" sz="850" spc="100" kern="0" dirty="0">
                <a:solidFill>
                  <a:srgbClr val="8A7E7A"/>
                </a:solidFill>
                <a:latin typeface="Calibri" pitchFamily="34" charset="0"/>
                <a:ea typeface="Calibri" pitchFamily="34" charset="-122"/>
                <a:cs typeface="Calibri" pitchFamily="34" charset="-120"/>
              </a:rPr>
              <a:t>Student Persistence · An Evidence Brief</a:t>
            </a:r>
            <a:endParaRPr lang="en-US" sz="850" dirty="0"/>
          </a:p>
        </p:txBody>
      </p:sp>
      <p:sp>
        <p:nvSpPr>
          <p:cNvPr id="7" name="Text 5"/>
          <p:cNvSpPr/>
          <p:nvPr/>
        </p:nvSpPr>
        <p:spPr>
          <a:xfrm>
            <a:off x="8229600" y="4791456"/>
            <a:ext cx="365760" cy="228600"/>
          </a:xfrm>
          <a:prstGeom prst="rect">
            <a:avLst/>
          </a:prstGeom>
          <a:noFill/>
          <a:ln/>
        </p:spPr>
        <p:txBody>
          <a:bodyPr wrap="square" lIns="0" tIns="0" rIns="0" bIns="0" rtlCol="0" anchor="ctr"/>
          <a:lstStyle/>
          <a:p>
            <a:pPr algn="r" indent="0" marL="0">
              <a:buNone/>
            </a:pPr>
            <a:r>
              <a:rPr lang="en-US" sz="850" dirty="0">
                <a:solidFill>
                  <a:srgbClr val="8A7E7A"/>
                </a:solidFill>
                <a:latin typeface="Calibri" pitchFamily="34" charset="0"/>
                <a:ea typeface="Calibri" pitchFamily="34" charset="-122"/>
                <a:cs typeface="Calibri" pitchFamily="34" charset="-120"/>
              </a:rPr>
              <a:t>13</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Persistence Imperative</dc:title>
  <dc:subject>PptxGenJS Presentation</dc:subject>
  <dc:creator>Michelle Blomberg</dc:creator>
  <cp:lastModifiedBy>Michelle Blomberg</cp:lastModifiedBy>
  <cp:revision>1</cp:revision>
  <dcterms:created xsi:type="dcterms:W3CDTF">2026-06-14T03:41:30Z</dcterms:created>
  <dcterms:modified xsi:type="dcterms:W3CDTF">2026-06-14T03:41:30Z</dcterms:modified>
</cp:coreProperties>
</file>