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8"/>
    <p:sldId id="278" r:id="rId29"/>
    <p:sldId id="279" r:id="rId3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Title slide (~30 sec)
Open warm and direct. “Good morning. I’m Michelle Blomberg, faculty in Digital Media Arts at GCC. Today I’m going to walk you through a prototype I’m building called Render. It’s a career launch dashboard powered by an LLM. The first real classroom pilot is Fall 2026. What I’m showing you today is what the tool looks like at the end of my Spring development cycle, before the summer iteration.”
Pace yourself. Don’t rush. This audience is educators and people who care about applied AI. Set the expectation early that this is a prototype, not a production system.
TERMINOLOGY TO USE EARLY: “LLM”, “Anthropic’s Claude Sonnet 4”, “local-first architecture”, “prototype”. Plant these so the audience knows you know your stuff AND knows what stage you’re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Hello / Bio (~60 sec)
Build credibility quickly. The audience needs to know you’ve been doing this since before “EdTech” was a buzzword.
KEY POINTS:
- 22 years teaching (started adjunct in 2004, full-time at GCC since 2010), 27+ years in higher ed going back to the late 1990s
- 6 years as Director of Instructional Technology at GCC’s Innovation Center (this was a college-level role at GCC, not a district-wide role)
- Co-led an LMS committee at the Maricopa district level (don’t overstate this, you helped lead a committee, not the migration itself)
- EdTech product management at an EdTech company, late 1990s
- MEd research is the theoretical backbone, mention it
TERMINOLOGY: “connectivism” (Siemens, 2005), “personal learning environment” (PLE). Connectivism argues that learning happens through networked connections, not just inside one person’s head. A PLE is the personalized digital workspace where a learner manages their own learning over time. Render is literally a PLE for career launch.
LINE TO LAND: “What you’re going to see today, the theoretical foundation has been around since 2005. The tools to actually build this for an individual community college student have only existed for about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1995 story (~75 sec)
This is the emotional setup. Tell it like a story. Slow down.
DELIVERY:
“It was my first day on the job at a Fortune 100 company. I’d just gotten my graphic design degree. A colleague hands me a stack of paper and tells me to learn HTML. He had a server under his desk. He’d already started the website. He needed someone to design it. I sat with that printout for a week. We shipped one of the first Fortune 100 websites on the internet.”
PAUSE. Let it land.
THE LINE THAT MATTERS: “Web design wasn’t a thing when I was in college.” Deliver this slowly. There’s no italicized way to say it. It’s just true.
This story gives you permission to talk about AI without sounding like a hype-merchant. You’ve been here before. You learned HTML in a week. Your students will learn AI in a week. The principles of design are what carried you. They’re what you’re teaching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Takeaway (~60 sec)
This is the pedagogical thesis of the whole talk. Spend a moment here.
THE POINT: We can’t curriculum our way out of tool churn. What we CAN do is teach durable principles and teach students how to learn new tools fast. This is a constructivist view of curriculum, we’re not transferring knowledge, we’re building the scaffolding students need to construct their own ongoing learning.
TERMINOLOGY: “scaffolding” (Vygotsky’s zone of proximal development), “self-directed learning” (Knowles, andragogy). The middle and right columns of this slide are why I built Render. The tool will be obsolete in five years. The pattern of using AI to augment your own career planning won’t be.
LINE TO LAND: “We’re not teaching tools. We’re teaching the practice of learning new tools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AVC 248 intro (~60 sec)
Set the stage. The course is good. The problem isn’t the course.
DELIVERY:
“AVC 248 is the capstone for Digital Media Arts and Animation at GCC. It runs 16 weeks. It’s asynchronous online. Students leave with real artifacts: polished resumes, identity packages, portfolios, dozens of mock interview reps, working LinkedIn profiles, freelance contract templates.”
This sets up the problem. The problem is NOT that the course doesn’t produce good work. It does. The problem is what happens to that work the day after graduation.
PEDAGOGY TERMINOLOGY: This course uses backward design (Wiggins &amp; McTighe), we start with the artifacts a graduate needs and reverse-engineer the semester. It’s authentic assessment, every artifact is something they’ll use in their actual job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 Problem (~75 sec)
This is the central problem statement. Land it hard.
DELIVERY:
“Here’s the problem. Everything my students produce in AVC 248 lives in Canvas. Every draft. Every piece of feedback. Every discussion. Every rubric comment. On the morning after graduation, Canvas access is revoked. Discussion threads vanish. Comments vanish. Drafts vanish. What they’re left with is a folder of PDFs on their laptop, if they remembered to download them. That’s it. That’s their career launchpad.”
PAUSE. Let the slide do the work.
THIS IS THE WEDGE. Every educator in this room has the same problem with their LMS. Whatever system you use, student access ends. The work students make in our courses is locked inside our courses.
LINE TO LAND: “We’ve been doing this for thirty years and we haven’t fixed it. AI is the lever that lets us finally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Where Do I Start (~60 sec)
This slide is empathy. Slow down. The audience needs to feel this.
DELIVERY:
“Imagine you’ve just graduated. You have your degree. You have a portfolio. You spent 16 weeks doing intensive career prep. It’s Monday morning, the day after commencement. You sit down to start your job search. Where do you start? Which jobs were you interested in three weeks ago? What did your instructor say about your second resume draft? Which of those cover letter techniques worked? You can’t remember. None of it is in front of you.”
PEDAGOGY TERMINOLOGY: This is a transfer problem. Educational psychology talks about “near transfer” (applying knowledge in similar contexts) and “far transfer” (applying it in new contexts). The transition from being-a-student to being-a-job-seeker is exactly the kind of far transfer that historically fails.
The biggest predictor of self-directed learning success is having a structured external system that supports continued practice. Canvas is not that system. PDFs in a folder are not that system. Render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Vibe coding (~90 sec)
POSITION: This is the bridge slide. You just laid out the problem. Now you say “here’s how I tackled it.” Set up Render by setting up the workflow you used to build it.
OPENING:
“So when I saw this problem, the old me would have written a grant or hired a developer. The new me opened Claude and started typing. The workflow has a name. It’s called vibe coding. It’s writing software by describing what you want, in plain English, to an LLM, and iterating on what it gives back. You don’t need to know how to write the code. You need to know what you want and how to recognize when the output is right.”
WHERE THE TERM COMES FROM (point to the bottom of the right-side card):
“The phrase comes from Andrej Karpathy, co-founder of OpenAI. He posted on X in February 2025: ’There’s a new kind of coding I call vibe coding, where you fully give in to the vibes, embrace exponentials, and forget that the code even exists.’ That’s where the name lives. I’d push back a little on the ’forget the code even exists’ part, I do read what comes back, I do test it. But the spirit is right. You feel your way through it. You describe, you accept, you iterate.”
POINT TO THE PROMPT ON THE LEFT:
“Here’s roughly what my very first prompt looked like. Not the PRD, the PRD came later. This is the napkin sketch. I told Claude what class I teach, what I wanted to build, what should be in it, and what the constraints were, local-first, no login, first name only. From there, Claude proposed an architecture. I pushed back. We iterated. Two months later, a working prototype.”
THE LIBERATING POINT FOR EDUCATORS:
“You’re all faculty. Most of you are already prompting experts. You probably haven’t tried building a tool because you assumed you needed to be a developer. You don’t anymore. If you can write a good prompt, you can build a tool that solves a specific classroom problem. That’s the punchline I want you to leave with today.”
CALIBRATED HONESTY:
“I’ll show you the tool I built. But what I really want you to see is the workflow. The tool is one example. Your version of this could be a grading dashboard, a tutor for a specific course, an advising chatbot, anything you’ve been wishing existed for your class. The barrier just dropped through the floor.”
TERMS TO PLANT: “vibe coding”, “iterative prompting”, “intent specification”, “AI literacy as a meta-skill”.
TRANSITION: “OK. Let me show you what came out of this workflow. It’s called Render.” (next slide is Render section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Render section divider (~20 sec)
Transition. Take a breath. Switch energy.
“This is what I’m building. It’s called Render. It’s a prototype right now, not in production. I’m running my first real classroom pilot in Fall 2026, in AVC 248. What you’re about to see is what it looks like at the end of the Spring semester, before the summer iteration.”
“It’s a single web page. It lives on the student’s own computer. It uses an LLM, Anthropic’s Claude Sonnet 4, for the AI features. Everything stays local. Let me walk you through it.”
The next 8 slides are the walk-through. Pace yourself. About 90 seconds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Architecture (~90 sec)
This is the slide where you sound technically credible. Don’t gloss.
DELIVERY:
“Architecturally, Render is deliberately simple. It’s a single HTML file with vanilla JavaScript. No React, no Vue, no build step, no backend server, no database. All student data persists in browser localStorage on their own machine. The whole thing exports to a JSON file with one click. That JSON file is what they take with them. Move to a new laptop in five years? Drop the JSON file into Render, everything’s back.”
TERMINOLOGY TO USE: “local-first architecture”, “vanilla JavaScript”, “browser localStorage”, “Anthropic’s Claude Sonnet 4”, “LLM API calls”, “engineered prompts”, “FERPA-clean”.
THE KEY ARCHITECTURAL CHOICE: API keys are optional. With a key, AI runs live in the tool. Without a key, every AI button copies a carefully engineered prompt to clipboard and the student pastes it into whichever LLM they prefer. This is the “outlast” part: in five years when Render is forgotten, my graduates can still use these prompts with whatever AI exists then.
LINE TO LAND: “I don’t want to own anything that follows my students after they graduate. The data is theirs. The tool is theirs. The path to AI is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Three Students (~75 sec)
Quick intro to the personas. The audience needs to see Render isn’t one-size-fits-all.
DELIVERY:
“To make this concrete, I’m going to show you Render through three students. These are composite personas based on real students from my program. Maya is a brand designer doing the traditional job search. Riley is an established freelancer scaling up their character animation business. Marco is what we call a non-traditional student, eleven years in aerospace machining, retooling into 3D and game art at 42 years old.”
EMPHASIZE: Different time commitments. Maya has 21 hours a week, Riley 25, Marco only 16 because he’s still working full-time. Render adapts. The hour commitments are explicit in the tool. They become the budget for the weekly plan.
PEDAGOGY TERMINOLOGY: “differentiated instruction”, the same tool, different paths through it depending on prior knowledge and current constraints. This is what Render does, and it’s what good adjunct teaching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Profile + Goals (~75 sec)
WHAT TO SAY (use these talking points):
“This is the personal learning environment piece. Students set their own goals, identify their target market, declare how many hours per week they will commit. Render uses all of this as context that gets injected into every AI prompt for the rest of the semester.”
DELIVERY:
“Weeks 1 and 2 the student sets up their profile and goals. Name, program, graduation date, target job description, identity statement, weekly hour commitments. They fill this in once. They refer back to it all semester. And here’s the important part: every AI feature in Render injects this profile data as context in the LLM prompt. So when Maya asks Render to analyze a job description in week 9, the AI knows Maya’s a brand designer focused on studio work, not a generic ’student’.”
PEDAGOGY: This is the PLE, personal learning environment, made real. Each student’s tool is configured to themselves. It’s an authentic self-assessment that grounds the rest of the work.
AI TERMINOLOGY TO USE: “context injection”, “prompt engineering”, “PLE”, “self-determination”. The fact that every prompt is personalized to this student is what makes the AI outputs genuinely useful instead of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Job Search Hub (~90 sec)
THIS IS THE CENTRAL PANEL of the tool. Spend time here.
WHAT TO SAY:
“This is where students live. They save jobs from week 2 onward. Render generates AI search strings from their resume and saved jobs, then links to the right search engines for their track.”
EXTENDED DELIVERY:
“This is the most-used panel in Render. Students save jobs and freelance prospects from week 2 of the course all the way through graduation and beyond. Each saved job stores the full description, the URL, the company, salary, and the student’s notes about why they’re interested.”
“Render generates Boolean search strings from the student’s resume and the jobs they’ve already saved. The AI looks at what kind of work they’re targeting and builds search queries optimized for the right job boards. For Maya, that’s Indeed plus LinkedIn plus AIGA’s design job board plus Working Not Working. For Riley, ArtStation Jobs and GameJobs.co. For Marco, ArtStation plus Indeed plus CreativeHeads.”
AI TERMINOLOGY TO USE: “boolean query generation”, “few-shot prompting” (Render’s job-string prompt includes examples), “context retrieval” (it pulls from their saved jobs to refine future searches).
KEY MESSAGE: Render isn’t replacing job search engines. It’s giving the student a smarter way to query them, built on their actual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Resume Vault (~75 sec)
WHAT TO SAY:
“Four drafts across the semester, paced with my feedback. Then the AI tailors the resume per saved job. Authentic assessment becomes authentic application.”
EXTENDED DELIVERY:
“The course schedule has four resume drafts, paced every other week, with instructor feedback in between. Draft one is week 2, draft four is week 9. By the end of the semester each student has a polished, design-complete resume.”
“But a resume is only as good as how well it’s tailored to the specific job. Render’s AI takes the active resume and any saved job description and generates specific tailoring suggestions. Not generic ’use more action verbs.’ Specific. ’For the Boulder Field Studio role, lead with your brand identity work, demote the retail line, your Phoenix Children’s Museum internship is the strongest evidence, expand it to two bullets.’”
PEDAGOGY TERMS: “Authentic assessment”, students aren’t writing resumes for a grade, they’re writing them for jobs they want. The course schedule scaffolds the writing process. The LLM scaffolds the tailoring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Skills + Training (~90 sec)
THIS IS WHERE YOU TALK ABOUT AI EXPLICITLY. Big moment in the AI-summit context.
WHAT TO SAY:
“The AI compares the student’s skill stack against the requirements of jobs they’ve saved. It finds the gaps. Then it builds a weekly training plan with free resources only, plus AI skills woven in.”
EXTENDED DELIVERY:
“Render compares the student’s current skill stack against the requirements baked into the jobs they’ve saved. It identifies the gaps. Then it builds a weekly training plan using free or low-cost resources only. Coursera CalArts specializations are free to audit. Adobe’s own Learn portal is free. Blender Guru’s Donut Tutorial just got refreshed for Blender 5.0. Toon Boom’s official Learn portal is free. We use Udemy when courses go on sale, and LinkedIn Learning when students have library cards.”
KEY MESSAGE TO LAND:
“And I add AI literacy to every training plan. Not as a separate module, but woven into the existing tracks. The student studying brand design also gets a tutorial on using Claude for client brief refinement. The student studying animation also gets a tutorial on AI assistants for breakdown drawings. AI is the new HTML. I want my students to know it before their employer hands them a printout.”
This is THE moment in the talk where you signal that you’re pushing your students toward AI skills. Don’t be subtle about it.
PEDAGOGY TERMS: “Spiral curriculum” (Bruner), same concepts revisited at increasing complexity. AI features show up at multiple weeks at increasing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Interview Coach, current state (~2 minutes)
THIS IS HOW IT WORKS RIGHT NOW. Slide 20 covers the summer plans.
WHAT TO SAY (the short version):
“Today, this is text-based. The Coach reads the saved job, pulls top requirements, reads the student’s resume, then runs a multi-turn evaluation loop with per-answer coaching. The summer build adds voice and an agentic layer, more on that in a moment.”
OPEN WITH PRECISION:
“This is how the Interview Coach works today. It’s text-based. The student types their answers. There’s no voice mode yet, that’s the summer build.”
WHAT IT DOES NOW:
“When a student opens the Coach with a saved job, the system pulls the full job description, extracts the top six requirements, and pulls the student’s active resume. All of that becomes the context for the LLM. Then it generates a question set: a ’tell me about yourself’ opener, four STAR-format questions tied to the top requirements, and ’Do you have questions for me?’ as the closer.”
“The Coach plays an HR-level interviewer. After every answer it gives specific coaching feedback. Not ’great job.’ Something like ’you have Illustrator on your resume, you should mention it,’ or ’good story, but you didn’t connect it to a result, what was the outcome?’”
“That’s a multi-turn evaluation loop with per-answer feedback driven by their own resume and the actual job they’re chasing.”
CALIBRATED HONESTY ON THE WORD ’AGENT’:
“I want to be careful with the word agent at an AI summit. The current Interview Coach is a deterministic multi-turn loop. Full context known up front. It is NOT autonomously selecting tools, so calling it an agent in the strict sense would be overstating it. The summer build adds the agentic layer, that’s on the next slide.”
ON BIG INTERVIEW:
“And on Big Interview, our students have access to that platform through GCC during the class. Render is not integrated with Big Interview, and it’s not trying to be. Render is something they keep after the class, when Big Interview access ends.”
CURRENT STATE:
“This piece is coded, but no full class has used it yet. Fall 2026 is the first real test.”
PEDAGOGY TERMS TO USE: “context injection”, “multi-turn evaluation”, “scaffolded feedback”, “authentic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Weekly Plan (~60 sec)
WHAT TO SAY:
“The course built the habit. The tool ports the habit forward. Students adjust hour budgets when life happens. The streak counter is a light metacognitive nudge, not a punishment.”
EXTENDED DELIVERY:
“This is the part that matters after graduation. The Weekly Plan panel is where students live every Monday morning. They set their hour commitments, search, learn, portfolio, network. Render generates a weekly plan as a set of time blocks. Then at the end of the week they check in: did they hit it? Maybe they did, maybe one of their saved jobs turned into an interview and they spent the hours there instead. They adjust. The plan recomputes.”
“There’s a light gamification layer, a streak counter, a checkmark for hitting your weekly plan, a small celebration when they update a job to status ’hired.’ I deliberately kept this minimal. I’m not trying to build Duolingo. I’m trying to build a metacognitive cue.”
PEDAGOGY TERMS TO USE: “self-regulation”, “metacognition”, “formative self-assessment”. “Self-regulated learning” (Zimmerman, 2002). The three phases, forethought, performance, reflection, map directly to hour commitment, weekly execution, weekly check-in.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Final Dashboard (~75 sec)
DELIVERY (FRAME AS INTENT):
“This is the page intended to matter most. The idea: the student opens it on the Monday after commencement, the moment we started with. Where do I start? They open Render. The dashboard shows them what they produced over 16 weeks. Jobs they saved, applications they sent, interviews scheduled, resume drafts, their weekly streak. This week’s plan, already generated. They click any saved job to open the Interview Coach. They click any resume to tailor it.”
“The intent is that they don’t have to remember where they left off. The system remembers for them.”
HONEST CAVEAT (IMPORTANT):
“This is the design goal. No one has actually used it post-graduation yet. The Fall 2026 pilot is the first cohort whose post-graduation usage I’ll be able to observe. So I want to be careful here, what I’m showing you is the design intent, not validated behavior. If I’m standing here next year, I’ll be able to tell you whether students actually open it on Monday or not.”
This is an honest slide. Take a breath here. Don’t oversell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How I built this (~75 sec)
THE META MOMENT. The audience needs to know YOU used AI to build this.
DELIVERY:
“I want to be transparent about how this got built. I have a graphic design degree. I’m not a software engineer. I’m a Mac user with working knowledge of HTML, CSS, and a little JavaScript. This tool is roughly 5,000 lines of code.”
“I built it with Claude as my coding partner over about two months. Specifically, I’m using Claude Opus 4.7 through Anthropic’s Max subscription, that’s a hundred dollars a month, and yes, I pay for it myself. I wrote a product requirements document first, that’s the PRD, and Claude helped me think it through. Then we built it feature by feature. I’d describe what I wanted in plain English, Claude would propose the code, I’d test it, push back, iterate.”
“This matters because it changes who gets to build software for their classroom. Five years ago, this tool would have required a developer or a grant. Today, a faculty member with a design degree can prototype it for the price of a month’s coffee budget. That’s the unlock.”
PEDAGOGY POINT: “AI literacy” isn’t just teaching students to use AI. It’s modeling the workflow. The PRD-first, plain-English-spec, iterative-build workflow is the AI literacy. I built Render exactly the way I want my students to build their careers.
SETUP THE NEXT SLIDE: “I want to point you to the PRD where I planned all this out, and walk you through three features I’m building this summer.” (transition to What’s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What’s Next (~90 sec)
OPENING:
“Three features are planned for the Summer 2026 build cycle, scoped from Spring 2026 feedback. To be clear: these are planned. None of them are started yet. Then there’s a fourth thing on the list that isn’t a feature I’m building, it’s a behavior I’m hoping for.”
“If you want the long version of any of this, the PRD is on my GitHub site. I’ll share the link in the Q&amp;A slide.”
FEATURE 1, VOICE-MODE INTERVIEW COACH:
“First, voice mode for the Interview Coach. Today the Coach is text-based. Students type. The summer build adds spoken responses, Web Speech API for browser-native transcription, plus client-side audio analysis to flag filler words and pacing. The LLM grades content, delivery, and structure together.”
“On Big Interview: my students get access to Big Interview through GCC during the class. After the class ends, that access ends. Render’s voice mode is not meant to replace or compete with Big Interview during the class. It’s meant to be a practice option students still have after the class ends.”
FEATURE 2, LIVE COMPANY RESEARCH AGENT (THE STRICT-SENSE AGENT):
“Second, a live company research agent inside the Interview Coach. This would be the first feature in Render that justifies the term ’agent’ in its strict technical sense. The current Coach is a deterministic multi-turn loop with full context known up front. The company-research feature would add dynamic information retrieval via tool use, multi-source synthesis, and conditional question generation based on what the agent learns about the company in real time.”
FEATURE 3, DISTRICT-WIDE ROLLOUT (POSSIBILITY, NOT COMMITMENT):
“Third, district-wide rollout. I’ve been talking with the AI CIO at Maricopa about adapting Render for all ten colleges. School-picker pattern at launch. No central data store. Every student’s data still lives locally on their device. This is a conversation, not a commitment, and it depends on what happens in the Fall pilot at GCC.”
ITEM 4, STUDENTS VIBE-CODE THEIR OWN EXTENSIONS:
“And here’s the thing I’m most curious about. Once my students have used Render for a semester, they have a working knowledge of what’s in it and what they wish was in it. They can take the codebase and vibe-code their own additions. A freelance invoicing module if they’re going independent. A specific portfolio template generator for their target industry. Whatever the next thing is. They learn the tool by using it, then they learn to build by extending it. That’s the real AI literacy I’m chasing. I won’t know if any of them actually do this until Fall.”
PEDAGOGY POINT: “I’m planning out loud here, on purpose. This is what faculty-led AI product development looks like. PRD first. Pilot to learn. Iterate based on what actually happens with students. The whole thing is a hypothesis until Fall, when I find out whether students actually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Q&amp;A (~10 minutes)
Open the floor. Don’t lecture. Let the audience drive.
LIKELY QUESTIONS AND HOW TO HANDLE THEM:
Q: “How do students get an API key?”
A: “They don’t have to. Render works in ’copy prompt’ mode without any key, every AI button copies a carefully built prompt to clipboard and they paste it into Claude.ai or ChatGPT, both of which have free tiers. For students who want the live in-tool experience, Anthropic gives free API credits when you sign up.”
Q: “How do you grade something a student built outside Canvas?”
A: “I don’t grade Render itself. I grade the artifacts that come out of it, the resume drafts, the cover letters, the interview practice records. Render is a tool for producing the gradeable work, not the gradeable work itself.”
Q: “What about privacy?”
A: “Local-first by design. Nothing transmitted to any server I control. There’s a proposed Career Services pipeline that would send only anonymized employer info to a Google Sheet, no student names or IDs. That pipeline is built but not yet adopted, it’s a conversation with our Career Services office. FERPA considerations are documented in the PRD.”
Q: “Can I use this in my course?”
A: “It’s a prototype, not a polished product yet. The first real pilot is my own class in Fall 2026. If it works there, I’d love to share it more widely. Talk to me afterward and I’ll keep you posted.”
Q: “How is this different from Big Interview, Handshake, Coursera Career Services?”
A: “Those are commercial platforms that students access through the institution. Big Interview specifically, our students use it during the class through GCC’s license. When the class ends, that access ends. Render is something I’m hoping students will be able to keep after they lose institutional access. That’s the gap I’m trying to fill, not the gap those platforms already fill.”
Q: “What about hallucinations? Is the AI ever wrong?”
A: “Yes, sometimes. That’s why every AI output in Render is treated as a starting point, not a final answer. The student reviews and edits everything. The pedagogical value is in the dialogue between student and AI, not in the AI being correct. That dialogue itself is the AI literacy I’m trying to teach.”
Q: “How do you know any of this works?”
A: “Honestly, I don’t yet. The Fall 2026 pilot is the first real test. Spring 2026 was small-scale usability feedback only, not a structured study. I built this on a hypothesis, and the pilot is where the hypothesis gets tested. I’d rather tell you that than pretend the prototype is more than it is.”
CLOSING LINE if no more questions:
“Thanks for your time. The links are on this slide. If you want to talk shop afterward, find me in the hallway.”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3A63"/>
        </a:solidFill>
      </p:bgPr>
    </p:bg>
    <p:spTree>
      <p:nvGrpSpPr>
        <p:cNvPr id="1" name=""/>
        <p:cNvGrpSpPr/>
        <p:nvPr/>
      </p:nvGrpSpPr>
      <p:grpSpPr>
        <a:xfrm>
          <a:off x="0" y="0"/>
          <a:ext cx="0" cy="0"/>
          <a:chOff x="0" y="0"/>
          <a:chExt cx="0" cy="0"/>
        </a:xfrm>
      </p:grpSpPr>
      <p:sp>
        <p:nvSpPr>
          <p:cNvPr id="2" name="Shape 0"/>
          <p:cNvSpPr/>
          <p:nvPr/>
        </p:nvSpPr>
        <p:spPr>
          <a:xfrm>
            <a:off x="640080" y="1463040"/>
            <a:ext cx="91440" cy="3840480"/>
          </a:xfrm>
          <a:prstGeom prst="rect">
            <a:avLst/>
          </a:prstGeom>
          <a:solidFill>
            <a:srgbClr val="B8956A"/>
          </a:solidFill>
          <a:ln/>
        </p:spPr>
      </p:sp>
      <p:sp>
        <p:nvSpPr>
          <p:cNvPr id="3" name="Text 1"/>
          <p:cNvSpPr/>
          <p:nvPr/>
        </p:nvSpPr>
        <p:spPr>
          <a:xfrm>
            <a:off x="960120" y="1417320"/>
            <a:ext cx="8229600" cy="365760"/>
          </a:xfrm>
          <a:prstGeom prst="rect">
            <a:avLst/>
          </a:prstGeom>
          <a:noFill/>
          <a:ln/>
        </p:spPr>
        <p:txBody>
          <a:bodyPr wrap="square" rtlCol="0" anchor="ctr"/>
          <a:lstStyle/>
          <a:p>
            <a:pPr indent="0" marL="0">
              <a:buNone/>
            </a:pPr>
            <a:r>
              <a:rPr lang="en-US" sz="1200" b="1" spc="600" kern="0" dirty="0">
                <a:solidFill>
                  <a:srgbClr val="C4929E"/>
                </a:solidFill>
                <a:latin typeface="Calibri" pitchFamily="34" charset="0"/>
                <a:ea typeface="Calibri" pitchFamily="34" charset="-122"/>
                <a:cs typeface="Calibri" pitchFamily="34" charset="-120"/>
              </a:rPr>
              <a:t>MESA AI SUMMIT  ·  MAY 18, 2026</a:t>
            </a:r>
            <a:endParaRPr lang="en-US" sz="1200" dirty="0"/>
          </a:p>
        </p:txBody>
      </p:sp>
      <p:sp>
        <p:nvSpPr>
          <p:cNvPr id="4" name="Text 2"/>
          <p:cNvSpPr/>
          <p:nvPr/>
        </p:nvSpPr>
        <p:spPr>
          <a:xfrm>
            <a:off x="960120" y="1965960"/>
            <a:ext cx="8686800" cy="1188720"/>
          </a:xfrm>
          <a:prstGeom prst="rect">
            <a:avLst/>
          </a:prstGeom>
          <a:noFill/>
          <a:ln/>
        </p:spPr>
        <p:txBody>
          <a:bodyPr wrap="square" lIns="0" tIns="0" rIns="0" bIns="0" rtlCol="0" anchor="ctr"/>
          <a:lstStyle/>
          <a:p>
            <a:pPr indent="0" marL="0">
              <a:buNone/>
            </a:pPr>
            <a:r>
              <a:rPr lang="en-US" sz="5600" dirty="0">
                <a:solidFill>
                  <a:srgbClr val="FFFFFF"/>
                </a:solidFill>
                <a:latin typeface="Cambria" pitchFamily="34" charset="0"/>
                <a:ea typeface="Cambria" pitchFamily="34" charset="-122"/>
                <a:cs typeface="Cambria" pitchFamily="34" charset="-120"/>
              </a:rPr>
              <a:t>Building Career Tools</a:t>
            </a:r>
            <a:endParaRPr lang="en-US" sz="5600" dirty="0"/>
          </a:p>
        </p:txBody>
      </p:sp>
      <p:sp>
        <p:nvSpPr>
          <p:cNvPr id="5" name="Text 3"/>
          <p:cNvSpPr/>
          <p:nvPr/>
        </p:nvSpPr>
        <p:spPr>
          <a:xfrm>
            <a:off x="960120" y="2971800"/>
            <a:ext cx="9326880" cy="1188720"/>
          </a:xfrm>
          <a:prstGeom prst="rect">
            <a:avLst/>
          </a:prstGeom>
          <a:noFill/>
          <a:ln/>
        </p:spPr>
        <p:txBody>
          <a:bodyPr wrap="square" lIns="0" tIns="0" rIns="0" bIns="0" rtlCol="0" anchor="ctr"/>
          <a:lstStyle/>
          <a:p>
            <a:pPr indent="0" marL="0">
              <a:buNone/>
            </a:pPr>
            <a:r>
              <a:rPr lang="en-US" sz="5600" i="1" dirty="0">
                <a:solidFill>
                  <a:srgbClr val="C8B8D4"/>
                </a:solidFill>
                <a:latin typeface="Cambria" pitchFamily="34" charset="0"/>
                <a:ea typeface="Cambria" pitchFamily="34" charset="-122"/>
                <a:cs typeface="Cambria" pitchFamily="34" charset="-120"/>
              </a:rPr>
              <a:t>That Outlast the Semester</a:t>
            </a:r>
            <a:endParaRPr lang="en-US" sz="5600" dirty="0"/>
          </a:p>
        </p:txBody>
      </p:sp>
      <p:sp>
        <p:nvSpPr>
          <p:cNvPr id="6" name="Text 4"/>
          <p:cNvSpPr/>
          <p:nvPr/>
        </p:nvSpPr>
        <p:spPr>
          <a:xfrm>
            <a:off x="960120" y="4572000"/>
            <a:ext cx="10698480" cy="457200"/>
          </a:xfrm>
          <a:prstGeom prst="rect">
            <a:avLst/>
          </a:prstGeom>
          <a:noFill/>
          <a:ln/>
        </p:spPr>
        <p:txBody>
          <a:bodyPr wrap="square" rtlCol="0" anchor="ctr"/>
          <a:lstStyle/>
          <a:p>
            <a:pPr indent="0" marL="0">
              <a:buNone/>
            </a:pPr>
            <a:r>
              <a:rPr lang="en-US" sz="1700" i="1" dirty="0">
                <a:solidFill>
                  <a:srgbClr val="C8B8D4"/>
                </a:solidFill>
                <a:latin typeface="Calibri" pitchFamily="34" charset="0"/>
                <a:ea typeface="Calibri" pitchFamily="34" charset="-122"/>
                <a:cs typeface="Calibri" pitchFamily="34" charset="-120"/>
              </a:rPr>
              <a:t>How a Digital Media Arts faculty member is prototyping a free, local-first,</a:t>
            </a:r>
            <a:endParaRPr lang="en-US" sz="1700" dirty="0"/>
          </a:p>
        </p:txBody>
      </p:sp>
      <p:sp>
        <p:nvSpPr>
          <p:cNvPr id="7" name="Text 5"/>
          <p:cNvSpPr/>
          <p:nvPr/>
        </p:nvSpPr>
        <p:spPr>
          <a:xfrm>
            <a:off x="960120" y="4983480"/>
            <a:ext cx="10698480" cy="457200"/>
          </a:xfrm>
          <a:prstGeom prst="rect">
            <a:avLst/>
          </a:prstGeom>
          <a:noFill/>
          <a:ln/>
        </p:spPr>
        <p:txBody>
          <a:bodyPr wrap="square" rtlCol="0" anchor="ctr"/>
          <a:lstStyle/>
          <a:p>
            <a:pPr indent="0" marL="0">
              <a:buNone/>
            </a:pPr>
            <a:r>
              <a:rPr lang="en-US" sz="1700" i="1" dirty="0">
                <a:solidFill>
                  <a:srgbClr val="C8B8D4"/>
                </a:solidFill>
                <a:latin typeface="Calibri" pitchFamily="34" charset="0"/>
                <a:ea typeface="Calibri" pitchFamily="34" charset="-122"/>
                <a:cs typeface="Calibri" pitchFamily="34" charset="-120"/>
              </a:rPr>
              <a:t>AI-augmented career dashboard for students to keep after graduation.</a:t>
            </a:r>
            <a:endParaRPr lang="en-US" sz="1700" dirty="0"/>
          </a:p>
        </p:txBody>
      </p:sp>
      <p:sp>
        <p:nvSpPr>
          <p:cNvPr id="8" name="Text 6"/>
          <p:cNvSpPr/>
          <p:nvPr/>
        </p:nvSpPr>
        <p:spPr>
          <a:xfrm>
            <a:off x="960120" y="5715000"/>
            <a:ext cx="7315200" cy="36576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Michelle Blomberg</a:t>
            </a:r>
            <a:endParaRPr lang="en-US" sz="1800" dirty="0"/>
          </a:p>
        </p:txBody>
      </p:sp>
      <p:sp>
        <p:nvSpPr>
          <p:cNvPr id="9" name="Text 7"/>
          <p:cNvSpPr/>
          <p:nvPr/>
        </p:nvSpPr>
        <p:spPr>
          <a:xfrm>
            <a:off x="960120" y="6080760"/>
            <a:ext cx="10058400" cy="365760"/>
          </a:xfrm>
          <a:prstGeom prst="rect">
            <a:avLst/>
          </a:prstGeom>
          <a:noFill/>
          <a:ln/>
        </p:spPr>
        <p:txBody>
          <a:bodyPr wrap="square" rtlCol="0" anchor="ctr"/>
          <a:lstStyle/>
          <a:p>
            <a:pPr indent="0" marL="0">
              <a:buNone/>
            </a:pPr>
            <a:r>
              <a:rPr lang="en-US" sz="1300" dirty="0">
                <a:solidFill>
                  <a:srgbClr val="C8B8D4"/>
                </a:solidFill>
                <a:latin typeface="Calibri" pitchFamily="34" charset="0"/>
                <a:ea typeface="Calibri" pitchFamily="34" charset="-122"/>
                <a:cs typeface="Calibri" pitchFamily="34" charset="-120"/>
              </a:rPr>
              <a:t>Residential Faculty, Digital Media Arts  ·  Glendale Community College</a:t>
            </a:r>
            <a:endParaRPr lang="en-US" sz="1300" dirty="0"/>
          </a:p>
        </p:txBody>
      </p:sp>
      <p:sp>
        <p:nvSpPr>
          <p:cNvPr id="10" name="Shape 8"/>
          <p:cNvSpPr/>
          <p:nvPr/>
        </p:nvSpPr>
        <p:spPr>
          <a:xfrm>
            <a:off x="9738360" y="1874520"/>
            <a:ext cx="1874520" cy="1874520"/>
          </a:xfrm>
          <a:prstGeom prst="ellipse">
            <a:avLst/>
          </a:prstGeom>
          <a:solidFill>
            <a:srgbClr val="B8956A"/>
          </a:solidFill>
          <a:ln/>
        </p:spPr>
      </p:sp>
      <p:pic>
        <p:nvPicPr>
          <p:cNvPr id="11" name="Image 0" descr="/home/claude/deck-work/blomberg_circle.jpg"/>
          <p:cNvPicPr>
            <a:picLocks noChangeAspect="1"/>
          </p:cNvPicPr>
          <p:nvPr/>
        </p:nvPicPr>
        <p:blipFill>
          <a:blip r:embed="rId1"/>
          <a:stretch>
            <a:fillRect/>
          </a:stretch>
        </p:blipFill>
        <p:spPr>
          <a:xfrm>
            <a:off x="9784080" y="1920240"/>
            <a:ext cx="1783080" cy="178308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2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HELLO</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I’m Michelle.</a:t>
            </a:r>
            <a:endParaRPr lang="en-US" sz="4200" dirty="0"/>
          </a:p>
        </p:txBody>
      </p:sp>
      <p:sp>
        <p:nvSpPr>
          <p:cNvPr id="7" name="Text 5"/>
          <p:cNvSpPr/>
          <p:nvPr/>
        </p:nvSpPr>
        <p:spPr>
          <a:xfrm>
            <a:off x="548640" y="2286000"/>
            <a:ext cx="7772400" cy="3931920"/>
          </a:xfrm>
          <a:prstGeom prst="rect">
            <a:avLst/>
          </a:prstGeom>
          <a:noFill/>
          <a:ln/>
        </p:spPr>
        <p:txBody>
          <a:bodyPr wrap="square" rtlCol="0" anchor="ctr"/>
          <a:lstStyle/>
          <a:p>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xml:space="preserve">Residential faculty in </a:t>
            </a:r>
            <a:pPr indent="0" marL="0">
              <a:spcAft>
                <a:spcPts val="800"/>
              </a:spcAft>
              <a:buNone/>
            </a:pPr>
            <a:r>
              <a:rPr lang="en-US" sz="1700" b="1" dirty="0">
                <a:solidFill>
                  <a:srgbClr val="2A2025"/>
                </a:solidFill>
                <a:latin typeface="Calibri" pitchFamily="34" charset="0"/>
                <a:ea typeface="Calibri" pitchFamily="34" charset="-122"/>
                <a:cs typeface="Calibri" pitchFamily="34" charset="-120"/>
              </a:rPr>
              <a:t>Digital Media Arts</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xml:space="preserve"> at GCC. I started teaching as an adjunct in 1998, joined GCC in 2004 as Director of Instructional Technology, and have been full-time faculty here since 2010.</a:t>
            </a:r>
            <a:endParaRPr lang="en-US" sz="1700" dirty="0"/>
          </a:p>
          <a:p>
            <a:pPr indent="0" marL="0">
              <a:spcAft>
                <a:spcPts val="800"/>
              </a:spcAft>
              <a:buNone/>
            </a:pPr>
            <a:endParaRPr lang="en-US" sz="1700" dirty="0"/>
          </a:p>
          <a:p>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xml:space="preserve">I also spent time in EdTech product management at a startup in the late 1990s.</a:t>
            </a:r>
            <a:endParaRPr lang="en-US" sz="1700" dirty="0"/>
          </a:p>
          <a:p>
            <a:pPr indent="0" marL="0">
              <a:spcAft>
                <a:spcPts val="800"/>
              </a:spcAft>
              <a:buNone/>
            </a:pPr>
            <a:endParaRPr lang="en-US" sz="1700" dirty="0"/>
          </a:p>
          <a:p>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xml:space="preserve">MEd from NAU, 2017. My research was on </a:t>
            </a:r>
            <a:pPr indent="0" marL="0">
              <a:spcAft>
                <a:spcPts val="800"/>
              </a:spcAft>
              <a:buNone/>
            </a:pPr>
            <a:r>
              <a:rPr lang="en-US" sz="1700" b="1" i="1" dirty="0">
                <a:solidFill>
                  <a:srgbClr val="7A5080"/>
                </a:solidFill>
                <a:latin typeface="Calibri" pitchFamily="34" charset="0"/>
                <a:ea typeface="Calibri" pitchFamily="34" charset="-122"/>
                <a:cs typeface="Calibri" pitchFamily="34" charset="-120"/>
              </a:rPr>
              <a:t>connectivism</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xml:space="preserve"> and </a:t>
            </a:r>
            <a:pPr indent="0" marL="0">
              <a:spcAft>
                <a:spcPts val="800"/>
              </a:spcAft>
              <a:buNone/>
            </a:pPr>
            <a:r>
              <a:rPr lang="en-US" sz="1700" b="1" i="1" dirty="0">
                <a:solidFill>
                  <a:srgbClr val="7A5080"/>
                </a:solidFill>
                <a:latin typeface="Calibri" pitchFamily="34" charset="0"/>
                <a:ea typeface="Calibri" pitchFamily="34" charset="-122"/>
                <a:cs typeface="Calibri" pitchFamily="34" charset="-120"/>
              </a:rPr>
              <a:t>personal learning environments.</a:t>
            </a:r>
            <a:pPr indent="0" marL="0">
              <a:spcAft>
                <a:spcPts val="800"/>
              </a:spcAft>
              <a:buNone/>
            </a:pPr>
            <a:r>
              <a:rPr lang="en-US" sz="1700" dirty="0">
                <a:solidFill>
                  <a:srgbClr val="2A2025"/>
                </a:solidFill>
                <a:latin typeface="Calibri" pitchFamily="34" charset="0"/>
                <a:ea typeface="Calibri" pitchFamily="34" charset="-122"/>
                <a:cs typeface="Calibri" pitchFamily="34" charset="-120"/>
              </a:rPr>
              <a:t xml:space="preserve"> That’s the theoretical foundation under everything I’m showing you today.</a:t>
            </a:r>
            <a:endParaRPr lang="en-US" sz="1700" dirty="0"/>
          </a:p>
        </p:txBody>
      </p:sp>
      <p:sp>
        <p:nvSpPr>
          <p:cNvPr id="8" name="Shape 6"/>
          <p:cNvSpPr/>
          <p:nvPr/>
        </p:nvSpPr>
        <p:spPr>
          <a:xfrm>
            <a:off x="8778240" y="2286000"/>
            <a:ext cx="2834640" cy="105156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8778240" y="2286000"/>
            <a:ext cx="73152" cy="1051560"/>
          </a:xfrm>
          <a:prstGeom prst="rect">
            <a:avLst/>
          </a:prstGeom>
          <a:solidFill>
            <a:srgbClr val="7A5080"/>
          </a:solidFill>
          <a:ln/>
        </p:spPr>
      </p:sp>
      <p:sp>
        <p:nvSpPr>
          <p:cNvPr id="10" name="Text 8"/>
          <p:cNvSpPr/>
          <p:nvPr/>
        </p:nvSpPr>
        <p:spPr>
          <a:xfrm>
            <a:off x="9006840" y="2423160"/>
            <a:ext cx="2651760" cy="50292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28</a:t>
            </a:r>
            <a:endParaRPr lang="en-US" sz="2800" dirty="0"/>
          </a:p>
        </p:txBody>
      </p:sp>
      <p:sp>
        <p:nvSpPr>
          <p:cNvPr id="11" name="Text 9"/>
          <p:cNvSpPr/>
          <p:nvPr/>
        </p:nvSpPr>
        <p:spPr>
          <a:xfrm>
            <a:off x="9006840" y="2926080"/>
            <a:ext cx="2651760" cy="365760"/>
          </a:xfrm>
          <a:prstGeom prst="rect">
            <a:avLst/>
          </a:prstGeom>
          <a:noFill/>
          <a:ln/>
        </p:spPr>
        <p:txBody>
          <a:bodyPr wrap="square" lIns="0" tIns="0" rIns="0" bIns="0" rtlCol="0" anchor="ctr"/>
          <a:lstStyle/>
          <a:p>
            <a:pPr indent="0" marL="0">
              <a:buNone/>
            </a:pPr>
            <a:r>
              <a:rPr lang="en-US" sz="1100" dirty="0">
                <a:solidFill>
                  <a:srgbClr val="8A7E83"/>
                </a:solidFill>
                <a:latin typeface="Calibri" pitchFamily="34" charset="0"/>
                <a:ea typeface="Calibri" pitchFamily="34" charset="-122"/>
                <a:cs typeface="Calibri" pitchFamily="34" charset="-120"/>
              </a:rPr>
              <a:t>Years in higher ed</a:t>
            </a:r>
            <a:endParaRPr lang="en-US" sz="1100" dirty="0"/>
          </a:p>
        </p:txBody>
      </p:sp>
      <p:sp>
        <p:nvSpPr>
          <p:cNvPr id="12" name="Shape 10"/>
          <p:cNvSpPr/>
          <p:nvPr/>
        </p:nvSpPr>
        <p:spPr>
          <a:xfrm>
            <a:off x="8778240" y="3520440"/>
            <a:ext cx="2834640" cy="105156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3" name="Shape 11"/>
          <p:cNvSpPr/>
          <p:nvPr/>
        </p:nvSpPr>
        <p:spPr>
          <a:xfrm>
            <a:off x="8778240" y="3520440"/>
            <a:ext cx="73152" cy="1051560"/>
          </a:xfrm>
          <a:prstGeom prst="rect">
            <a:avLst/>
          </a:prstGeom>
          <a:solidFill>
            <a:srgbClr val="6B8F6E"/>
          </a:solidFill>
          <a:ln/>
        </p:spPr>
      </p:sp>
      <p:sp>
        <p:nvSpPr>
          <p:cNvPr id="14" name="Text 12"/>
          <p:cNvSpPr/>
          <p:nvPr/>
        </p:nvSpPr>
        <p:spPr>
          <a:xfrm>
            <a:off x="9006840" y="3657600"/>
            <a:ext cx="2651760" cy="50292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22</a:t>
            </a:r>
            <a:endParaRPr lang="en-US" sz="2800" dirty="0"/>
          </a:p>
        </p:txBody>
      </p:sp>
      <p:sp>
        <p:nvSpPr>
          <p:cNvPr id="15" name="Text 13"/>
          <p:cNvSpPr/>
          <p:nvPr/>
        </p:nvSpPr>
        <p:spPr>
          <a:xfrm>
            <a:off x="9006840" y="4160520"/>
            <a:ext cx="2651760" cy="365760"/>
          </a:xfrm>
          <a:prstGeom prst="rect">
            <a:avLst/>
          </a:prstGeom>
          <a:noFill/>
          <a:ln/>
        </p:spPr>
        <p:txBody>
          <a:bodyPr wrap="square" lIns="0" tIns="0" rIns="0" bIns="0" rtlCol="0" anchor="ctr"/>
          <a:lstStyle/>
          <a:p>
            <a:pPr indent="0" marL="0">
              <a:buNone/>
            </a:pPr>
            <a:r>
              <a:rPr lang="en-US" sz="1100" dirty="0">
                <a:solidFill>
                  <a:srgbClr val="8A7E83"/>
                </a:solidFill>
                <a:latin typeface="Calibri" pitchFamily="34" charset="0"/>
                <a:ea typeface="Calibri" pitchFamily="34" charset="-122"/>
                <a:cs typeface="Calibri" pitchFamily="34" charset="-120"/>
              </a:rPr>
              <a:t>Years teaching, adjunct + FT</a:t>
            </a:r>
            <a:endParaRPr lang="en-US" sz="1100" dirty="0"/>
          </a:p>
        </p:txBody>
      </p:sp>
      <p:sp>
        <p:nvSpPr>
          <p:cNvPr id="16" name="Shape 14"/>
          <p:cNvSpPr/>
          <p:nvPr/>
        </p:nvSpPr>
        <p:spPr>
          <a:xfrm>
            <a:off x="8778240" y="4754880"/>
            <a:ext cx="2834640" cy="105156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7" name="Shape 15"/>
          <p:cNvSpPr/>
          <p:nvPr/>
        </p:nvSpPr>
        <p:spPr>
          <a:xfrm>
            <a:off x="8778240" y="4754880"/>
            <a:ext cx="73152" cy="1051560"/>
          </a:xfrm>
          <a:prstGeom prst="rect">
            <a:avLst/>
          </a:prstGeom>
          <a:solidFill>
            <a:srgbClr val="B8956A"/>
          </a:solidFill>
          <a:ln/>
        </p:spPr>
      </p:sp>
      <p:sp>
        <p:nvSpPr>
          <p:cNvPr id="18" name="Text 16"/>
          <p:cNvSpPr/>
          <p:nvPr/>
        </p:nvSpPr>
        <p:spPr>
          <a:xfrm>
            <a:off x="9006840" y="4892040"/>
            <a:ext cx="2651760" cy="50292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6</a:t>
            </a:r>
            <a:endParaRPr lang="en-US" sz="2800" dirty="0"/>
          </a:p>
        </p:txBody>
      </p:sp>
      <p:sp>
        <p:nvSpPr>
          <p:cNvPr id="19" name="Text 17"/>
          <p:cNvSpPr/>
          <p:nvPr/>
        </p:nvSpPr>
        <p:spPr>
          <a:xfrm>
            <a:off x="9006840" y="5394960"/>
            <a:ext cx="2651760" cy="365760"/>
          </a:xfrm>
          <a:prstGeom prst="rect">
            <a:avLst/>
          </a:prstGeom>
          <a:noFill/>
          <a:ln/>
        </p:spPr>
        <p:txBody>
          <a:bodyPr wrap="square" lIns="0" tIns="0" rIns="0" bIns="0" rtlCol="0" anchor="ctr"/>
          <a:lstStyle/>
          <a:p>
            <a:pPr indent="0" marL="0">
              <a:buNone/>
            </a:pPr>
            <a:r>
              <a:rPr lang="en-US" sz="1100" dirty="0">
                <a:solidFill>
                  <a:srgbClr val="8A7E83"/>
                </a:solidFill>
                <a:latin typeface="Calibri" pitchFamily="34" charset="0"/>
                <a:ea typeface="Calibri" pitchFamily="34" charset="-122"/>
                <a:cs typeface="Calibri" pitchFamily="34" charset="-120"/>
              </a:rPr>
              <a:t>Years in Instructional Technology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3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WHY THIS MATTERS TO ME</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1995.</a:t>
            </a:r>
            <a:endParaRPr lang="en-US" sz="4200" dirty="0"/>
          </a:p>
        </p:txBody>
      </p:sp>
      <p:sp>
        <p:nvSpPr>
          <p:cNvPr id="7" name="Text 5"/>
          <p:cNvSpPr/>
          <p:nvPr/>
        </p:nvSpPr>
        <p:spPr>
          <a:xfrm>
            <a:off x="548640" y="2286000"/>
            <a:ext cx="10972800" cy="1005840"/>
          </a:xfrm>
          <a:prstGeom prst="rect">
            <a:avLst/>
          </a:prstGeom>
          <a:noFill/>
          <a:ln/>
        </p:spPr>
        <p:txBody>
          <a:bodyPr wrap="square" rtlCol="0" anchor="ctr"/>
          <a:lstStyle/>
          <a:p>
            <a:pPr indent="0" marL="0">
              <a:buNone/>
            </a:pPr>
            <a:r>
              <a:rPr lang="en-US" sz="1800" dirty="0">
                <a:solidFill>
                  <a:srgbClr val="2A2025"/>
                </a:solidFill>
                <a:latin typeface="Calibri" pitchFamily="34" charset="0"/>
                <a:ea typeface="Calibri" pitchFamily="34" charset="-122"/>
                <a:cs typeface="Calibri" pitchFamily="34" charset="-120"/>
              </a:rPr>
              <a:t xml:space="preserve">I had just graduated with a degree in </a:t>
            </a:r>
            <a:pPr indent="0" marL="0">
              <a:buNone/>
            </a:pPr>
            <a:r>
              <a:rPr lang="en-US" sz="1800" b="1" dirty="0">
                <a:solidFill>
                  <a:srgbClr val="2A2025"/>
                </a:solidFill>
                <a:latin typeface="Calibri" pitchFamily="34" charset="0"/>
                <a:ea typeface="Calibri" pitchFamily="34" charset="-122"/>
                <a:cs typeface="Calibri" pitchFamily="34" charset="-120"/>
              </a:rPr>
              <a:t>graphic design</a:t>
            </a:r>
            <a:pPr indent="0" marL="0">
              <a:buNone/>
            </a:pPr>
            <a:r>
              <a:rPr lang="en-US" sz="1800" dirty="0">
                <a:solidFill>
                  <a:srgbClr val="2A2025"/>
                </a:solidFill>
                <a:latin typeface="Calibri" pitchFamily="34" charset="0"/>
                <a:ea typeface="Calibri" pitchFamily="34" charset="-122"/>
                <a:cs typeface="Calibri" pitchFamily="34" charset="-120"/>
              </a:rPr>
              <a:t>. My first day at a Fortune 100 company, a colleague handed me a printout and said:</a:t>
            </a:r>
            <a:endParaRPr lang="en-US" sz="1800" dirty="0"/>
          </a:p>
        </p:txBody>
      </p:sp>
      <p:sp>
        <p:nvSpPr>
          <p:cNvPr id="8" name="Shape 6"/>
          <p:cNvSpPr/>
          <p:nvPr/>
        </p:nvSpPr>
        <p:spPr>
          <a:xfrm>
            <a:off x="1371600" y="3520440"/>
            <a:ext cx="9418320" cy="1463040"/>
          </a:xfrm>
          <a:prstGeom prst="rect">
            <a:avLst/>
          </a:prstGeom>
          <a:solidFill>
            <a:srgbClr val="FFFFFF"/>
          </a:solidFill>
          <a:ln w="19050">
            <a:solidFill>
              <a:srgbClr val="7A5080"/>
            </a:solidFill>
            <a:prstDash val="solid"/>
          </a:ln>
          <a:effectLst>
            <a:outerShdw sx="100000" sy="100000" kx="0" ky="0" algn="bl" rotWithShape="0" blurRad="101600" dist="25400" dir="8100000">
              <a:srgbClr val="000000">
                <a:alpha val="8000"/>
              </a:srgbClr>
            </a:outerShdw>
          </a:effectLst>
        </p:spPr>
      </p:sp>
      <p:sp>
        <p:nvSpPr>
          <p:cNvPr id="9" name="Text 7"/>
          <p:cNvSpPr/>
          <p:nvPr/>
        </p:nvSpPr>
        <p:spPr>
          <a:xfrm>
            <a:off x="1371600" y="3520440"/>
            <a:ext cx="9418320" cy="1463040"/>
          </a:xfrm>
          <a:prstGeom prst="rect">
            <a:avLst/>
          </a:prstGeom>
          <a:noFill/>
          <a:ln/>
        </p:spPr>
        <p:txBody>
          <a:bodyPr wrap="square" rtlCol="0" anchor="ctr"/>
          <a:lstStyle/>
          <a:p>
            <a:pPr algn="ctr" indent="0" marL="0">
              <a:buNone/>
            </a:pPr>
            <a:r>
              <a:rPr lang="en-US" sz="4400" i="1" dirty="0">
                <a:solidFill>
                  <a:srgbClr val="7A5080"/>
                </a:solidFill>
                <a:latin typeface="Cambria" pitchFamily="34" charset="0"/>
                <a:ea typeface="Cambria" pitchFamily="34" charset="-122"/>
                <a:cs typeface="Cambria" pitchFamily="34" charset="-120"/>
              </a:rPr>
              <a:t>“Here’s HTML. Learn it.”</a:t>
            </a:r>
            <a:endParaRPr lang="en-US" sz="4400" dirty="0"/>
          </a:p>
        </p:txBody>
      </p:sp>
      <p:sp>
        <p:nvSpPr>
          <p:cNvPr id="10" name="Text 8"/>
          <p:cNvSpPr/>
          <p:nvPr/>
        </p:nvSpPr>
        <p:spPr>
          <a:xfrm>
            <a:off x="548640" y="5029200"/>
            <a:ext cx="10972800" cy="1188720"/>
          </a:xfrm>
          <a:prstGeom prst="rect">
            <a:avLst/>
          </a:prstGeom>
          <a:noFill/>
          <a:ln/>
        </p:spPr>
        <p:txBody>
          <a:bodyPr wrap="square" rtlCol="0" anchor="ctr"/>
          <a:lstStyle/>
          <a:p>
            <a:pPr indent="0" marL="0">
              <a:buNone/>
            </a:pPr>
            <a:r>
              <a:rPr lang="en-US" sz="1700" dirty="0">
                <a:solidFill>
                  <a:srgbClr val="2A2025"/>
                </a:solidFill>
                <a:latin typeface="Calibri" pitchFamily="34" charset="0"/>
                <a:ea typeface="Calibri" pitchFamily="34" charset="-122"/>
                <a:cs typeface="Calibri" pitchFamily="34" charset="-120"/>
              </a:rPr>
              <a:t xml:space="preserve">He had a server under his desk and the website already started. I learned HTML in a week and we shipped </a:t>
            </a:r>
            <a:pPr indent="0" marL="0">
              <a:buNone/>
            </a:pPr>
            <a:r>
              <a:rPr lang="en-US" sz="1700" b="1" dirty="0">
                <a:solidFill>
                  <a:srgbClr val="2A2025"/>
                </a:solidFill>
                <a:latin typeface="Calibri" pitchFamily="34" charset="0"/>
                <a:ea typeface="Calibri" pitchFamily="34" charset="-122"/>
                <a:cs typeface="Calibri" pitchFamily="34" charset="-120"/>
              </a:rPr>
              <a:t>one of the first Fortune 100 websites on the internet.</a:t>
            </a:r>
            <a:pPr indent="0" marL="0">
              <a:buNone/>
            </a:pPr>
            <a:endParaRPr lang="en-US" sz="1700" dirty="0"/>
          </a:p>
          <a:p>
            <a:pPr indent="0" marL="0">
              <a:buNone/>
            </a:pPr>
            <a:endParaRPr lang="en-US" sz="1700" dirty="0"/>
          </a:p>
          <a:p>
            <a:pPr indent="0" marL="0">
              <a:buNone/>
            </a:pPr>
            <a:r>
              <a:rPr lang="en-US" sz="1700" i="1" dirty="0">
                <a:solidFill>
                  <a:srgbClr val="7A5080"/>
                </a:solidFill>
                <a:latin typeface="Calibri" pitchFamily="34" charset="0"/>
                <a:ea typeface="Calibri" pitchFamily="34" charset="-122"/>
                <a:cs typeface="Calibri" pitchFamily="34" charset="-120"/>
              </a:rPr>
              <a:t>Web design wasn’t a thing when I was in college. I learned a tool that didn’t exist when I was a student. In a creative field, that is not a one-time event. It is the normal condition of the work.</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4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WHAT THAT TAUGHT ME</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The fundamentals stay.</a:t>
            </a:r>
            <a:endParaRPr lang="en-US" sz="4200" dirty="0"/>
          </a:p>
        </p:txBody>
      </p:sp>
      <p:sp>
        <p:nvSpPr>
          <p:cNvPr id="7" name="Text 5"/>
          <p:cNvSpPr/>
          <p:nvPr/>
        </p:nvSpPr>
        <p:spPr>
          <a:xfrm>
            <a:off x="548640" y="1965960"/>
            <a:ext cx="10972800" cy="640080"/>
          </a:xfrm>
          <a:prstGeom prst="rect">
            <a:avLst/>
          </a:prstGeom>
          <a:noFill/>
          <a:ln/>
        </p:spPr>
        <p:txBody>
          <a:bodyPr wrap="square" lIns="0" tIns="0" rIns="0" bIns="0" rtlCol="0" anchor="ctr"/>
          <a:lstStyle/>
          <a:p>
            <a:pPr indent="0" marL="0">
              <a:buNone/>
            </a:pPr>
            <a:r>
              <a:rPr lang="en-US" sz="2800" i="1" dirty="0">
                <a:solidFill>
                  <a:srgbClr val="7A5080"/>
                </a:solidFill>
                <a:latin typeface="Cambria" pitchFamily="34" charset="0"/>
                <a:ea typeface="Cambria" pitchFamily="34" charset="-122"/>
                <a:cs typeface="Cambria" pitchFamily="34" charset="-120"/>
              </a:rPr>
              <a:t>The tools always change.</a:t>
            </a:r>
            <a:endParaRPr lang="en-US" sz="2800" dirty="0"/>
          </a:p>
        </p:txBody>
      </p:sp>
      <p:sp>
        <p:nvSpPr>
          <p:cNvPr id="8" name="Shape 6"/>
          <p:cNvSpPr/>
          <p:nvPr/>
        </p:nvSpPr>
        <p:spPr>
          <a:xfrm>
            <a:off x="548640" y="3383280"/>
            <a:ext cx="3611880" cy="292608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548640" y="3383280"/>
            <a:ext cx="3611880" cy="128016"/>
          </a:xfrm>
          <a:prstGeom prst="rect">
            <a:avLst/>
          </a:prstGeom>
          <a:solidFill>
            <a:srgbClr val="7A5080"/>
          </a:solidFill>
          <a:ln/>
        </p:spPr>
      </p:sp>
      <p:pic>
        <p:nvPicPr>
          <p:cNvPr id="10" name="Image 0" descr="preencoded.png"/>
          <p:cNvPicPr>
            <a:picLocks noChangeAspect="1"/>
          </p:cNvPicPr>
          <p:nvPr/>
        </p:nvPicPr>
        <p:blipFill>
          <a:blip r:embed="rId1"/>
          <a:stretch>
            <a:fillRect/>
          </a:stretch>
        </p:blipFill>
        <p:spPr>
          <a:xfrm>
            <a:off x="868680" y="3657600"/>
            <a:ext cx="502920" cy="502920"/>
          </a:xfrm>
          <a:prstGeom prst="rect">
            <a:avLst/>
          </a:prstGeom>
        </p:spPr>
      </p:pic>
      <p:sp>
        <p:nvSpPr>
          <p:cNvPr id="11" name="Text 8"/>
          <p:cNvSpPr/>
          <p:nvPr/>
        </p:nvSpPr>
        <p:spPr>
          <a:xfrm>
            <a:off x="868680" y="4251960"/>
            <a:ext cx="2971800" cy="457200"/>
          </a:xfrm>
          <a:prstGeom prst="rect">
            <a:avLst/>
          </a:prstGeom>
          <a:noFill/>
          <a:ln/>
        </p:spPr>
        <p:txBody>
          <a:bodyPr wrap="square" lIns="0" tIns="0" rIns="0" bIns="0" rtlCol="0" anchor="ctr"/>
          <a:lstStyle/>
          <a:p>
            <a:pPr indent="0" marL="0">
              <a:buNone/>
            </a:pPr>
            <a:r>
              <a:rPr lang="en-US" sz="1900" b="1" dirty="0">
                <a:solidFill>
                  <a:srgbClr val="2A2025"/>
                </a:solidFill>
                <a:latin typeface="Cambria" pitchFamily="34" charset="0"/>
                <a:ea typeface="Cambria" pitchFamily="34" charset="-122"/>
                <a:cs typeface="Cambria" pitchFamily="34" charset="-120"/>
              </a:rPr>
              <a:t>Design principles</a:t>
            </a:r>
            <a:endParaRPr lang="en-US" sz="1900" dirty="0"/>
          </a:p>
        </p:txBody>
      </p:sp>
      <p:sp>
        <p:nvSpPr>
          <p:cNvPr id="12" name="Text 9"/>
          <p:cNvSpPr/>
          <p:nvPr/>
        </p:nvSpPr>
        <p:spPr>
          <a:xfrm>
            <a:off x="868680" y="4754880"/>
            <a:ext cx="2971800" cy="1463040"/>
          </a:xfrm>
          <a:prstGeom prst="rect">
            <a:avLst/>
          </a:prstGeom>
          <a:noFill/>
          <a:ln/>
        </p:spPr>
        <p:txBody>
          <a:bodyPr wrap="square" lIns="0" tIns="0" rIns="0" bIns="0" rtlCol="0" anchor="t"/>
          <a:lstStyle/>
          <a:p>
            <a:pPr indent="0" marL="0">
              <a:buNone/>
            </a:pPr>
            <a:r>
              <a:rPr lang="en-US" sz="1350" dirty="0">
                <a:solidFill>
                  <a:srgbClr val="2A2025"/>
                </a:solidFill>
                <a:latin typeface="Calibri" pitchFamily="34" charset="0"/>
                <a:ea typeface="Calibri" pitchFamily="34" charset="-122"/>
                <a:cs typeface="Calibri" pitchFamily="34" charset="-120"/>
              </a:rPr>
              <a:t>Grid, hierarchy, typography, color, composition. These haven’t moved in centuries. Your students get this in school.</a:t>
            </a:r>
            <a:endParaRPr lang="en-US" sz="1350" dirty="0"/>
          </a:p>
        </p:txBody>
      </p:sp>
      <p:sp>
        <p:nvSpPr>
          <p:cNvPr id="13" name="Shape 10"/>
          <p:cNvSpPr/>
          <p:nvPr/>
        </p:nvSpPr>
        <p:spPr>
          <a:xfrm>
            <a:off x="4352544" y="3383280"/>
            <a:ext cx="3611880" cy="292608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4" name="Shape 11"/>
          <p:cNvSpPr/>
          <p:nvPr/>
        </p:nvSpPr>
        <p:spPr>
          <a:xfrm>
            <a:off x="4352544" y="3383280"/>
            <a:ext cx="3611880" cy="128016"/>
          </a:xfrm>
          <a:prstGeom prst="rect">
            <a:avLst/>
          </a:prstGeom>
          <a:solidFill>
            <a:srgbClr val="6B8F6E"/>
          </a:solidFill>
          <a:ln/>
        </p:spPr>
      </p:sp>
      <p:pic>
        <p:nvPicPr>
          <p:cNvPr id="15" name="Image 1" descr="preencoded.png"/>
          <p:cNvPicPr>
            <a:picLocks noChangeAspect="1"/>
          </p:cNvPicPr>
          <p:nvPr/>
        </p:nvPicPr>
        <p:blipFill>
          <a:blip r:embed="rId2"/>
          <a:stretch>
            <a:fillRect/>
          </a:stretch>
        </p:blipFill>
        <p:spPr>
          <a:xfrm>
            <a:off x="4672584" y="3657600"/>
            <a:ext cx="502920" cy="502920"/>
          </a:xfrm>
          <a:prstGeom prst="rect">
            <a:avLst/>
          </a:prstGeom>
        </p:spPr>
      </p:pic>
      <p:sp>
        <p:nvSpPr>
          <p:cNvPr id="16" name="Text 12"/>
          <p:cNvSpPr/>
          <p:nvPr/>
        </p:nvSpPr>
        <p:spPr>
          <a:xfrm>
            <a:off x="4672584" y="4251960"/>
            <a:ext cx="2971800" cy="457200"/>
          </a:xfrm>
          <a:prstGeom prst="rect">
            <a:avLst/>
          </a:prstGeom>
          <a:noFill/>
          <a:ln/>
        </p:spPr>
        <p:txBody>
          <a:bodyPr wrap="square" lIns="0" tIns="0" rIns="0" bIns="0" rtlCol="0" anchor="ctr"/>
          <a:lstStyle/>
          <a:p>
            <a:pPr indent="0" marL="0">
              <a:buNone/>
            </a:pPr>
            <a:r>
              <a:rPr lang="en-US" sz="1900" b="1" dirty="0">
                <a:solidFill>
                  <a:srgbClr val="2A2025"/>
                </a:solidFill>
                <a:latin typeface="Cambria" pitchFamily="34" charset="0"/>
                <a:ea typeface="Cambria" pitchFamily="34" charset="-122"/>
                <a:cs typeface="Cambria" pitchFamily="34" charset="-120"/>
              </a:rPr>
              <a:t>Today’s tools</a:t>
            </a:r>
            <a:endParaRPr lang="en-US" sz="1900" dirty="0"/>
          </a:p>
        </p:txBody>
      </p:sp>
      <p:sp>
        <p:nvSpPr>
          <p:cNvPr id="17" name="Text 13"/>
          <p:cNvSpPr/>
          <p:nvPr/>
        </p:nvSpPr>
        <p:spPr>
          <a:xfrm>
            <a:off x="4672584" y="4754880"/>
            <a:ext cx="2971800" cy="1463040"/>
          </a:xfrm>
          <a:prstGeom prst="rect">
            <a:avLst/>
          </a:prstGeom>
          <a:noFill/>
          <a:ln/>
        </p:spPr>
        <p:txBody>
          <a:bodyPr wrap="square" lIns="0" tIns="0" rIns="0" bIns="0" rtlCol="0" anchor="t"/>
          <a:lstStyle/>
          <a:p>
            <a:pPr indent="0" marL="0">
              <a:buNone/>
            </a:pPr>
            <a:r>
              <a:rPr lang="en-US" sz="1350" dirty="0">
                <a:solidFill>
                  <a:srgbClr val="2A2025"/>
                </a:solidFill>
                <a:latin typeface="Calibri" pitchFamily="34" charset="0"/>
                <a:ea typeface="Calibri" pitchFamily="34" charset="-122"/>
                <a:cs typeface="Calibri" pitchFamily="34" charset="-120"/>
              </a:rPr>
              <a:t>Figma, Adobe CC, Webflow, generative AI. These will look very different in five years. Probably less.</a:t>
            </a:r>
            <a:endParaRPr lang="en-US" sz="1350" dirty="0"/>
          </a:p>
        </p:txBody>
      </p:sp>
      <p:sp>
        <p:nvSpPr>
          <p:cNvPr id="18" name="Shape 14"/>
          <p:cNvSpPr/>
          <p:nvPr/>
        </p:nvSpPr>
        <p:spPr>
          <a:xfrm>
            <a:off x="8156448" y="3383280"/>
            <a:ext cx="3611880" cy="292608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9" name="Shape 15"/>
          <p:cNvSpPr/>
          <p:nvPr/>
        </p:nvSpPr>
        <p:spPr>
          <a:xfrm>
            <a:off x="8156448" y="3383280"/>
            <a:ext cx="3611880" cy="128016"/>
          </a:xfrm>
          <a:prstGeom prst="rect">
            <a:avLst/>
          </a:prstGeom>
          <a:solidFill>
            <a:srgbClr val="B8956A"/>
          </a:solidFill>
          <a:ln/>
        </p:spPr>
      </p:sp>
      <p:pic>
        <p:nvPicPr>
          <p:cNvPr id="20" name="Image 2" descr="preencoded.png"/>
          <p:cNvPicPr>
            <a:picLocks noChangeAspect="1"/>
          </p:cNvPicPr>
          <p:nvPr/>
        </p:nvPicPr>
        <p:blipFill>
          <a:blip r:embed="rId3"/>
          <a:stretch>
            <a:fillRect/>
          </a:stretch>
        </p:blipFill>
        <p:spPr>
          <a:xfrm>
            <a:off x="8476488" y="3657600"/>
            <a:ext cx="502920" cy="502920"/>
          </a:xfrm>
          <a:prstGeom prst="rect">
            <a:avLst/>
          </a:prstGeom>
        </p:spPr>
      </p:pic>
      <p:sp>
        <p:nvSpPr>
          <p:cNvPr id="21" name="Text 16"/>
          <p:cNvSpPr/>
          <p:nvPr/>
        </p:nvSpPr>
        <p:spPr>
          <a:xfrm>
            <a:off x="8476488" y="4251960"/>
            <a:ext cx="2971800" cy="457200"/>
          </a:xfrm>
          <a:prstGeom prst="rect">
            <a:avLst/>
          </a:prstGeom>
          <a:noFill/>
          <a:ln/>
        </p:spPr>
        <p:txBody>
          <a:bodyPr wrap="square" lIns="0" tIns="0" rIns="0" bIns="0" rtlCol="0" anchor="ctr"/>
          <a:lstStyle/>
          <a:p>
            <a:pPr indent="0" marL="0">
              <a:buNone/>
            </a:pPr>
            <a:r>
              <a:rPr lang="en-US" sz="1900" b="1" dirty="0">
                <a:solidFill>
                  <a:srgbClr val="2A2025"/>
                </a:solidFill>
                <a:latin typeface="Cambria" pitchFamily="34" charset="0"/>
                <a:ea typeface="Cambria" pitchFamily="34" charset="-122"/>
                <a:cs typeface="Cambria" pitchFamily="34" charset="-120"/>
              </a:rPr>
              <a:t>Tomorrow’s tools</a:t>
            </a:r>
            <a:endParaRPr lang="en-US" sz="1900" dirty="0"/>
          </a:p>
        </p:txBody>
      </p:sp>
      <p:sp>
        <p:nvSpPr>
          <p:cNvPr id="22" name="Text 17"/>
          <p:cNvSpPr/>
          <p:nvPr/>
        </p:nvSpPr>
        <p:spPr>
          <a:xfrm>
            <a:off x="8476488" y="4754880"/>
            <a:ext cx="2971800" cy="1463040"/>
          </a:xfrm>
          <a:prstGeom prst="rect">
            <a:avLst/>
          </a:prstGeom>
          <a:noFill/>
          <a:ln/>
        </p:spPr>
        <p:txBody>
          <a:bodyPr wrap="square" lIns="0" tIns="0" rIns="0" bIns="0" rtlCol="0" anchor="t"/>
          <a:lstStyle/>
          <a:p>
            <a:pPr indent="0" marL="0">
              <a:buNone/>
            </a:pPr>
            <a:r>
              <a:rPr lang="en-US" sz="1350" dirty="0">
                <a:solidFill>
                  <a:srgbClr val="2A2025"/>
                </a:solidFill>
                <a:latin typeface="Calibri" pitchFamily="34" charset="0"/>
                <a:ea typeface="Calibri" pitchFamily="34" charset="-122"/>
                <a:cs typeface="Calibri" pitchFamily="34" charset="-120"/>
              </a:rPr>
              <a:t>We don’t know yet. Whatever they are, students will need to learn them in a week. Just like I had to learn HTML.</a:t>
            </a:r>
            <a:endParaRPr lang="en-US" sz="1350" dirty="0"/>
          </a:p>
        </p:txBody>
      </p:sp>
      <p:sp>
        <p:nvSpPr>
          <p:cNvPr id="23" name="Pivot Line"/>
          <p:cNvSpPr/>
          <p:nvPr/>
        </p:nvSpPr>
        <p:spPr>
          <a:xfrm>
            <a:off x="548640" y="2697480"/>
            <a:ext cx="10972800" cy="548640"/>
          </a:xfrm>
          <a:prstGeom prst="rect">
            <a:avLst/>
          </a:prstGeom>
          <a:noFill/>
          <a:ln/>
        </p:spPr>
        <p:txBody>
          <a:bodyPr wrap="square" lIns="0" tIns="0" rIns="0" bIns="0" rtlCol="0" anchor="ctr"/>
          <a:lstStyle/>
          <a:p>
            <a:pPr indent="0" marL="0">
              <a:buNone/>
            </a:pPr>
            <a:r>
              <a:rPr lang="en-US" sz="1600" dirty="0">
                <a:solidFill>
                  <a:srgbClr val="2A2025"/>
                </a:solidFill>
                <a:latin typeface="Calibri" pitchFamily="34" charset="0"/>
                <a:ea typeface="Calibri" pitchFamily="34" charset="-122"/>
                <a:cs typeface="Calibri" pitchFamily="34" charset="-120"/>
              </a:rPr>
              <a:t>Right now my field is changing faster than it ever has, because of AI. So I stopped waiting and jumped in.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5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PART 2  ·  THE PROBLEM I’M SOLVING</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AVC 248, Design Self Promotion</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The capstone career-launch course for DMA and Animation students at GCC.</a:t>
            </a:r>
            <a:endParaRPr lang="en-US" sz="1800" dirty="0"/>
          </a:p>
        </p:txBody>
      </p:sp>
      <p:sp>
        <p:nvSpPr>
          <p:cNvPr id="8" name="Text 6"/>
          <p:cNvSpPr/>
          <p:nvPr/>
        </p:nvSpPr>
        <p:spPr>
          <a:xfrm>
            <a:off x="548640" y="2743200"/>
            <a:ext cx="10972800" cy="1371600"/>
          </a:xfrm>
          <a:prstGeom prst="rect">
            <a:avLst/>
          </a:prstGeom>
          <a:noFill/>
          <a:ln/>
        </p:spPr>
        <p:txBody>
          <a:bodyPr wrap="square" rtlCol="0" anchor="ctr"/>
          <a:lstStyle/>
          <a:p>
            <a:pPr indent="0" marL="0">
              <a:buNone/>
            </a:pPr>
            <a:r>
              <a:rPr lang="en-US" sz="1600" b="1" dirty="0">
                <a:solidFill>
                  <a:srgbClr val="2A2025"/>
                </a:solidFill>
                <a:latin typeface="Calibri" pitchFamily="34" charset="0"/>
                <a:ea typeface="Calibri" pitchFamily="34" charset="-122"/>
                <a:cs typeface="Calibri" pitchFamily="34" charset="-120"/>
              </a:rPr>
              <a:t>16 weeks. Online, asynchronous. Roughly 24 students per cohort.</a:t>
            </a:r>
            <a:endParaRPr lang="en-US" sz="1600" dirty="0"/>
          </a:p>
          <a:p>
            <a:pPr indent="0" marL="0">
              <a:buNone/>
            </a:pPr>
            <a:endParaRPr lang="en-US" sz="1600" dirty="0"/>
          </a:p>
          <a:p>
            <a:pPr indent="0" marL="0">
              <a:buNone/>
            </a:pPr>
            <a:r>
              <a:rPr lang="en-US" sz="1600" dirty="0">
                <a:solidFill>
                  <a:srgbClr val="2A2025"/>
                </a:solidFill>
                <a:latin typeface="Calibri" pitchFamily="34" charset="0"/>
                <a:ea typeface="Calibri" pitchFamily="34" charset="-122"/>
                <a:cs typeface="Calibri" pitchFamily="34" charset="-120"/>
              </a:rPr>
              <a:t>Students arrive with a degree’s worth of design work in their head and a portfolio in progress. They leave with:</a:t>
            </a:r>
            <a:endParaRPr lang="en-US" sz="1600" dirty="0"/>
          </a:p>
        </p:txBody>
      </p:sp>
      <p:sp>
        <p:nvSpPr>
          <p:cNvPr id="9" name="Shape 7"/>
          <p:cNvSpPr/>
          <p:nvPr/>
        </p:nvSpPr>
        <p:spPr>
          <a:xfrm>
            <a:off x="585216" y="4370832"/>
            <a:ext cx="164592" cy="164592"/>
          </a:xfrm>
          <a:prstGeom prst="ellipse">
            <a:avLst/>
          </a:prstGeom>
          <a:solidFill>
            <a:srgbClr val="7A5080"/>
          </a:solidFill>
          <a:ln/>
        </p:spPr>
      </p:sp>
      <p:sp>
        <p:nvSpPr>
          <p:cNvPr id="10" name="Text 8"/>
          <p:cNvSpPr/>
          <p:nvPr/>
        </p:nvSpPr>
        <p:spPr>
          <a:xfrm>
            <a:off x="914400" y="425196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Polished resume and cover letter</a:t>
            </a:r>
            <a:endParaRPr lang="en-US" sz="1400" dirty="0"/>
          </a:p>
        </p:txBody>
      </p:sp>
      <p:sp>
        <p:nvSpPr>
          <p:cNvPr id="11" name="Shape 9"/>
          <p:cNvSpPr/>
          <p:nvPr/>
        </p:nvSpPr>
        <p:spPr>
          <a:xfrm>
            <a:off x="6254496" y="4370832"/>
            <a:ext cx="164592" cy="164592"/>
          </a:xfrm>
          <a:prstGeom prst="ellipse">
            <a:avLst/>
          </a:prstGeom>
          <a:solidFill>
            <a:srgbClr val="7A5080"/>
          </a:solidFill>
          <a:ln/>
        </p:spPr>
      </p:sp>
      <p:sp>
        <p:nvSpPr>
          <p:cNvPr id="12" name="Text 10"/>
          <p:cNvSpPr/>
          <p:nvPr/>
        </p:nvSpPr>
        <p:spPr>
          <a:xfrm>
            <a:off x="6583680" y="425196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Identity package, business card, leave-behind</a:t>
            </a:r>
            <a:endParaRPr lang="en-US" sz="1400" dirty="0"/>
          </a:p>
        </p:txBody>
      </p:sp>
      <p:sp>
        <p:nvSpPr>
          <p:cNvPr id="13" name="Shape 11"/>
          <p:cNvSpPr/>
          <p:nvPr/>
        </p:nvSpPr>
        <p:spPr>
          <a:xfrm>
            <a:off x="585216" y="4873752"/>
            <a:ext cx="164592" cy="164592"/>
          </a:xfrm>
          <a:prstGeom prst="ellipse">
            <a:avLst/>
          </a:prstGeom>
          <a:solidFill>
            <a:srgbClr val="7A5080"/>
          </a:solidFill>
          <a:ln/>
        </p:spPr>
      </p:sp>
      <p:sp>
        <p:nvSpPr>
          <p:cNvPr id="14" name="Text 12"/>
          <p:cNvSpPr/>
          <p:nvPr/>
        </p:nvSpPr>
        <p:spPr>
          <a:xfrm>
            <a:off x="914400" y="475488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Portfolio site or reel, presentation video</a:t>
            </a:r>
            <a:endParaRPr lang="en-US" sz="1400" dirty="0"/>
          </a:p>
        </p:txBody>
      </p:sp>
      <p:sp>
        <p:nvSpPr>
          <p:cNvPr id="15" name="Shape 13"/>
          <p:cNvSpPr/>
          <p:nvPr/>
        </p:nvSpPr>
        <p:spPr>
          <a:xfrm>
            <a:off x="6254496" y="4873752"/>
            <a:ext cx="164592" cy="164592"/>
          </a:xfrm>
          <a:prstGeom prst="ellipse">
            <a:avLst/>
          </a:prstGeom>
          <a:solidFill>
            <a:srgbClr val="7A5080"/>
          </a:solidFill>
          <a:ln/>
        </p:spPr>
      </p:sp>
      <p:sp>
        <p:nvSpPr>
          <p:cNvPr id="16" name="Text 14"/>
          <p:cNvSpPr/>
          <p:nvPr/>
        </p:nvSpPr>
        <p:spPr>
          <a:xfrm>
            <a:off x="6583680" y="475488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12 weeks of interview practice + mock interview</a:t>
            </a:r>
            <a:endParaRPr lang="en-US" sz="1400" dirty="0"/>
          </a:p>
        </p:txBody>
      </p:sp>
      <p:sp>
        <p:nvSpPr>
          <p:cNvPr id="17" name="Shape 15"/>
          <p:cNvSpPr/>
          <p:nvPr/>
        </p:nvSpPr>
        <p:spPr>
          <a:xfrm>
            <a:off x="585216" y="5376672"/>
            <a:ext cx="164592" cy="164592"/>
          </a:xfrm>
          <a:prstGeom prst="ellipse">
            <a:avLst/>
          </a:prstGeom>
          <a:solidFill>
            <a:srgbClr val="7A5080"/>
          </a:solidFill>
          <a:ln/>
        </p:spPr>
      </p:sp>
      <p:sp>
        <p:nvSpPr>
          <p:cNvPr id="18" name="Text 16"/>
          <p:cNvSpPr/>
          <p:nvPr/>
        </p:nvSpPr>
        <p:spPr>
          <a:xfrm>
            <a:off x="914400" y="525780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Working LinkedIn profile and network plan</a:t>
            </a:r>
            <a:endParaRPr lang="en-US" sz="1400" dirty="0"/>
          </a:p>
        </p:txBody>
      </p:sp>
      <p:sp>
        <p:nvSpPr>
          <p:cNvPr id="19" name="Shape 17"/>
          <p:cNvSpPr/>
          <p:nvPr/>
        </p:nvSpPr>
        <p:spPr>
          <a:xfrm>
            <a:off x="6254496" y="5376672"/>
            <a:ext cx="164592" cy="164592"/>
          </a:xfrm>
          <a:prstGeom prst="ellipse">
            <a:avLst/>
          </a:prstGeom>
          <a:solidFill>
            <a:srgbClr val="7A5080"/>
          </a:solidFill>
          <a:ln/>
        </p:spPr>
      </p:sp>
      <p:sp>
        <p:nvSpPr>
          <p:cNvPr id="20" name="Text 18"/>
          <p:cNvSpPr/>
          <p:nvPr/>
        </p:nvSpPr>
        <p:spPr>
          <a:xfrm>
            <a:off x="6583680" y="5257800"/>
            <a:ext cx="5212080" cy="457200"/>
          </a:xfrm>
          <a:prstGeom prst="rect">
            <a:avLst/>
          </a:prstGeom>
          <a:noFill/>
          <a:ln/>
        </p:spPr>
        <p:txBody>
          <a:bodyPr wrap="square" lIns="0" tIns="0" rIns="0" bIns="0" rtlCol="0" anchor="ctr"/>
          <a:lstStyle/>
          <a:p>
            <a:pPr indent="0" marL="0">
              <a:buNone/>
            </a:pPr>
            <a:r>
              <a:rPr lang="en-US" sz="1400" dirty="0">
                <a:solidFill>
                  <a:srgbClr val="2A2025"/>
                </a:solidFill>
                <a:latin typeface="Calibri" pitchFamily="34" charset="0"/>
                <a:ea typeface="Calibri" pitchFamily="34" charset="-122"/>
                <a:cs typeface="Calibri" pitchFamily="34" charset="-120"/>
              </a:rPr>
              <a:t>Freelance contract template + spec sheet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6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THE PROBLEM</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All this work lives in Canvas.</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2600" i="1" dirty="0">
                <a:solidFill>
                  <a:srgbClr val="7A5080"/>
                </a:solidFill>
                <a:latin typeface="Cambria" pitchFamily="34" charset="0"/>
                <a:ea typeface="Cambria" pitchFamily="34" charset="-122"/>
                <a:cs typeface="Cambria" pitchFamily="34" charset="-120"/>
              </a:rPr>
              <a:t>And Canvas access ends at graduation.</a:t>
            </a:r>
            <a:endParaRPr lang="en-US" sz="2600" dirty="0"/>
          </a:p>
        </p:txBody>
      </p:sp>
      <p:sp>
        <p:nvSpPr>
          <p:cNvPr id="8" name="Shape 6"/>
          <p:cNvSpPr/>
          <p:nvPr/>
        </p:nvSpPr>
        <p:spPr>
          <a:xfrm>
            <a:off x="548640" y="3017520"/>
            <a:ext cx="5029200" cy="3200400"/>
          </a:xfrm>
          <a:prstGeom prst="rect">
            <a:avLst/>
          </a:prstGeom>
          <a:solidFill>
            <a:srgbClr val="FFFFFF"/>
          </a:solidFill>
          <a:ln w="9525">
            <a:solidFill>
              <a:srgbClr val="E8E0E3"/>
            </a:solidFill>
            <a:prstDash val="solid"/>
          </a:ln>
        </p:spPr>
      </p:sp>
      <p:sp>
        <p:nvSpPr>
          <p:cNvPr id="9" name="Shape 7"/>
          <p:cNvSpPr/>
          <p:nvPr/>
        </p:nvSpPr>
        <p:spPr>
          <a:xfrm>
            <a:off x="548640" y="3017520"/>
            <a:ext cx="5029200" cy="502920"/>
          </a:xfrm>
          <a:prstGeom prst="rect">
            <a:avLst/>
          </a:prstGeom>
          <a:solidFill>
            <a:srgbClr val="5C3A63"/>
          </a:solidFill>
          <a:ln/>
        </p:spPr>
      </p:sp>
      <p:sp>
        <p:nvSpPr>
          <p:cNvPr id="10" name="Text 8"/>
          <p:cNvSpPr/>
          <p:nvPr/>
        </p:nvSpPr>
        <p:spPr>
          <a:xfrm>
            <a:off x="777240" y="3108960"/>
            <a:ext cx="457200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Canvas  ·  AVC 248  ·  Spring 2026</a:t>
            </a:r>
            <a:endParaRPr lang="en-US" sz="1200" dirty="0"/>
          </a:p>
        </p:txBody>
      </p:sp>
      <p:sp>
        <p:nvSpPr>
          <p:cNvPr id="11" name="Text 9"/>
          <p:cNvSpPr/>
          <p:nvPr/>
        </p:nvSpPr>
        <p:spPr>
          <a:xfrm>
            <a:off x="777240" y="370332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Resume_Draft_4_FINAL.pdf</a:t>
            </a:r>
            <a:endParaRPr lang="en-US" sz="1100" dirty="0"/>
          </a:p>
        </p:txBody>
      </p:sp>
      <p:sp>
        <p:nvSpPr>
          <p:cNvPr id="12" name="Text 10"/>
          <p:cNvSpPr/>
          <p:nvPr/>
        </p:nvSpPr>
        <p:spPr>
          <a:xfrm>
            <a:off x="777240" y="397764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CoverLetter_v3.docx</a:t>
            </a:r>
            <a:endParaRPr lang="en-US" sz="1100" dirty="0"/>
          </a:p>
        </p:txBody>
      </p:sp>
      <p:sp>
        <p:nvSpPr>
          <p:cNvPr id="13" name="Text 11"/>
          <p:cNvSpPr/>
          <p:nvPr/>
        </p:nvSpPr>
        <p:spPr>
          <a:xfrm>
            <a:off x="777240" y="425196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Identity_Package.pdf</a:t>
            </a:r>
            <a:endParaRPr lang="en-US" sz="1100" dirty="0"/>
          </a:p>
        </p:txBody>
      </p:sp>
      <p:sp>
        <p:nvSpPr>
          <p:cNvPr id="14" name="Text 12"/>
          <p:cNvSpPr/>
          <p:nvPr/>
        </p:nvSpPr>
        <p:spPr>
          <a:xfrm>
            <a:off x="777240" y="452628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BusinessCard_FINAL_v2.png</a:t>
            </a:r>
            <a:endParaRPr lang="en-US" sz="1100" dirty="0"/>
          </a:p>
        </p:txBody>
      </p:sp>
      <p:sp>
        <p:nvSpPr>
          <p:cNvPr id="15" name="Text 13"/>
          <p:cNvSpPr/>
          <p:nvPr/>
        </p:nvSpPr>
        <p:spPr>
          <a:xfrm>
            <a:off x="777240" y="480060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Mock_Interview_Recording.mp4</a:t>
            </a:r>
            <a:endParaRPr lang="en-US" sz="1100" dirty="0"/>
          </a:p>
        </p:txBody>
      </p:sp>
      <p:sp>
        <p:nvSpPr>
          <p:cNvPr id="16" name="Text 14"/>
          <p:cNvSpPr/>
          <p:nvPr/>
        </p:nvSpPr>
        <p:spPr>
          <a:xfrm>
            <a:off x="777240" y="507492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Portfolio_URL.txt</a:t>
            </a:r>
            <a:endParaRPr lang="en-US" sz="1100" dirty="0"/>
          </a:p>
        </p:txBody>
      </p:sp>
      <p:sp>
        <p:nvSpPr>
          <p:cNvPr id="17" name="Text 15"/>
          <p:cNvSpPr/>
          <p:nvPr/>
        </p:nvSpPr>
        <p:spPr>
          <a:xfrm>
            <a:off x="777240" y="534924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LinkedIn_Strategy_Notes.docx</a:t>
            </a:r>
            <a:endParaRPr lang="en-US" sz="1100" dirty="0"/>
          </a:p>
        </p:txBody>
      </p:sp>
      <p:sp>
        <p:nvSpPr>
          <p:cNvPr id="18" name="Text 16"/>
          <p:cNvSpPr/>
          <p:nvPr/>
        </p:nvSpPr>
        <p:spPr>
          <a:xfrm>
            <a:off x="777240" y="5623560"/>
            <a:ext cx="4663440" cy="256032"/>
          </a:xfrm>
          <a:prstGeom prst="rect">
            <a:avLst/>
          </a:prstGeom>
          <a:noFill/>
          <a:ln/>
        </p:spPr>
        <p:txBody>
          <a:bodyPr wrap="square" lIns="0" tIns="0" rIns="0" bIns="0" rtlCol="0" anchor="ctr"/>
          <a:lstStyle/>
          <a:p>
            <a:pPr indent="0" marL="0">
              <a:buNone/>
            </a:pPr>
            <a:r>
              <a:rPr lang="en-US" sz="1100" dirty="0">
                <a:solidFill>
                  <a:srgbClr val="2A2025"/>
                </a:solidFill>
                <a:latin typeface="Calibri" pitchFamily="34" charset="0"/>
                <a:ea typeface="Calibri" pitchFamily="34" charset="-122"/>
                <a:cs typeface="Calibri" pitchFamily="34" charset="-120"/>
              </a:rPr>
              <a:t>Freelance_Contract_Template.pdf</a:t>
            </a:r>
            <a:endParaRPr lang="en-US" sz="1100" dirty="0"/>
          </a:p>
        </p:txBody>
      </p:sp>
      <p:sp>
        <p:nvSpPr>
          <p:cNvPr id="19" name="Text 17"/>
          <p:cNvSpPr/>
          <p:nvPr/>
        </p:nvSpPr>
        <p:spPr>
          <a:xfrm>
            <a:off x="777240" y="5897880"/>
            <a:ext cx="4663440" cy="256032"/>
          </a:xfrm>
          <a:prstGeom prst="rect">
            <a:avLst/>
          </a:prstGeom>
          <a:noFill/>
          <a:ln/>
        </p:spPr>
        <p:txBody>
          <a:bodyPr wrap="square" lIns="0" tIns="0" rIns="0" bIns="0" rtlCol="0" anchor="ctr"/>
          <a:lstStyle/>
          <a:p>
            <a:pPr indent="0" marL="0">
              <a:buNone/>
            </a:pPr>
            <a:r>
              <a:rPr lang="en-US" sz="1100" i="1" dirty="0">
                <a:solidFill>
                  <a:srgbClr val="8A7E83"/>
                </a:solidFill>
                <a:latin typeface="Calibri" pitchFamily="34" charset="0"/>
                <a:ea typeface="Calibri" pitchFamily="34" charset="-122"/>
                <a:cs typeface="Calibri" pitchFamily="34" charset="-120"/>
              </a:rPr>
              <a:t>...plus 12 discussions, 8 quizzes</a:t>
            </a:r>
            <a:endParaRPr lang="en-US" sz="1100" dirty="0"/>
          </a:p>
        </p:txBody>
      </p:sp>
      <p:sp>
        <p:nvSpPr>
          <p:cNvPr id="20" name="Shape 18"/>
          <p:cNvSpPr/>
          <p:nvPr/>
        </p:nvSpPr>
        <p:spPr>
          <a:xfrm>
            <a:off x="6035040" y="3017520"/>
            <a:ext cx="5577840" cy="3200400"/>
          </a:xfrm>
          <a:prstGeom prst="rect">
            <a:avLst/>
          </a:prstGeom>
          <a:solidFill>
            <a:srgbClr val="F4EDE4"/>
          </a:solidFill>
          <a:ln w="12700">
            <a:solidFill>
              <a:srgbClr val="C4929E"/>
            </a:solidFill>
            <a:prstDash val="solid"/>
          </a:ln>
        </p:spPr>
      </p:sp>
      <p:sp>
        <p:nvSpPr>
          <p:cNvPr id="21" name="Text 19"/>
          <p:cNvSpPr/>
          <p:nvPr/>
        </p:nvSpPr>
        <p:spPr>
          <a:xfrm>
            <a:off x="6309360" y="3246120"/>
            <a:ext cx="5029200" cy="365760"/>
          </a:xfrm>
          <a:prstGeom prst="rect">
            <a:avLst/>
          </a:prstGeom>
          <a:noFill/>
          <a:ln/>
        </p:spPr>
        <p:txBody>
          <a:bodyPr wrap="square" lIns="0" tIns="0" rIns="0" bIns="0" rtlCol="0" anchor="ctr"/>
          <a:lstStyle/>
          <a:p>
            <a:pPr indent="0" marL="0">
              <a:buNone/>
            </a:pPr>
            <a:r>
              <a:rPr lang="en-US" sz="1400" i="1" dirty="0">
                <a:solidFill>
                  <a:srgbClr val="8A7E83"/>
                </a:solidFill>
                <a:latin typeface="Calibri" pitchFamily="34" charset="0"/>
                <a:ea typeface="Calibri" pitchFamily="34" charset="-122"/>
                <a:cs typeface="Calibri" pitchFamily="34" charset="-120"/>
              </a:rPr>
              <a:t>The morning after graduation:</a:t>
            </a:r>
            <a:endParaRPr lang="en-US" sz="1400" dirty="0"/>
          </a:p>
        </p:txBody>
      </p:sp>
      <p:sp>
        <p:nvSpPr>
          <p:cNvPr id="22" name="Text 20"/>
          <p:cNvSpPr/>
          <p:nvPr/>
        </p:nvSpPr>
        <p:spPr>
          <a:xfrm>
            <a:off x="6309360" y="36118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 xml:space="preserve">Canvas access </a:t>
            </a:r>
            <a:pPr indent="0" marL="0">
              <a:buNone/>
            </a:pPr>
            <a:r>
              <a:rPr lang="en-US" sz="1800" dirty="0">
                <a:solidFill>
                  <a:srgbClr val="2A2025"/>
                </a:solidFill>
                <a:latin typeface="Cambria" pitchFamily="34" charset="0"/>
                <a:ea typeface="Cambria" pitchFamily="34" charset="-122"/>
                <a:cs typeface="Cambria" pitchFamily="34" charset="-120"/>
              </a:rPr>
              <a:t>is revoked.</a:t>
            </a:r>
            <a:endParaRPr lang="en-US" sz="1800" dirty="0"/>
          </a:p>
        </p:txBody>
      </p:sp>
      <p:sp>
        <p:nvSpPr>
          <p:cNvPr id="23" name="Text 21"/>
          <p:cNvSpPr/>
          <p:nvPr/>
        </p:nvSpPr>
        <p:spPr>
          <a:xfrm>
            <a:off x="6309360" y="40690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 xml:space="preserve">Discussion threads </a:t>
            </a:r>
            <a:pPr indent="0" marL="0">
              <a:buNone/>
            </a:pPr>
            <a:r>
              <a:rPr lang="en-US" sz="1800" dirty="0">
                <a:solidFill>
                  <a:srgbClr val="2A2025"/>
                </a:solidFill>
                <a:latin typeface="Cambria" pitchFamily="34" charset="0"/>
                <a:ea typeface="Cambria" pitchFamily="34" charset="-122"/>
                <a:cs typeface="Cambria" pitchFamily="34" charset="-120"/>
              </a:rPr>
              <a:t>vanish.</a:t>
            </a:r>
            <a:endParaRPr lang="en-US" sz="1800" dirty="0"/>
          </a:p>
        </p:txBody>
      </p:sp>
      <p:sp>
        <p:nvSpPr>
          <p:cNvPr id="24" name="Text 22"/>
          <p:cNvSpPr/>
          <p:nvPr/>
        </p:nvSpPr>
        <p:spPr>
          <a:xfrm>
            <a:off x="6309360" y="45262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 xml:space="preserve">Feedback comments </a:t>
            </a:r>
            <a:pPr indent="0" marL="0">
              <a:buNone/>
            </a:pPr>
            <a:r>
              <a:rPr lang="en-US" sz="1800" dirty="0">
                <a:solidFill>
                  <a:srgbClr val="2A2025"/>
                </a:solidFill>
                <a:latin typeface="Cambria" pitchFamily="34" charset="0"/>
                <a:ea typeface="Cambria" pitchFamily="34" charset="-122"/>
                <a:cs typeface="Cambria" pitchFamily="34" charset="-120"/>
              </a:rPr>
              <a:t>vanish.</a:t>
            </a:r>
            <a:endParaRPr lang="en-US" sz="1800" dirty="0"/>
          </a:p>
        </p:txBody>
      </p:sp>
      <p:sp>
        <p:nvSpPr>
          <p:cNvPr id="25" name="Text 23"/>
          <p:cNvSpPr/>
          <p:nvPr/>
        </p:nvSpPr>
        <p:spPr>
          <a:xfrm>
            <a:off x="6309360" y="4983480"/>
            <a:ext cx="5029200" cy="457200"/>
          </a:xfrm>
          <a:prstGeom prst="rect">
            <a:avLst/>
          </a:prstGeom>
          <a:noFill/>
          <a:ln/>
        </p:spPr>
        <p:txBody>
          <a:bodyPr wrap="square"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 xml:space="preserve">Drafts and rubric notes </a:t>
            </a:r>
            <a:pPr indent="0" marL="0">
              <a:buNone/>
            </a:pPr>
            <a:r>
              <a:rPr lang="en-US" sz="1800" dirty="0">
                <a:solidFill>
                  <a:srgbClr val="2A2025"/>
                </a:solidFill>
                <a:latin typeface="Cambria" pitchFamily="34" charset="0"/>
                <a:ea typeface="Cambria" pitchFamily="34" charset="-122"/>
                <a:cs typeface="Cambria" pitchFamily="34" charset="-120"/>
              </a:rPr>
              <a:t>vanish.</a:t>
            </a:r>
            <a:endParaRPr lang="en-US" sz="1800" dirty="0"/>
          </a:p>
        </p:txBody>
      </p:sp>
      <p:sp>
        <p:nvSpPr>
          <p:cNvPr id="26" name="Text 24"/>
          <p:cNvSpPr/>
          <p:nvPr/>
        </p:nvSpPr>
        <p:spPr>
          <a:xfrm>
            <a:off x="6309360" y="5623560"/>
            <a:ext cx="5029200" cy="457200"/>
          </a:xfrm>
          <a:prstGeom prst="rect">
            <a:avLst/>
          </a:prstGeom>
          <a:noFill/>
          <a:ln/>
        </p:spPr>
        <p:txBody>
          <a:bodyPr wrap="square" rtlCol="0" anchor="ctr"/>
          <a:lstStyle/>
          <a:p>
            <a:pPr indent="0" marL="0">
              <a:buNone/>
            </a:pPr>
            <a:r>
              <a:rPr lang="en-US" sz="1600" b="1" i="1" dirty="0">
                <a:solidFill>
                  <a:srgbClr val="C4929E"/>
                </a:solidFill>
                <a:latin typeface="Cambria" pitchFamily="34" charset="0"/>
                <a:ea typeface="Cambria" pitchFamily="34" charset="-122"/>
                <a:cs typeface="Cambria" pitchFamily="34" charset="-120"/>
              </a:rPr>
              <a:t>What students keep: a folder of PDFs.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7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WHAT THIS LOOKS LIKE FOR THE STUDENT</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“Where do I start?”</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2400" i="1" dirty="0">
                <a:solidFill>
                  <a:srgbClr val="7A5080"/>
                </a:solidFill>
                <a:latin typeface="Cambria" pitchFamily="34" charset="0"/>
                <a:ea typeface="Cambria" pitchFamily="34" charset="-122"/>
                <a:cs typeface="Cambria" pitchFamily="34" charset="-120"/>
              </a:rPr>
              <a:t>The Monday morning after commencement.</a:t>
            </a:r>
            <a:endParaRPr lang="en-US" sz="2400" dirty="0"/>
          </a:p>
        </p:txBody>
      </p:sp>
      <p:sp>
        <p:nvSpPr>
          <p:cNvPr id="8" name="Text 6"/>
          <p:cNvSpPr/>
          <p:nvPr/>
        </p:nvSpPr>
        <p:spPr>
          <a:xfrm>
            <a:off x="548640" y="2743200"/>
            <a:ext cx="10972800" cy="3657600"/>
          </a:xfrm>
          <a:prstGeom prst="rect">
            <a:avLst/>
          </a:prstGeom>
          <a:noFill/>
          <a:ln/>
        </p:spPr>
        <p:txBody>
          <a:bodyPr wrap="square" rtlCol="0" anchor="ctr"/>
          <a:lstStyle/>
          <a:p>
            <a:pPr indent="0" marL="0">
              <a:spcAft>
                <a:spcPts val="400"/>
              </a:spcAft>
              <a:buNone/>
            </a:pPr>
            <a:r>
              <a:rPr lang="en-US" sz="1500" dirty="0">
                <a:solidFill>
                  <a:srgbClr val="2A2025"/>
                </a:solidFill>
                <a:latin typeface="Calibri" pitchFamily="34" charset="0"/>
                <a:ea typeface="Calibri" pitchFamily="34" charset="-122"/>
                <a:cs typeface="Calibri" pitchFamily="34" charset="-120"/>
              </a:rPr>
              <a:t>They have a degree. They have the portfolio in their head. They have the folder of PDFs.</a:t>
            </a:r>
            <a:endParaRPr lang="en-US" sz="1500" dirty="0"/>
          </a:p>
          <a:p>
            <a:pPr indent="0" marL="0">
              <a:spcAft>
                <a:spcPts val="400"/>
              </a:spcAft>
              <a:buNone/>
            </a:pPr>
            <a:endParaRPr lang="en-US" sz="1500" dirty="0"/>
          </a:p>
          <a:p>
            <a:pPr indent="0" marL="0">
              <a:spcAft>
                <a:spcPts val="400"/>
              </a:spcAft>
              <a:buNone/>
            </a:pPr>
            <a:r>
              <a:rPr lang="en-US" sz="1500" b="1" dirty="0">
                <a:solidFill>
                  <a:srgbClr val="7A5080"/>
                </a:solidFill>
                <a:latin typeface="Calibri" pitchFamily="34" charset="0"/>
                <a:ea typeface="Calibri" pitchFamily="34" charset="-122"/>
                <a:cs typeface="Calibri" pitchFamily="34" charset="-120"/>
              </a:rPr>
              <a:t>What they don’t have:</a:t>
            </a:r>
            <a:endParaRPr lang="en-US" sz="1500" dirty="0"/>
          </a:p>
          <a:p>
            <a:pPr indent="0" marL="0">
              <a:spcAft>
                <a:spcPts val="400"/>
              </a:spcAft>
              <a:buNone/>
            </a:pP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The structure of their semester (which jobs they liked, which they applied to)</a:t>
            </a: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Their cover-letter drafts, interview practice notes, mock feedback</a:t>
            </a: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The weekly habit of “spend two hours on job search” that the course built in them</a:t>
            </a:r>
            <a:endParaRPr lang="en-US" sz="1500" dirty="0"/>
          </a:p>
          <a:p>
            <a:pPr marL="342900" indent="-342900">
              <a:spcAft>
                <a:spcPts val="400"/>
              </a:spcAft>
              <a:buSzPct val="100000"/>
              <a:buChar char="•"/>
            </a:pPr>
            <a:r>
              <a:rPr lang="en-US" sz="1500" dirty="0">
                <a:solidFill>
                  <a:srgbClr val="2A2025"/>
                </a:solidFill>
                <a:latin typeface="Calibri" pitchFamily="34" charset="0"/>
                <a:ea typeface="Calibri" pitchFamily="34" charset="-122"/>
                <a:cs typeface="Calibri" pitchFamily="34" charset="-120"/>
              </a:rPr>
              <a:t>Anyone to ask. Their instructor is teaching the next cohort.</a:t>
            </a:r>
            <a:endParaRPr lang="en-US" sz="1500" dirty="0"/>
          </a:p>
          <a:p>
            <a:pPr indent="0" marL="0">
              <a:spcAft>
                <a:spcPts val="400"/>
              </a:spcAft>
              <a:buNone/>
            </a:pPr>
            <a:endParaRPr lang="en-US" sz="1500" dirty="0"/>
          </a:p>
          <a:p>
            <a:pPr indent="0" marL="0">
              <a:spcAft>
                <a:spcPts val="400"/>
              </a:spcAft>
              <a:buNone/>
            </a:pPr>
            <a:r>
              <a:rPr lang="en-US" sz="1500" i="1" dirty="0">
                <a:solidFill>
                  <a:srgbClr val="2A2025"/>
                </a:solidFill>
                <a:latin typeface="Calibri" pitchFamily="34" charset="0"/>
                <a:ea typeface="Calibri" pitchFamily="34" charset="-122"/>
                <a:cs typeface="Calibri" pitchFamily="34" charset="-120"/>
              </a:rPr>
              <a:t xml:space="preserve">The discipline I spent 16 weeks teaching them </a:t>
            </a:r>
            <a:pPr indent="0" marL="0">
              <a:spcAft>
                <a:spcPts val="400"/>
              </a:spcAft>
              <a:buNone/>
            </a:pPr>
            <a:r>
              <a:rPr lang="en-US" sz="1500" b="1" i="1" dirty="0">
                <a:solidFill>
                  <a:srgbClr val="C4929E"/>
                </a:solidFill>
                <a:latin typeface="Calibri" pitchFamily="34" charset="0"/>
                <a:ea typeface="Calibri" pitchFamily="34" charset="-122"/>
                <a:cs typeface="Calibri" pitchFamily="34" charset="-120"/>
              </a:rPr>
              <a:t>evaporates</a:t>
            </a:r>
            <a:pPr indent="0" marL="0">
              <a:spcAft>
                <a:spcPts val="400"/>
              </a:spcAft>
              <a:buNone/>
            </a:pPr>
            <a:r>
              <a:rPr lang="en-US" sz="1500" i="1" dirty="0">
                <a:solidFill>
                  <a:srgbClr val="2A2025"/>
                </a:solidFill>
                <a:latin typeface="Calibri" pitchFamily="34" charset="0"/>
                <a:ea typeface="Calibri" pitchFamily="34" charset="-122"/>
                <a:cs typeface="Calibri" pitchFamily="34" charset="-120"/>
              </a:rPr>
              <a:t xml:space="preserve"> in the first week of unstructured time.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8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HOW I’M GOING TO SOLVE THIS</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Vibe coding.</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700" i="1" dirty="0">
                <a:solidFill>
                  <a:srgbClr val="7A5080"/>
                </a:solidFill>
                <a:latin typeface="Cambria" pitchFamily="34" charset="0"/>
                <a:ea typeface="Cambria" pitchFamily="34" charset="-122"/>
                <a:cs typeface="Cambria" pitchFamily="34" charset="-120"/>
              </a:rPr>
              <a:t>I’m a faculty member with a design degree. I built a tool by describing what I wanted.</a:t>
            </a:r>
            <a:endParaRPr lang="en-US" sz="1700" dirty="0"/>
          </a:p>
        </p:txBody>
      </p:sp>
      <p:sp>
        <p:nvSpPr>
          <p:cNvPr id="8" name="Shape 6"/>
          <p:cNvSpPr/>
          <p:nvPr/>
        </p:nvSpPr>
        <p:spPr>
          <a:xfrm>
            <a:off x="548640" y="2743200"/>
            <a:ext cx="7040880" cy="3657600"/>
          </a:xfrm>
          <a:prstGeom prst="rect">
            <a:avLst/>
          </a:prstGeom>
          <a:solidFill>
            <a:srgbClr val="5C3A63"/>
          </a:solidFill>
          <a:ln/>
          <a:effectLst>
            <a:outerShdw sx="100000" sy="100000" kx="0" ky="0" algn="bl" rotWithShape="0" blurRad="101600" dist="25400" dir="8100000">
              <a:srgbClr val="000000">
                <a:alpha val="12000"/>
              </a:srgbClr>
            </a:outerShdw>
          </a:effectLst>
        </p:spPr>
      </p:sp>
      <p:sp>
        <p:nvSpPr>
          <p:cNvPr id="9" name="Text 7"/>
          <p:cNvSpPr/>
          <p:nvPr/>
        </p:nvSpPr>
        <p:spPr>
          <a:xfrm>
            <a:off x="777240" y="2880360"/>
            <a:ext cx="6583680" cy="274320"/>
          </a:xfrm>
          <a:prstGeom prst="rect">
            <a:avLst/>
          </a:prstGeom>
          <a:noFill/>
          <a:ln/>
        </p:spPr>
        <p:txBody>
          <a:bodyPr wrap="square" lIns="0" tIns="0" rIns="0" bIns="0" rtlCol="0" anchor="ctr"/>
          <a:lstStyle/>
          <a:p>
            <a:pPr indent="0" marL="0">
              <a:buNone/>
            </a:pPr>
            <a:r>
              <a:rPr lang="en-US" sz="1000" b="1" spc="400" kern="0" dirty="0">
                <a:solidFill>
                  <a:srgbClr val="E6D2B3"/>
                </a:solidFill>
                <a:latin typeface="Calibri" pitchFamily="34" charset="0"/>
                <a:ea typeface="Calibri" pitchFamily="34" charset="-122"/>
                <a:cs typeface="Calibri" pitchFamily="34" charset="-120"/>
              </a:rPr>
              <a:t>MY FIRST PROMPT, ROUGHLY</a:t>
            </a:r>
            <a:endParaRPr lang="en-US" sz="1000" dirty="0"/>
          </a:p>
        </p:txBody>
      </p:sp>
      <p:sp>
        <p:nvSpPr>
          <p:cNvPr id="10" name="Text 8"/>
          <p:cNvSpPr/>
          <p:nvPr/>
        </p:nvSpPr>
        <p:spPr>
          <a:xfrm>
            <a:off x="777240" y="3246120"/>
            <a:ext cx="6583680" cy="3017520"/>
          </a:xfrm>
          <a:prstGeom prst="rect">
            <a:avLst/>
          </a:prstGeom>
          <a:noFill/>
          <a:ln/>
        </p:spPr>
        <p:txBody>
          <a:bodyPr wrap="square" lIns="0" tIns="0" rIns="0" bIns="0" rtlCol="0" anchor="t"/>
          <a:lstStyle/>
          <a:p>
            <a:pPr indent="0" marL="0">
              <a:buNone/>
            </a:pPr>
            <a:r>
              <a:rPr lang="en-US" sz="1200" dirty="0">
                <a:solidFill>
                  <a:srgbClr val="FAF7F2"/>
                </a:solidFill>
                <a:latin typeface="Consolas" pitchFamily="34" charset="0"/>
                <a:ea typeface="Consolas" pitchFamily="34" charset="-122"/>
                <a:cs typeface="Consolas" pitchFamily="34" charset="-120"/>
              </a:rPr>
              <a:t>“I’m a faculty member teaching AVC 248, a 16-week capstone career-launch class for Digital Media Arts and Animation students at GCC. I want to prototype a single-HTML-file dashboard students populate during the semester and keep after graduation. It should include:</a:t>
            </a:r>
            <a:endParaRPr lang="en-US" sz="1200" dirty="0"/>
          </a:p>
          <a:p>
            <a:pPr indent="0" marL="0">
              <a:buNone/>
            </a:pP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 profile and goals section</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 job search log with AI cover-letter generation</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 resume vault with versioned drafts</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 skills tracker with AI gap analysis</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 networking tracker</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an AI interview coach</a:t>
            </a: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 xml:space="preserve"> • a weekly schedule generator</a:t>
            </a:r>
            <a:endParaRPr lang="en-US" sz="1200" dirty="0"/>
          </a:p>
          <a:p>
            <a:pPr indent="0" marL="0">
              <a:buNone/>
            </a:pPr>
            <a:endParaRPr lang="en-US" sz="1200" dirty="0"/>
          </a:p>
          <a:p>
            <a:pPr indent="0" marL="0">
              <a:buNone/>
            </a:pPr>
            <a:r>
              <a:rPr lang="en-US" sz="1200" dirty="0">
                <a:solidFill>
                  <a:srgbClr val="FAF7F2"/>
                </a:solidFill>
                <a:latin typeface="Consolas" pitchFamily="34" charset="0"/>
                <a:ea typeface="Consolas" pitchFamily="34" charset="-122"/>
                <a:cs typeface="Consolas" pitchFamily="34" charset="-120"/>
              </a:rPr>
              <a:t>Local-first, no login, first name only. Walk me through the architecture before we write any code.”</a:t>
            </a:r>
            <a:endParaRPr lang="en-US" sz="1200" dirty="0"/>
          </a:p>
        </p:txBody>
      </p:sp>
      <p:sp>
        <p:nvSpPr>
          <p:cNvPr id="11" name="Shape 9"/>
          <p:cNvSpPr/>
          <p:nvPr/>
        </p:nvSpPr>
        <p:spPr>
          <a:xfrm>
            <a:off x="7772400" y="2743200"/>
            <a:ext cx="3931920" cy="3657600"/>
          </a:xfrm>
          <a:prstGeom prst="rect">
            <a:avLst/>
          </a:prstGeom>
          <a:solidFill>
            <a:srgbClr val="FFFFFF"/>
          </a:solidFill>
          <a:ln w="9525">
            <a:solidFill>
              <a:srgbClr val="E8E0E3"/>
            </a:solidFill>
            <a:prstDash val="solid"/>
          </a:ln>
        </p:spPr>
      </p:sp>
      <p:sp>
        <p:nvSpPr>
          <p:cNvPr id="12" name="Shape 10"/>
          <p:cNvSpPr/>
          <p:nvPr/>
        </p:nvSpPr>
        <p:spPr>
          <a:xfrm>
            <a:off x="7772400" y="2743200"/>
            <a:ext cx="91440" cy="3657600"/>
          </a:xfrm>
          <a:prstGeom prst="rect">
            <a:avLst/>
          </a:prstGeom>
          <a:solidFill>
            <a:srgbClr val="6B8F6E"/>
          </a:solidFill>
          <a:ln/>
        </p:spPr>
      </p:sp>
      <p:sp>
        <p:nvSpPr>
          <p:cNvPr id="13" name="Text 11"/>
          <p:cNvSpPr/>
          <p:nvPr/>
        </p:nvSpPr>
        <p:spPr>
          <a:xfrm>
            <a:off x="7955280" y="2880360"/>
            <a:ext cx="3657600" cy="274320"/>
          </a:xfrm>
          <a:prstGeom prst="rect">
            <a:avLst/>
          </a:prstGeom>
          <a:noFill/>
          <a:ln/>
        </p:spPr>
        <p:txBody>
          <a:bodyPr wrap="square" lIns="0" tIns="0" rIns="0" bIns="0" rtlCol="0" anchor="ctr"/>
          <a:lstStyle/>
          <a:p>
            <a:pPr indent="0" marL="0">
              <a:buNone/>
            </a:pPr>
            <a:r>
              <a:rPr lang="en-US" sz="1000" b="1" spc="400" kern="0" dirty="0">
                <a:solidFill>
                  <a:srgbClr val="4A6E4D"/>
                </a:solidFill>
                <a:latin typeface="Calibri" pitchFamily="34" charset="0"/>
                <a:ea typeface="Calibri" pitchFamily="34" charset="-122"/>
                <a:cs typeface="Calibri" pitchFamily="34" charset="-120"/>
              </a:rPr>
              <a:t>VIBE CODING, DEFINED</a:t>
            </a:r>
            <a:endParaRPr lang="en-US" sz="1000" dirty="0"/>
          </a:p>
        </p:txBody>
      </p:sp>
      <p:sp>
        <p:nvSpPr>
          <p:cNvPr id="14" name="Text 12"/>
          <p:cNvSpPr/>
          <p:nvPr/>
        </p:nvSpPr>
        <p:spPr>
          <a:xfrm>
            <a:off x="7955280" y="3200400"/>
            <a:ext cx="3657600" cy="141732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 xml:space="preserve">Writing software by </a:t>
            </a:r>
            <a:pPr indent="0" marL="0">
              <a:buNone/>
            </a:pPr>
            <a:r>
              <a:rPr lang="en-US" sz="1150" b="1" dirty="0">
                <a:solidFill>
                  <a:srgbClr val="4A6E4D"/>
                </a:solidFill>
                <a:latin typeface="Calibri" pitchFamily="34" charset="0"/>
                <a:ea typeface="Calibri" pitchFamily="34" charset="-122"/>
                <a:cs typeface="Calibri" pitchFamily="34" charset="-120"/>
              </a:rPr>
              <a:t>describing intent in plain English</a:t>
            </a:r>
            <a:pPr indent="0" marL="0">
              <a:buNone/>
            </a:pPr>
            <a:r>
              <a:rPr lang="en-US" sz="1150" dirty="0">
                <a:solidFill>
                  <a:srgbClr val="2A2025"/>
                </a:solidFill>
                <a:latin typeface="Calibri" pitchFamily="34" charset="0"/>
                <a:ea typeface="Calibri" pitchFamily="34" charset="-122"/>
                <a:cs typeface="Calibri" pitchFamily="34" charset="-120"/>
              </a:rPr>
              <a:t xml:space="preserve"> to an LLM and iterating on what it produces. You don’t need to write the code, you need to </a:t>
            </a:r>
            <a:pPr indent="0" marL="0">
              <a:buNone/>
            </a:pPr>
            <a:r>
              <a:rPr lang="en-US" sz="1150" b="1" dirty="0">
                <a:solidFill>
                  <a:srgbClr val="2A2025"/>
                </a:solidFill>
                <a:latin typeface="Calibri" pitchFamily="34" charset="0"/>
                <a:ea typeface="Calibri" pitchFamily="34" charset="-122"/>
                <a:cs typeface="Calibri" pitchFamily="34" charset="-120"/>
              </a:rPr>
              <a:t>know what you want</a:t>
            </a:r>
            <a:pPr indent="0" marL="0">
              <a:buNone/>
            </a:pPr>
            <a:r>
              <a:rPr lang="en-US" sz="1150" dirty="0">
                <a:solidFill>
                  <a:srgbClr val="2A2025"/>
                </a:solidFill>
                <a:latin typeface="Calibri" pitchFamily="34" charset="0"/>
                <a:ea typeface="Calibri" pitchFamily="34" charset="-122"/>
                <a:cs typeface="Calibri" pitchFamily="34" charset="-120"/>
              </a:rPr>
              <a:t xml:space="preserve"> and how to recognize when the output is right.</a:t>
            </a:r>
            <a:endParaRPr lang="en-US" sz="1150" dirty="0"/>
          </a:p>
        </p:txBody>
      </p:sp>
      <p:sp>
        <p:nvSpPr>
          <p:cNvPr id="15" name="Shape 13"/>
          <p:cNvSpPr/>
          <p:nvPr/>
        </p:nvSpPr>
        <p:spPr>
          <a:xfrm>
            <a:off x="7955280" y="4709160"/>
            <a:ext cx="3657600" cy="0"/>
          </a:xfrm>
          <a:prstGeom prst="line">
            <a:avLst/>
          </a:prstGeom>
          <a:noFill/>
          <a:ln w="9525">
            <a:solidFill>
              <a:srgbClr val="E8E0E3"/>
            </a:solidFill>
            <a:prstDash val="solid"/>
          </a:ln>
        </p:spPr>
      </p:sp>
      <p:sp>
        <p:nvSpPr>
          <p:cNvPr id="16" name="Text 14"/>
          <p:cNvSpPr/>
          <p:nvPr/>
        </p:nvSpPr>
        <p:spPr>
          <a:xfrm>
            <a:off x="7955280" y="4800600"/>
            <a:ext cx="3657600" cy="274320"/>
          </a:xfrm>
          <a:prstGeom prst="rect">
            <a:avLst/>
          </a:prstGeom>
          <a:noFill/>
          <a:ln/>
        </p:spPr>
        <p:txBody>
          <a:bodyPr wrap="square" lIns="0" tIns="0" rIns="0" bIns="0" rtlCol="0" anchor="ctr"/>
          <a:lstStyle/>
          <a:p>
            <a:pPr indent="0" marL="0">
              <a:buNone/>
            </a:pPr>
            <a:r>
              <a:rPr lang="en-US" sz="900" b="1" spc="400" kern="0" dirty="0">
                <a:solidFill>
                  <a:srgbClr val="8A7E83"/>
                </a:solidFill>
                <a:latin typeface="Calibri" pitchFamily="34" charset="0"/>
                <a:ea typeface="Calibri" pitchFamily="34" charset="-122"/>
                <a:cs typeface="Calibri" pitchFamily="34" charset="-120"/>
              </a:rPr>
              <a:t>WHERE THE TERM CAME FROM</a:t>
            </a:r>
            <a:endParaRPr lang="en-US" sz="900" dirty="0"/>
          </a:p>
        </p:txBody>
      </p:sp>
      <p:sp>
        <p:nvSpPr>
          <p:cNvPr id="17" name="Text 15"/>
          <p:cNvSpPr/>
          <p:nvPr/>
        </p:nvSpPr>
        <p:spPr>
          <a:xfrm>
            <a:off x="7955280" y="5074920"/>
            <a:ext cx="3657600" cy="914400"/>
          </a:xfrm>
          <a:prstGeom prst="rect">
            <a:avLst/>
          </a:prstGeom>
          <a:noFill/>
          <a:ln/>
        </p:spPr>
        <p:txBody>
          <a:bodyPr wrap="square" lIns="0" tIns="0" rIns="0" bIns="0" rtlCol="0" anchor="t"/>
          <a:lstStyle/>
          <a:p>
            <a:pPr indent="0" marL="0">
              <a:buNone/>
            </a:pPr>
            <a:r>
              <a:rPr lang="en-US" sz="1050" i="1" dirty="0">
                <a:solidFill>
                  <a:srgbClr val="2A2025"/>
                </a:solidFill>
                <a:latin typeface="Calibri" pitchFamily="34" charset="0"/>
                <a:ea typeface="Calibri" pitchFamily="34" charset="-122"/>
                <a:cs typeface="Calibri" pitchFamily="34" charset="-120"/>
              </a:rPr>
              <a:t xml:space="preserve">“There’s a new kind of coding I call </a:t>
            </a:r>
            <a:pPr indent="0" marL="0">
              <a:buNone/>
            </a:pPr>
            <a:r>
              <a:rPr lang="en-US" sz="1050" b="1" i="1" dirty="0">
                <a:solidFill>
                  <a:srgbClr val="4A6E4D"/>
                </a:solidFill>
                <a:latin typeface="Calibri" pitchFamily="34" charset="0"/>
                <a:ea typeface="Calibri" pitchFamily="34" charset="-122"/>
                <a:cs typeface="Calibri" pitchFamily="34" charset="-120"/>
              </a:rPr>
              <a:t>vibe coding</a:t>
            </a:r>
            <a:pPr indent="0" marL="0">
              <a:buNone/>
            </a:pPr>
            <a:r>
              <a:rPr lang="en-US" sz="1050" i="1" dirty="0">
                <a:solidFill>
                  <a:srgbClr val="2A2025"/>
                </a:solidFill>
                <a:latin typeface="Calibri" pitchFamily="34" charset="0"/>
                <a:ea typeface="Calibri" pitchFamily="34" charset="-122"/>
                <a:cs typeface="Calibri" pitchFamily="34" charset="-120"/>
              </a:rPr>
              <a:t>, where you fully give in to the vibes, embrace exponentials, and forget that the code even exists.”</a:t>
            </a:r>
            <a:endParaRPr lang="en-US" sz="1050" dirty="0"/>
          </a:p>
        </p:txBody>
      </p:sp>
      <p:sp>
        <p:nvSpPr>
          <p:cNvPr id="18" name="Text 16"/>
          <p:cNvSpPr/>
          <p:nvPr/>
        </p:nvSpPr>
        <p:spPr>
          <a:xfrm>
            <a:off x="7955280" y="5989320"/>
            <a:ext cx="3657600" cy="365760"/>
          </a:xfrm>
          <a:prstGeom prst="rect">
            <a:avLst/>
          </a:prstGeom>
          <a:noFill/>
          <a:ln/>
        </p:spPr>
        <p:txBody>
          <a:bodyPr wrap="square" lIns="0" tIns="0" rIns="0" bIns="0" rtlCol="0" anchor="t"/>
          <a:lstStyle/>
          <a:p>
            <a:pPr indent="0" marL="0">
              <a:buNone/>
            </a:pPr>
            <a:r>
              <a:rPr lang="en-US" sz="900" b="1" dirty="0">
                <a:solidFill>
                  <a:srgbClr val="4A6E4D"/>
                </a:solidFill>
                <a:latin typeface="Calibri" pitchFamily="34" charset="0"/>
                <a:ea typeface="Calibri" pitchFamily="34" charset="-122"/>
                <a:cs typeface="Calibri" pitchFamily="34" charset="-120"/>
              </a:rPr>
              <a:t>Andrej Karpathy</a:t>
            </a:r>
            <a:pPr indent="0" marL="0">
              <a:buNone/>
            </a:pPr>
            <a:r>
              <a:rPr lang="en-US" sz="900" dirty="0">
                <a:solidFill>
                  <a:srgbClr val="8A7E83"/>
                </a:solidFill>
                <a:latin typeface="Calibri" pitchFamily="34" charset="0"/>
                <a:ea typeface="Calibri" pitchFamily="34" charset="-122"/>
                <a:cs typeface="Calibri" pitchFamily="34" charset="-120"/>
              </a:rPr>
              <a:t>, co-founder of OpenAI</a:t>
            </a:r>
            <a:pPr indent="0" marL="0">
              <a:buNone/>
            </a:pPr>
            <a:endParaRPr lang="en-US" sz="900" dirty="0"/>
          </a:p>
          <a:p>
            <a:pPr indent="0" marL="0">
              <a:buNone/>
            </a:pPr>
            <a:r>
              <a:rPr lang="en-US" sz="900" i="1" dirty="0">
                <a:solidFill>
                  <a:srgbClr val="8A7E83"/>
                </a:solidFill>
                <a:latin typeface="Calibri" pitchFamily="34" charset="0"/>
                <a:ea typeface="Calibri" pitchFamily="34" charset="-122"/>
                <a:cs typeface="Calibri" pitchFamily="34" charset="-120"/>
              </a:rPr>
              <a:t>X post, February 2, 2025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A6E4D"/>
        </a:solidFill>
      </p:bgPr>
    </p:bg>
    <p:spTree>
      <p:nvGrpSpPr>
        <p:cNvPr id="1" name=""/>
        <p:cNvGrpSpPr/>
        <p:nvPr/>
      </p:nvGrpSpPr>
      <p:grpSpPr>
        <a:xfrm>
          <a:off x="0" y="0"/>
          <a:ext cx="0" cy="0"/>
          <a:chOff x="0" y="0"/>
          <a:chExt cx="0" cy="0"/>
        </a:xfrm>
      </p:grpSpPr>
      <p:sp>
        <p:nvSpPr>
          <p:cNvPr id="2" name="Shape 0"/>
          <p:cNvSpPr/>
          <p:nvPr/>
        </p:nvSpPr>
        <p:spPr>
          <a:xfrm>
            <a:off x="640080" y="1463040"/>
            <a:ext cx="91440" cy="4023360"/>
          </a:xfrm>
          <a:prstGeom prst="rect">
            <a:avLst/>
          </a:prstGeom>
          <a:solidFill>
            <a:srgbClr val="B8956A"/>
          </a:solidFill>
          <a:ln/>
        </p:spPr>
      </p:sp>
      <p:sp>
        <p:nvSpPr>
          <p:cNvPr id="3" name="Text 1"/>
          <p:cNvSpPr/>
          <p:nvPr/>
        </p:nvSpPr>
        <p:spPr>
          <a:xfrm>
            <a:off x="960120" y="1417320"/>
            <a:ext cx="10058400" cy="365760"/>
          </a:xfrm>
          <a:prstGeom prst="rect">
            <a:avLst/>
          </a:prstGeom>
          <a:noFill/>
          <a:ln/>
        </p:spPr>
        <p:txBody>
          <a:bodyPr wrap="square" rtlCol="0" anchor="ctr"/>
          <a:lstStyle/>
          <a:p>
            <a:pPr indent="0" marL="0">
              <a:buNone/>
            </a:pPr>
            <a:r>
              <a:rPr lang="en-US" sz="1200" b="1" spc="600" kern="0" dirty="0">
                <a:solidFill>
                  <a:srgbClr val="C0D4C2"/>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960120" y="1965960"/>
            <a:ext cx="10698480" cy="1371600"/>
          </a:xfrm>
          <a:prstGeom prst="rect">
            <a:avLst/>
          </a:prstGeom>
          <a:noFill/>
          <a:ln/>
        </p:spPr>
        <p:txBody>
          <a:bodyPr wrap="square" lIns="0" tIns="0" rIns="0" bIns="0" rtlCol="0" anchor="ctr"/>
          <a:lstStyle/>
          <a:p>
            <a:pPr indent="0" marL="0">
              <a:buNone/>
            </a:pPr>
            <a:r>
              <a:rPr lang="en-US" sz="8000" i="1" dirty="0">
                <a:solidFill>
                  <a:srgbClr val="FFFFFF"/>
                </a:solidFill>
                <a:latin typeface="Cambria" pitchFamily="34" charset="0"/>
                <a:ea typeface="Cambria" pitchFamily="34" charset="-122"/>
                <a:cs typeface="Cambria" pitchFamily="34" charset="-120"/>
              </a:rPr>
              <a:t>Render</a:t>
            </a:r>
            <a:endParaRPr lang="en-US" sz="8000" dirty="0"/>
          </a:p>
        </p:txBody>
      </p:sp>
      <p:sp>
        <p:nvSpPr>
          <p:cNvPr id="5" name="Text 3"/>
          <p:cNvSpPr/>
          <p:nvPr/>
        </p:nvSpPr>
        <p:spPr>
          <a:xfrm>
            <a:off x="960120" y="3657600"/>
            <a:ext cx="10698480" cy="548640"/>
          </a:xfrm>
          <a:prstGeom prst="rect">
            <a:avLst/>
          </a:prstGeom>
          <a:noFill/>
          <a:ln/>
        </p:spPr>
        <p:txBody>
          <a:bodyPr wrap="square" rtlCol="0" anchor="ctr"/>
          <a:lstStyle/>
          <a:p>
            <a:pPr indent="0" marL="0">
              <a:buNone/>
            </a:pPr>
            <a:r>
              <a:rPr lang="en-US" sz="2200" dirty="0">
                <a:solidFill>
                  <a:srgbClr val="C0D4C2"/>
                </a:solidFill>
                <a:latin typeface="Calibri" pitchFamily="34" charset="0"/>
                <a:ea typeface="Calibri" pitchFamily="34" charset="-122"/>
                <a:cs typeface="Calibri" pitchFamily="34" charset="-120"/>
              </a:rPr>
              <a:t>A career launch dashboard prototype, designed for students</a:t>
            </a:r>
            <a:endParaRPr lang="en-US" sz="2200" dirty="0"/>
          </a:p>
        </p:txBody>
      </p:sp>
      <p:sp>
        <p:nvSpPr>
          <p:cNvPr id="6" name="Text 4"/>
          <p:cNvSpPr/>
          <p:nvPr/>
        </p:nvSpPr>
        <p:spPr>
          <a:xfrm>
            <a:off x="960120" y="4114800"/>
            <a:ext cx="10698480" cy="548640"/>
          </a:xfrm>
          <a:prstGeom prst="rect">
            <a:avLst/>
          </a:prstGeom>
          <a:noFill/>
          <a:ln/>
        </p:spPr>
        <p:txBody>
          <a:bodyPr wrap="square" rtlCol="0" anchor="ctr"/>
          <a:lstStyle/>
          <a:p>
            <a:pPr indent="0" marL="0">
              <a:buNone/>
            </a:pPr>
            <a:r>
              <a:rPr lang="en-US" sz="2200" dirty="0">
                <a:solidFill>
                  <a:srgbClr val="C0D4C2"/>
                </a:solidFill>
                <a:latin typeface="Calibri" pitchFamily="34" charset="0"/>
                <a:ea typeface="Calibri" pitchFamily="34" charset="-122"/>
                <a:cs typeface="Calibri" pitchFamily="34" charset="-120"/>
              </a:rPr>
              <a:t>to build during AVC 248 and take with them after graduation.</a:t>
            </a:r>
            <a:endParaRPr lang="en-US" sz="2200" dirty="0"/>
          </a:p>
        </p:txBody>
      </p:sp>
      <p:sp>
        <p:nvSpPr>
          <p:cNvPr id="7" name="Text 5"/>
          <p:cNvSpPr/>
          <p:nvPr/>
        </p:nvSpPr>
        <p:spPr>
          <a:xfrm>
            <a:off x="960120" y="5486400"/>
            <a:ext cx="10698480" cy="365760"/>
          </a:xfrm>
          <a:prstGeom prst="rect">
            <a:avLst/>
          </a:prstGeom>
          <a:noFill/>
          <a:ln/>
        </p:spPr>
        <p:txBody>
          <a:bodyPr wrap="square" rtlCol="0" anchor="ctr"/>
          <a:lstStyle/>
          <a:p>
            <a:pPr indent="0" marL="0">
              <a:buNone/>
            </a:pPr>
            <a:r>
              <a:rPr lang="en-US" sz="1400" i="1" dirty="0">
                <a:solidFill>
                  <a:srgbClr val="E6D2B3"/>
                </a:solidFill>
                <a:latin typeface="Calibri" pitchFamily="34" charset="0"/>
                <a:ea typeface="Calibri" pitchFamily="34" charset="-122"/>
                <a:cs typeface="Calibri" pitchFamily="34" charset="-120"/>
              </a:rPr>
              <a:t>Prototype · Fall 2026 pilot · singletrackmom.github.io/render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10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HOW IT WORKS UNDER THE HOOD</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Local-first. No login. Designed to be theirs.</a:t>
            </a:r>
            <a:endParaRPr lang="en-US" sz="4200" dirty="0"/>
          </a:p>
        </p:txBody>
      </p:sp>
      <p:sp>
        <p:nvSpPr>
          <p:cNvPr id="7" name="Shape 5"/>
          <p:cNvSpPr/>
          <p:nvPr/>
        </p:nvSpPr>
        <p:spPr>
          <a:xfrm>
            <a:off x="548640" y="25603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8" name="Shape 6"/>
          <p:cNvSpPr/>
          <p:nvPr/>
        </p:nvSpPr>
        <p:spPr>
          <a:xfrm>
            <a:off x="548640" y="2560320"/>
            <a:ext cx="91440" cy="1691640"/>
          </a:xfrm>
          <a:prstGeom prst="rect">
            <a:avLst/>
          </a:prstGeom>
          <a:solidFill>
            <a:srgbClr val="7A5080"/>
          </a:solidFill>
          <a:ln/>
        </p:spPr>
      </p:sp>
      <p:sp>
        <p:nvSpPr>
          <p:cNvPr id="9" name="Text 7"/>
          <p:cNvSpPr/>
          <p:nvPr/>
        </p:nvSpPr>
        <p:spPr>
          <a:xfrm>
            <a:off x="804672" y="27249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Single HTML file</a:t>
            </a:r>
            <a:endParaRPr lang="en-US" sz="1400" dirty="0"/>
          </a:p>
        </p:txBody>
      </p:sp>
      <p:sp>
        <p:nvSpPr>
          <p:cNvPr id="10" name="Text 8"/>
          <p:cNvSpPr/>
          <p:nvPr/>
        </p:nvSpPr>
        <p:spPr>
          <a:xfrm>
            <a:off x="804672" y="31272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Vanilla JavaScript. No framework, no build step, no server. The whole app is one file students can save and run anywhere.</a:t>
            </a:r>
            <a:endParaRPr lang="en-US" sz="1150" dirty="0"/>
          </a:p>
        </p:txBody>
      </p:sp>
      <p:sp>
        <p:nvSpPr>
          <p:cNvPr id="11" name="Shape 9"/>
          <p:cNvSpPr/>
          <p:nvPr/>
        </p:nvSpPr>
        <p:spPr>
          <a:xfrm>
            <a:off x="4352544" y="25603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12" name="Shape 10"/>
          <p:cNvSpPr/>
          <p:nvPr/>
        </p:nvSpPr>
        <p:spPr>
          <a:xfrm>
            <a:off x="4352544" y="2560320"/>
            <a:ext cx="91440" cy="1691640"/>
          </a:xfrm>
          <a:prstGeom prst="rect">
            <a:avLst/>
          </a:prstGeom>
          <a:solidFill>
            <a:srgbClr val="6B8F6E"/>
          </a:solidFill>
          <a:ln/>
        </p:spPr>
      </p:sp>
      <p:sp>
        <p:nvSpPr>
          <p:cNvPr id="13" name="Text 11"/>
          <p:cNvSpPr/>
          <p:nvPr/>
        </p:nvSpPr>
        <p:spPr>
          <a:xfrm>
            <a:off x="4608576" y="27249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Browser localStorage</a:t>
            </a:r>
            <a:endParaRPr lang="en-US" sz="1400" dirty="0"/>
          </a:p>
        </p:txBody>
      </p:sp>
      <p:sp>
        <p:nvSpPr>
          <p:cNvPr id="14" name="Text 12"/>
          <p:cNvSpPr/>
          <p:nvPr/>
        </p:nvSpPr>
        <p:spPr>
          <a:xfrm>
            <a:off x="4608576" y="31272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All student data persists on their own machine. Auto-saves continuously. No account, no cloud, no third party sees their work.</a:t>
            </a:r>
            <a:endParaRPr lang="en-US" sz="1150" dirty="0"/>
          </a:p>
        </p:txBody>
      </p:sp>
      <p:sp>
        <p:nvSpPr>
          <p:cNvPr id="15" name="Shape 13"/>
          <p:cNvSpPr/>
          <p:nvPr/>
        </p:nvSpPr>
        <p:spPr>
          <a:xfrm>
            <a:off x="8156448" y="25603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16" name="Shape 14"/>
          <p:cNvSpPr/>
          <p:nvPr/>
        </p:nvSpPr>
        <p:spPr>
          <a:xfrm>
            <a:off x="8156448" y="2560320"/>
            <a:ext cx="91440" cy="1691640"/>
          </a:xfrm>
          <a:prstGeom prst="rect">
            <a:avLst/>
          </a:prstGeom>
          <a:solidFill>
            <a:srgbClr val="B8956A"/>
          </a:solidFill>
          <a:ln/>
        </p:spPr>
      </p:sp>
      <p:sp>
        <p:nvSpPr>
          <p:cNvPr id="17" name="Text 15"/>
          <p:cNvSpPr/>
          <p:nvPr/>
        </p:nvSpPr>
        <p:spPr>
          <a:xfrm>
            <a:off x="8412480" y="27249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JSON export, JSON import</a:t>
            </a:r>
            <a:endParaRPr lang="en-US" sz="1400" dirty="0"/>
          </a:p>
        </p:txBody>
      </p:sp>
      <p:sp>
        <p:nvSpPr>
          <p:cNvPr id="18" name="Text 16"/>
          <p:cNvSpPr/>
          <p:nvPr/>
        </p:nvSpPr>
        <p:spPr>
          <a:xfrm>
            <a:off x="8412480" y="31272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One click downloads everything as a JSON file. Their backup. Their property. They can move it to any computer, any time.</a:t>
            </a:r>
            <a:endParaRPr lang="en-US" sz="1150" dirty="0"/>
          </a:p>
        </p:txBody>
      </p:sp>
      <p:sp>
        <p:nvSpPr>
          <p:cNvPr id="19" name="Shape 17"/>
          <p:cNvSpPr/>
          <p:nvPr/>
        </p:nvSpPr>
        <p:spPr>
          <a:xfrm>
            <a:off x="548640" y="43891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20" name="Shape 18"/>
          <p:cNvSpPr/>
          <p:nvPr/>
        </p:nvSpPr>
        <p:spPr>
          <a:xfrm>
            <a:off x="548640" y="4389120"/>
            <a:ext cx="91440" cy="1691640"/>
          </a:xfrm>
          <a:prstGeom prst="rect">
            <a:avLst/>
          </a:prstGeom>
          <a:solidFill>
            <a:srgbClr val="C4929E"/>
          </a:solidFill>
          <a:ln/>
        </p:spPr>
      </p:sp>
      <p:sp>
        <p:nvSpPr>
          <p:cNvPr id="21" name="Text 19"/>
          <p:cNvSpPr/>
          <p:nvPr/>
        </p:nvSpPr>
        <p:spPr>
          <a:xfrm>
            <a:off x="804672" y="45537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Claude API (optional)</a:t>
            </a:r>
            <a:endParaRPr lang="en-US" sz="1400" dirty="0"/>
          </a:p>
        </p:txBody>
      </p:sp>
      <p:sp>
        <p:nvSpPr>
          <p:cNvPr id="22" name="Text 20"/>
          <p:cNvSpPr/>
          <p:nvPr/>
        </p:nvSpPr>
        <p:spPr>
          <a:xfrm>
            <a:off x="804672" y="49560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Live AI features call Anthropic’s Sonnet 4 directly from the browser. The student adds their own API key in Settings. Optional.</a:t>
            </a:r>
            <a:endParaRPr lang="en-US" sz="1150" dirty="0"/>
          </a:p>
        </p:txBody>
      </p:sp>
      <p:sp>
        <p:nvSpPr>
          <p:cNvPr id="23" name="Shape 21"/>
          <p:cNvSpPr/>
          <p:nvPr/>
        </p:nvSpPr>
        <p:spPr>
          <a:xfrm>
            <a:off x="4352544" y="43891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24" name="Shape 22"/>
          <p:cNvSpPr/>
          <p:nvPr/>
        </p:nvSpPr>
        <p:spPr>
          <a:xfrm>
            <a:off x="4352544" y="4389120"/>
            <a:ext cx="91440" cy="1691640"/>
          </a:xfrm>
          <a:prstGeom prst="rect">
            <a:avLst/>
          </a:prstGeom>
          <a:solidFill>
            <a:srgbClr val="7A5080"/>
          </a:solidFill>
          <a:ln/>
        </p:spPr>
      </p:sp>
      <p:sp>
        <p:nvSpPr>
          <p:cNvPr id="25" name="Text 23"/>
          <p:cNvSpPr/>
          <p:nvPr/>
        </p:nvSpPr>
        <p:spPr>
          <a:xfrm>
            <a:off x="4608576" y="45537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Copy-prompt mode</a:t>
            </a:r>
            <a:endParaRPr lang="en-US" sz="1400" dirty="0"/>
          </a:p>
        </p:txBody>
      </p:sp>
      <p:sp>
        <p:nvSpPr>
          <p:cNvPr id="26" name="Text 24"/>
          <p:cNvSpPr/>
          <p:nvPr/>
        </p:nvSpPr>
        <p:spPr>
          <a:xfrm>
            <a:off x="4608576" y="49560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Without an API key, every AI button copies the engineered prompt to clipboard. Paste into Claude.ai, ChatGPT, Gemini. Their choice.</a:t>
            </a:r>
            <a:endParaRPr lang="en-US" sz="1150" dirty="0"/>
          </a:p>
        </p:txBody>
      </p:sp>
      <p:sp>
        <p:nvSpPr>
          <p:cNvPr id="27" name="Shape 25"/>
          <p:cNvSpPr/>
          <p:nvPr/>
        </p:nvSpPr>
        <p:spPr>
          <a:xfrm>
            <a:off x="8156448" y="4389120"/>
            <a:ext cx="3611880" cy="1691640"/>
          </a:xfrm>
          <a:prstGeom prst="rect">
            <a:avLst/>
          </a:prstGeom>
          <a:solidFill>
            <a:srgbClr val="FFFFFF"/>
          </a:solidFill>
          <a:ln w="9525">
            <a:solidFill>
              <a:srgbClr val="E8E0E3"/>
            </a:solidFill>
            <a:prstDash val="solid"/>
          </a:ln>
          <a:effectLst>
            <a:outerShdw sx="100000" sy="100000" kx="0" ky="0" algn="bl" rotWithShape="0" blurRad="50800" dist="12700" dir="8100000">
              <a:srgbClr val="000000">
                <a:alpha val="5000"/>
              </a:srgbClr>
            </a:outerShdw>
          </a:effectLst>
        </p:spPr>
      </p:sp>
      <p:sp>
        <p:nvSpPr>
          <p:cNvPr id="28" name="Shape 26"/>
          <p:cNvSpPr/>
          <p:nvPr/>
        </p:nvSpPr>
        <p:spPr>
          <a:xfrm>
            <a:off x="8156448" y="4389120"/>
            <a:ext cx="91440" cy="1691640"/>
          </a:xfrm>
          <a:prstGeom prst="rect">
            <a:avLst/>
          </a:prstGeom>
          <a:solidFill>
            <a:srgbClr val="6B8F6E"/>
          </a:solidFill>
          <a:ln/>
        </p:spPr>
      </p:sp>
      <p:sp>
        <p:nvSpPr>
          <p:cNvPr id="29" name="Text 27"/>
          <p:cNvSpPr/>
          <p:nvPr/>
        </p:nvSpPr>
        <p:spPr>
          <a:xfrm>
            <a:off x="8412480" y="4553712"/>
            <a:ext cx="3246120" cy="365760"/>
          </a:xfrm>
          <a:prstGeom prst="rect">
            <a:avLst/>
          </a:prstGeom>
          <a:noFill/>
          <a:ln/>
        </p:spPr>
        <p:txBody>
          <a:bodyPr wrap="square" lIns="0" tIns="0" rIns="0" bIns="0" rtlCol="0" anchor="ctr"/>
          <a:lstStyle/>
          <a:p>
            <a:pPr indent="0" marL="0">
              <a:buNone/>
            </a:pPr>
            <a:r>
              <a:rPr lang="en-US" sz="1400" b="1" dirty="0">
                <a:solidFill>
                  <a:srgbClr val="2A2025"/>
                </a:solidFill>
                <a:latin typeface="Cambria" pitchFamily="34" charset="0"/>
                <a:ea typeface="Cambria" pitchFamily="34" charset="-122"/>
                <a:cs typeface="Cambria" pitchFamily="34" charset="-120"/>
              </a:rPr>
              <a:t>FERPA-clean by design</a:t>
            </a:r>
            <a:endParaRPr lang="en-US" sz="1400" dirty="0"/>
          </a:p>
        </p:txBody>
      </p:sp>
      <p:sp>
        <p:nvSpPr>
          <p:cNvPr id="30" name="Text 28"/>
          <p:cNvSpPr/>
          <p:nvPr/>
        </p:nvSpPr>
        <p:spPr>
          <a:xfrm>
            <a:off x="8412480" y="4956048"/>
            <a:ext cx="3246120" cy="1051560"/>
          </a:xfrm>
          <a:prstGeom prst="rect">
            <a:avLst/>
          </a:prstGeom>
          <a:noFill/>
          <a:ln/>
        </p:spPr>
        <p:txBody>
          <a:bodyPr wrap="square" lIns="0" tIns="0" rIns="0" bIns="0" rtlCol="0" anchor="t"/>
          <a:lstStyle/>
          <a:p>
            <a:pPr indent="0" marL="0">
              <a:buNone/>
            </a:pPr>
            <a:r>
              <a:rPr lang="en-US" sz="1150" dirty="0">
                <a:solidFill>
                  <a:srgbClr val="2A2025"/>
                </a:solidFill>
                <a:latin typeface="Calibri" pitchFamily="34" charset="0"/>
                <a:ea typeface="Calibri" pitchFamily="34" charset="-122"/>
                <a:cs typeface="Calibri" pitchFamily="34" charset="-120"/>
              </a:rPr>
              <a:t>Built so no PII is transmitted. A proposed Career Services pipeline would send anonymous employer data only, via Google Apps Script. Adoption pending.</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11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MEET THREE STUDENTS</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Three paths through the same tool.</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Each one has different time, different goals, different output.</a:t>
            </a:r>
            <a:endParaRPr lang="en-US" sz="1800" dirty="0"/>
          </a:p>
        </p:txBody>
      </p:sp>
      <p:sp>
        <p:nvSpPr>
          <p:cNvPr id="8" name="Shape 6"/>
          <p:cNvSpPr/>
          <p:nvPr/>
        </p:nvSpPr>
        <p:spPr>
          <a:xfrm>
            <a:off x="548640" y="2834640"/>
            <a:ext cx="3611880" cy="347472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548640" y="2834640"/>
            <a:ext cx="3611880" cy="137160"/>
          </a:xfrm>
          <a:prstGeom prst="rect">
            <a:avLst/>
          </a:prstGeom>
          <a:solidFill>
            <a:srgbClr val="7A5080"/>
          </a:solidFill>
          <a:ln/>
        </p:spPr>
      </p:sp>
      <p:sp>
        <p:nvSpPr>
          <p:cNvPr id="10" name="Text 8"/>
          <p:cNvSpPr/>
          <p:nvPr/>
        </p:nvSpPr>
        <p:spPr>
          <a:xfrm>
            <a:off x="822960" y="3108960"/>
            <a:ext cx="3063240" cy="411480"/>
          </a:xfrm>
          <a:prstGeom prst="rect">
            <a:avLst/>
          </a:prstGeom>
          <a:noFill/>
          <a:ln/>
        </p:spPr>
        <p:txBody>
          <a:bodyPr wrap="square" lIns="0" tIns="0" rIns="0" bIns="0" rtlCol="0" anchor="ctr"/>
          <a:lstStyle/>
          <a:p>
            <a:pPr indent="0" marL="0">
              <a:buNone/>
            </a:pPr>
            <a:r>
              <a:rPr lang="en-US" sz="2400" b="1" dirty="0">
                <a:solidFill>
                  <a:srgbClr val="2A2025"/>
                </a:solidFill>
                <a:latin typeface="Cambria" pitchFamily="34" charset="0"/>
                <a:ea typeface="Cambria" pitchFamily="34" charset="-122"/>
                <a:cs typeface="Cambria" pitchFamily="34" charset="-120"/>
              </a:rPr>
              <a:t>Maya</a:t>
            </a:r>
            <a:endParaRPr lang="en-US" sz="2400" dirty="0"/>
          </a:p>
        </p:txBody>
      </p:sp>
      <p:sp>
        <p:nvSpPr>
          <p:cNvPr id="11" name="Text 9"/>
          <p:cNvSpPr/>
          <p:nvPr/>
        </p:nvSpPr>
        <p:spPr>
          <a:xfrm>
            <a:off x="822960" y="3547872"/>
            <a:ext cx="3063240" cy="457200"/>
          </a:xfrm>
          <a:prstGeom prst="rect">
            <a:avLst/>
          </a:prstGeom>
          <a:noFill/>
          <a:ln/>
        </p:spPr>
        <p:txBody>
          <a:bodyPr wrap="square" lIns="0" tIns="0" rIns="0" bIns="0" rtlCol="0" anchor="ctr"/>
          <a:lstStyle/>
          <a:p>
            <a:pPr indent="0" marL="0">
              <a:buNone/>
            </a:pPr>
            <a:r>
              <a:rPr lang="en-US" sz="1200" i="1" dirty="0">
                <a:solidFill>
                  <a:srgbClr val="7A5080"/>
                </a:solidFill>
                <a:latin typeface="Calibri" pitchFamily="34" charset="0"/>
                <a:ea typeface="Calibri" pitchFamily="34" charset="-122"/>
                <a:cs typeface="Calibri" pitchFamily="34" charset="-120"/>
              </a:rPr>
              <a:t>Brand and graphic design, looking for studio job</a:t>
            </a:r>
            <a:endParaRPr lang="en-US" sz="1200" dirty="0"/>
          </a:p>
        </p:txBody>
      </p:sp>
      <p:sp>
        <p:nvSpPr>
          <p:cNvPr id="12" name="Text 10"/>
          <p:cNvSpPr/>
          <p:nvPr/>
        </p:nvSpPr>
        <p:spPr>
          <a:xfrm>
            <a:off x="822960" y="411480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HOURS / WEEK</a:t>
            </a:r>
            <a:endParaRPr lang="en-US" sz="900" dirty="0"/>
          </a:p>
        </p:txBody>
      </p:sp>
      <p:sp>
        <p:nvSpPr>
          <p:cNvPr id="13" name="Text 11"/>
          <p:cNvSpPr/>
          <p:nvPr/>
        </p:nvSpPr>
        <p:spPr>
          <a:xfrm>
            <a:off x="822960" y="4389120"/>
            <a:ext cx="3063240" cy="45720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21 hrs</a:t>
            </a:r>
            <a:endParaRPr lang="en-US" sz="2800" dirty="0"/>
          </a:p>
        </p:txBody>
      </p:sp>
      <p:sp>
        <p:nvSpPr>
          <p:cNvPr id="14" name="Text 12"/>
          <p:cNvSpPr/>
          <p:nvPr/>
        </p:nvSpPr>
        <p:spPr>
          <a:xfrm>
            <a:off x="822960" y="507492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WHERE TIME GOES</a:t>
            </a:r>
            <a:endParaRPr lang="en-US" sz="900" dirty="0"/>
          </a:p>
        </p:txBody>
      </p:sp>
      <p:sp>
        <p:nvSpPr>
          <p:cNvPr id="15" name="Text 13"/>
          <p:cNvSpPr/>
          <p:nvPr/>
        </p:nvSpPr>
        <p:spPr>
          <a:xfrm>
            <a:off x="822960" y="5349240"/>
            <a:ext cx="3063240" cy="868680"/>
          </a:xfrm>
          <a:prstGeom prst="rect">
            <a:avLst/>
          </a:prstGeom>
          <a:noFill/>
          <a:ln/>
        </p:spPr>
        <p:txBody>
          <a:bodyPr wrap="square" lIns="0" tIns="0" rIns="0" bIns="0" rtlCol="0" anchor="t"/>
          <a:lstStyle/>
          <a:p>
            <a:pPr indent="0" marL="0">
              <a:buNone/>
            </a:pPr>
            <a:r>
              <a:rPr lang="en-US" sz="1250" dirty="0">
                <a:solidFill>
                  <a:srgbClr val="2A2025"/>
                </a:solidFill>
                <a:latin typeface="Calibri" pitchFamily="34" charset="0"/>
                <a:ea typeface="Calibri" pitchFamily="34" charset="-122"/>
                <a:cs typeface="Calibri" pitchFamily="34" charset="-120"/>
              </a:rPr>
              <a:t>Search 8 hrs · Learn 5 hrs · Portfolio 6 hrs · Network 2 hrs</a:t>
            </a:r>
            <a:endParaRPr lang="en-US" sz="1250" dirty="0"/>
          </a:p>
        </p:txBody>
      </p:sp>
      <p:sp>
        <p:nvSpPr>
          <p:cNvPr id="16" name="Shape 14"/>
          <p:cNvSpPr/>
          <p:nvPr/>
        </p:nvSpPr>
        <p:spPr>
          <a:xfrm>
            <a:off x="4352544" y="2834640"/>
            <a:ext cx="3611880" cy="347472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7" name="Shape 15"/>
          <p:cNvSpPr/>
          <p:nvPr/>
        </p:nvSpPr>
        <p:spPr>
          <a:xfrm>
            <a:off x="4352544" y="2834640"/>
            <a:ext cx="3611880" cy="137160"/>
          </a:xfrm>
          <a:prstGeom prst="rect">
            <a:avLst/>
          </a:prstGeom>
          <a:solidFill>
            <a:srgbClr val="6B8F6E"/>
          </a:solidFill>
          <a:ln/>
        </p:spPr>
      </p:sp>
      <p:sp>
        <p:nvSpPr>
          <p:cNvPr id="18" name="Text 16"/>
          <p:cNvSpPr/>
          <p:nvPr/>
        </p:nvSpPr>
        <p:spPr>
          <a:xfrm>
            <a:off x="4626864" y="3108960"/>
            <a:ext cx="3063240" cy="411480"/>
          </a:xfrm>
          <a:prstGeom prst="rect">
            <a:avLst/>
          </a:prstGeom>
          <a:noFill/>
          <a:ln/>
        </p:spPr>
        <p:txBody>
          <a:bodyPr wrap="square" lIns="0" tIns="0" rIns="0" bIns="0" rtlCol="0" anchor="ctr"/>
          <a:lstStyle/>
          <a:p>
            <a:pPr indent="0" marL="0">
              <a:buNone/>
            </a:pPr>
            <a:r>
              <a:rPr lang="en-US" sz="2400" b="1" dirty="0">
                <a:solidFill>
                  <a:srgbClr val="2A2025"/>
                </a:solidFill>
                <a:latin typeface="Cambria" pitchFamily="34" charset="0"/>
                <a:ea typeface="Cambria" pitchFamily="34" charset="-122"/>
                <a:cs typeface="Cambria" pitchFamily="34" charset="-120"/>
              </a:rPr>
              <a:t>Riley</a:t>
            </a:r>
            <a:endParaRPr lang="en-US" sz="2400" dirty="0"/>
          </a:p>
        </p:txBody>
      </p:sp>
      <p:sp>
        <p:nvSpPr>
          <p:cNvPr id="19" name="Text 17"/>
          <p:cNvSpPr/>
          <p:nvPr/>
        </p:nvSpPr>
        <p:spPr>
          <a:xfrm>
            <a:off x="4626864" y="3547872"/>
            <a:ext cx="3063240" cy="457200"/>
          </a:xfrm>
          <a:prstGeom prst="rect">
            <a:avLst/>
          </a:prstGeom>
          <a:noFill/>
          <a:ln/>
        </p:spPr>
        <p:txBody>
          <a:bodyPr wrap="square" lIns="0" tIns="0" rIns="0" bIns="0" rtlCol="0" anchor="ctr"/>
          <a:lstStyle/>
          <a:p>
            <a:pPr indent="0" marL="0">
              <a:buNone/>
            </a:pPr>
            <a:r>
              <a:rPr lang="en-US" sz="1200" i="1" dirty="0">
                <a:solidFill>
                  <a:srgbClr val="6B8F6E"/>
                </a:solidFill>
                <a:latin typeface="Calibri" pitchFamily="34" charset="0"/>
                <a:ea typeface="Calibri" pitchFamily="34" charset="-122"/>
                <a:cs typeface="Calibri" pitchFamily="34" charset="-120"/>
              </a:rPr>
              <a:t>Animation and character design, scaling freelance</a:t>
            </a:r>
            <a:endParaRPr lang="en-US" sz="1200" dirty="0"/>
          </a:p>
        </p:txBody>
      </p:sp>
      <p:sp>
        <p:nvSpPr>
          <p:cNvPr id="20" name="Text 18"/>
          <p:cNvSpPr/>
          <p:nvPr/>
        </p:nvSpPr>
        <p:spPr>
          <a:xfrm>
            <a:off x="4626864" y="411480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HOURS / WEEK</a:t>
            </a:r>
            <a:endParaRPr lang="en-US" sz="900" dirty="0"/>
          </a:p>
        </p:txBody>
      </p:sp>
      <p:sp>
        <p:nvSpPr>
          <p:cNvPr id="21" name="Text 19"/>
          <p:cNvSpPr/>
          <p:nvPr/>
        </p:nvSpPr>
        <p:spPr>
          <a:xfrm>
            <a:off x="4626864" y="4389120"/>
            <a:ext cx="3063240" cy="45720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25 hrs</a:t>
            </a:r>
            <a:endParaRPr lang="en-US" sz="2800" dirty="0"/>
          </a:p>
        </p:txBody>
      </p:sp>
      <p:sp>
        <p:nvSpPr>
          <p:cNvPr id="22" name="Text 20"/>
          <p:cNvSpPr/>
          <p:nvPr/>
        </p:nvSpPr>
        <p:spPr>
          <a:xfrm>
            <a:off x="4626864" y="507492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WHERE TIME GOES</a:t>
            </a:r>
            <a:endParaRPr lang="en-US" sz="900" dirty="0"/>
          </a:p>
        </p:txBody>
      </p:sp>
      <p:sp>
        <p:nvSpPr>
          <p:cNvPr id="23" name="Text 21"/>
          <p:cNvSpPr/>
          <p:nvPr/>
        </p:nvSpPr>
        <p:spPr>
          <a:xfrm>
            <a:off x="4626864" y="5349240"/>
            <a:ext cx="3063240" cy="868680"/>
          </a:xfrm>
          <a:prstGeom prst="rect">
            <a:avLst/>
          </a:prstGeom>
          <a:noFill/>
          <a:ln/>
        </p:spPr>
        <p:txBody>
          <a:bodyPr wrap="square" lIns="0" tIns="0" rIns="0" bIns="0" rtlCol="0" anchor="t"/>
          <a:lstStyle/>
          <a:p>
            <a:pPr indent="0" marL="0">
              <a:buNone/>
            </a:pPr>
            <a:r>
              <a:rPr lang="en-US" sz="1250" dirty="0">
                <a:solidFill>
                  <a:srgbClr val="2A2025"/>
                </a:solidFill>
                <a:latin typeface="Calibri" pitchFamily="34" charset="0"/>
                <a:ea typeface="Calibri" pitchFamily="34" charset="-122"/>
                <a:cs typeface="Calibri" pitchFamily="34" charset="-120"/>
              </a:rPr>
              <a:t>Client work 10 hrs · Learn 6 hrs · Marketing 5 hrs · Search 4 hrs</a:t>
            </a:r>
            <a:endParaRPr lang="en-US" sz="1250" dirty="0"/>
          </a:p>
        </p:txBody>
      </p:sp>
      <p:sp>
        <p:nvSpPr>
          <p:cNvPr id="24" name="Shape 22"/>
          <p:cNvSpPr/>
          <p:nvPr/>
        </p:nvSpPr>
        <p:spPr>
          <a:xfrm>
            <a:off x="8156448" y="2834640"/>
            <a:ext cx="3611880" cy="347472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25" name="Shape 23"/>
          <p:cNvSpPr/>
          <p:nvPr/>
        </p:nvSpPr>
        <p:spPr>
          <a:xfrm>
            <a:off x="8156448" y="2834640"/>
            <a:ext cx="3611880" cy="137160"/>
          </a:xfrm>
          <a:prstGeom prst="rect">
            <a:avLst/>
          </a:prstGeom>
          <a:solidFill>
            <a:srgbClr val="B8956A"/>
          </a:solidFill>
          <a:ln/>
        </p:spPr>
      </p:sp>
      <p:sp>
        <p:nvSpPr>
          <p:cNvPr id="26" name="Text 24"/>
          <p:cNvSpPr/>
          <p:nvPr/>
        </p:nvSpPr>
        <p:spPr>
          <a:xfrm>
            <a:off x="8430768" y="3108960"/>
            <a:ext cx="3063240" cy="411480"/>
          </a:xfrm>
          <a:prstGeom prst="rect">
            <a:avLst/>
          </a:prstGeom>
          <a:noFill/>
          <a:ln/>
        </p:spPr>
        <p:txBody>
          <a:bodyPr wrap="square" lIns="0" tIns="0" rIns="0" bIns="0" rtlCol="0" anchor="ctr"/>
          <a:lstStyle/>
          <a:p>
            <a:pPr indent="0" marL="0">
              <a:buNone/>
            </a:pPr>
            <a:r>
              <a:rPr lang="en-US" sz="2400" b="1" dirty="0">
                <a:solidFill>
                  <a:srgbClr val="2A2025"/>
                </a:solidFill>
                <a:latin typeface="Cambria" pitchFamily="34" charset="0"/>
                <a:ea typeface="Cambria" pitchFamily="34" charset="-122"/>
                <a:cs typeface="Cambria" pitchFamily="34" charset="-120"/>
              </a:rPr>
              <a:t>Marco</a:t>
            </a:r>
            <a:endParaRPr lang="en-US" sz="2400" dirty="0"/>
          </a:p>
        </p:txBody>
      </p:sp>
      <p:sp>
        <p:nvSpPr>
          <p:cNvPr id="27" name="Text 25"/>
          <p:cNvSpPr/>
          <p:nvPr/>
        </p:nvSpPr>
        <p:spPr>
          <a:xfrm>
            <a:off x="8430768" y="3547872"/>
            <a:ext cx="3063240" cy="457200"/>
          </a:xfrm>
          <a:prstGeom prst="rect">
            <a:avLst/>
          </a:prstGeom>
          <a:noFill/>
          <a:ln/>
        </p:spPr>
        <p:txBody>
          <a:bodyPr wrap="square" lIns="0" tIns="0" rIns="0" bIns="0" rtlCol="0" anchor="ctr"/>
          <a:lstStyle/>
          <a:p>
            <a:pPr indent="0" marL="0">
              <a:buNone/>
            </a:pPr>
            <a:r>
              <a:rPr lang="en-US" sz="1200" i="1" dirty="0">
                <a:solidFill>
                  <a:srgbClr val="B8956A"/>
                </a:solidFill>
                <a:latin typeface="Calibri" pitchFamily="34" charset="0"/>
                <a:ea typeface="Calibri" pitchFamily="34" charset="-122"/>
                <a:cs typeface="Calibri" pitchFamily="34" charset="-120"/>
              </a:rPr>
              <a:t>Non-traditional, 3D pivot from manufacturing</a:t>
            </a:r>
            <a:endParaRPr lang="en-US" sz="1200" dirty="0"/>
          </a:p>
        </p:txBody>
      </p:sp>
      <p:sp>
        <p:nvSpPr>
          <p:cNvPr id="28" name="Text 26"/>
          <p:cNvSpPr/>
          <p:nvPr/>
        </p:nvSpPr>
        <p:spPr>
          <a:xfrm>
            <a:off x="8430768" y="411480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HOURS / WEEK</a:t>
            </a:r>
            <a:endParaRPr lang="en-US" sz="900" dirty="0"/>
          </a:p>
        </p:txBody>
      </p:sp>
      <p:sp>
        <p:nvSpPr>
          <p:cNvPr id="29" name="Text 27"/>
          <p:cNvSpPr/>
          <p:nvPr/>
        </p:nvSpPr>
        <p:spPr>
          <a:xfrm>
            <a:off x="8430768" y="4389120"/>
            <a:ext cx="3063240" cy="457200"/>
          </a:xfrm>
          <a:prstGeom prst="rect">
            <a:avLst/>
          </a:prstGeom>
          <a:noFill/>
          <a:ln/>
        </p:spPr>
        <p:txBody>
          <a:bodyPr wrap="square" lIns="0" tIns="0" rIns="0" bIns="0" rtlCol="0" anchor="ctr"/>
          <a:lstStyle/>
          <a:p>
            <a:pPr indent="0" marL="0">
              <a:buNone/>
            </a:pPr>
            <a:r>
              <a:rPr lang="en-US" sz="2800" b="1" dirty="0">
                <a:solidFill>
                  <a:srgbClr val="2A2025"/>
                </a:solidFill>
                <a:latin typeface="Cambria" pitchFamily="34" charset="0"/>
                <a:ea typeface="Cambria" pitchFamily="34" charset="-122"/>
                <a:cs typeface="Cambria" pitchFamily="34" charset="-120"/>
              </a:rPr>
              <a:t>16 hrs</a:t>
            </a:r>
            <a:endParaRPr lang="en-US" sz="2800" dirty="0"/>
          </a:p>
        </p:txBody>
      </p:sp>
      <p:sp>
        <p:nvSpPr>
          <p:cNvPr id="30" name="Text 28"/>
          <p:cNvSpPr/>
          <p:nvPr/>
        </p:nvSpPr>
        <p:spPr>
          <a:xfrm>
            <a:off x="8430768" y="5074920"/>
            <a:ext cx="3063240" cy="274320"/>
          </a:xfrm>
          <a:prstGeom prst="rect">
            <a:avLst/>
          </a:prstGeom>
          <a:noFill/>
          <a:ln/>
        </p:spPr>
        <p:txBody>
          <a:bodyPr wrap="square" lIns="0" tIns="0" rIns="0" bIns="0" rtlCol="0" anchor="ctr"/>
          <a:lstStyle/>
          <a:p>
            <a:pPr indent="0" marL="0">
              <a:buNone/>
            </a:pPr>
            <a:r>
              <a:rPr lang="en-US" sz="900" b="1" spc="300" kern="0" dirty="0">
                <a:solidFill>
                  <a:srgbClr val="8A7E83"/>
                </a:solidFill>
                <a:latin typeface="Calibri" pitchFamily="34" charset="0"/>
                <a:ea typeface="Calibri" pitchFamily="34" charset="-122"/>
                <a:cs typeface="Calibri" pitchFamily="34" charset="-120"/>
              </a:rPr>
              <a:t>WHERE TIME GOES</a:t>
            </a:r>
            <a:endParaRPr lang="en-US" sz="900" dirty="0"/>
          </a:p>
        </p:txBody>
      </p:sp>
      <p:sp>
        <p:nvSpPr>
          <p:cNvPr id="31" name="Text 29"/>
          <p:cNvSpPr/>
          <p:nvPr/>
        </p:nvSpPr>
        <p:spPr>
          <a:xfrm>
            <a:off x="8430768" y="5349240"/>
            <a:ext cx="3063240" cy="868680"/>
          </a:xfrm>
          <a:prstGeom prst="rect">
            <a:avLst/>
          </a:prstGeom>
          <a:noFill/>
          <a:ln/>
        </p:spPr>
        <p:txBody>
          <a:bodyPr wrap="square" lIns="0" tIns="0" rIns="0" bIns="0" rtlCol="0" anchor="t"/>
          <a:lstStyle/>
          <a:p>
            <a:pPr indent="0" marL="0">
              <a:buNone/>
            </a:pPr>
            <a:r>
              <a:rPr lang="en-US" sz="1250" dirty="0">
                <a:solidFill>
                  <a:srgbClr val="2A2025"/>
                </a:solidFill>
                <a:latin typeface="Calibri" pitchFamily="34" charset="0"/>
                <a:ea typeface="Calibri" pitchFamily="34" charset="-122"/>
                <a:cs typeface="Calibri" pitchFamily="34" charset="-120"/>
              </a:rPr>
              <a:t>Learn 8 hrs · Portfolio 4 hrs · Search 3 hrs · Network 1 hr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12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WEEKS 1–2</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Profile and Goals.</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Foundation. Set once, refer back to all semester.</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13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ALL SEMESTER</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Job Search Hub.</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The center of gravity. Students save jobs here every week.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14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EVERY OTHER WEEK</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Resume Vault.</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Four drafts, paced to the course schedule. AI tailoring per job.</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15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WEEKS 4–14</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Skills, Gaps, and a Training Plan.</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Built from the jobs they’ve saved. Free resources. AI woven in.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16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WEEK 13  ·  TEXT-BASED, HOW IT WORKS NOW</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The Interview Coach.</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900" i="1" dirty="0">
                <a:solidFill>
                  <a:srgbClr val="7A5080"/>
                </a:solidFill>
                <a:latin typeface="Cambria" pitchFamily="34" charset="0"/>
                <a:ea typeface="Cambria" pitchFamily="34" charset="-122"/>
                <a:cs typeface="Cambria" pitchFamily="34" charset="-120"/>
              </a:rPr>
              <a:t>A multi-turn AI interviewer that reads their resume and the job.</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17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EVERY WEEK AFTER GRADUATION</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Weekly Plan and Hour Tracking.</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The discipline of the course, ported to self-directed life.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18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WALK-THROUGH  ·  WHAT THEY WOULD LEAVE WITH</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The Final Dashboard.</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2100" i="1" dirty="0">
                <a:solidFill>
                  <a:srgbClr val="7A5080"/>
                </a:solidFill>
                <a:latin typeface="Cambria" pitchFamily="34" charset="0"/>
                <a:ea typeface="Cambria" pitchFamily="34" charset="-122"/>
                <a:cs typeface="Cambria" pitchFamily="34" charset="-120"/>
              </a:rPr>
              <a:t>The page designed for them to open every Monday after graduation.</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7A5080"/>
          </a:solidFill>
          <a:ln/>
        </p:spPr>
      </p:sp>
      <p:sp>
        <p:nvSpPr>
          <p:cNvPr id="3" name="Text 1"/>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ea typeface="Calibri" pitchFamily="34" charset="-122"/>
                <a:cs typeface="Calibri" pitchFamily="34" charset="-120"/>
              </a:rPr>
              <a:t>19 / 24</a:t>
            </a:r>
            <a:endParaRPr lang="en-US" sz="900" dirty="0"/>
          </a:p>
        </p:txBody>
      </p:sp>
      <p:sp>
        <p:nvSpPr>
          <p:cNvPr id="4" name="Text 2"/>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ea typeface="Calibri" pitchFamily="34" charset="-122"/>
                <a:cs typeface="Calibri" pitchFamily="34" charset="-120"/>
              </a:rPr>
              <a:t>Michelle Blomberg  ·  Mesa AI Summit 2026</a:t>
            </a:r>
            <a:endParaRPr lang="en-US" sz="900" dirty="0"/>
          </a:p>
        </p:txBody>
      </p:sp>
      <p:sp>
        <p:nvSpPr>
          <p:cNvPr id="5" name="Text 3"/>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ea typeface="Calibri" pitchFamily="34" charset="-122"/>
                <a:cs typeface="Calibri" pitchFamily="34" charset="-120"/>
              </a:rPr>
              <a:t>HOW I BUILT THIS</a:t>
            </a:r>
            <a:endParaRPr lang="en-US" sz="1050" dirty="0"/>
          </a:p>
        </p:txBody>
      </p:sp>
      <p:sp>
        <p:nvSpPr>
          <p:cNvPr id="6" name="Text 4"/>
          <p:cNvSpPr/>
          <p:nvPr/>
        </p:nvSpPr>
        <p:spPr>
          <a:xfrm>
            <a:off x="548640" y="868680"/>
            <a:ext cx="10972800" cy="13716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ea typeface="Cambria" pitchFamily="34" charset="-122"/>
                <a:cs typeface="Cambria" pitchFamily="34" charset="-120"/>
              </a:rPr>
              <a:t>AI as a coding partner.</a:t>
            </a:r>
            <a:endParaRPr lang="en-US" sz="4200" dirty="0"/>
          </a:p>
        </p:txBody>
      </p:sp>
      <p:sp>
        <p:nvSpPr>
          <p:cNvPr id="7" name="Text 5"/>
          <p:cNvSpPr/>
          <p:nvPr/>
        </p:nvSpPr>
        <p:spPr>
          <a:xfrm>
            <a:off x="548640" y="1920240"/>
            <a:ext cx="10972800" cy="640080"/>
          </a:xfrm>
          <a:prstGeom prst="rect">
            <a:avLst/>
          </a:prstGeom>
          <a:noFill/>
          <a:ln/>
        </p:spPr>
        <p:txBody>
          <a:bodyPr wrap="square" lIns="0" tIns="0" rIns="0" bIns="0" rtlCol="0" anchor="ctr"/>
          <a:lstStyle/>
          <a:p>
            <a:pPr indent="0" marL="0">
              <a:buNone/>
            </a:pPr>
            <a:r>
              <a:rPr lang="en-US" sz="1800" i="1" dirty="0">
                <a:solidFill>
                  <a:srgbClr val="8A7E83"/>
                </a:solidFill>
                <a:latin typeface="Cambria" pitchFamily="34" charset="0"/>
                <a:ea typeface="Cambria" pitchFamily="34" charset="-122"/>
                <a:cs typeface="Cambria" pitchFamily="34" charset="-120"/>
              </a:rPr>
              <a:t>A faculty member with a design degree prototyped this in a semester.</a:t>
            </a:r>
            <a:endParaRPr lang="en-US" sz="1800" dirty="0"/>
          </a:p>
        </p:txBody>
      </p:sp>
      <p:sp>
        <p:nvSpPr>
          <p:cNvPr id="8" name="Shape 6"/>
          <p:cNvSpPr/>
          <p:nvPr/>
        </p:nvSpPr>
        <p:spPr>
          <a:xfrm>
            <a:off x="548640" y="2834640"/>
            <a:ext cx="3611880" cy="320040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9" name="Shape 7"/>
          <p:cNvSpPr/>
          <p:nvPr/>
        </p:nvSpPr>
        <p:spPr>
          <a:xfrm>
            <a:off x="548640" y="2834640"/>
            <a:ext cx="3611880" cy="128016"/>
          </a:xfrm>
          <a:prstGeom prst="rect">
            <a:avLst/>
          </a:prstGeom>
          <a:solidFill>
            <a:srgbClr val="7A5080"/>
          </a:solidFill>
          <a:ln/>
        </p:spPr>
      </p:sp>
      <p:pic>
        <p:nvPicPr>
          <p:cNvPr id="10" name="Image 0" descr="preencoded.png"/>
          <p:cNvPicPr>
            <a:picLocks noChangeAspect="1"/>
          </p:cNvPicPr>
          <p:nvPr/>
        </p:nvPicPr>
        <p:blipFill>
          <a:blip r:embed="rId1"/>
          <a:stretch>
            <a:fillRect/>
          </a:stretch>
        </p:blipFill>
        <p:spPr>
          <a:xfrm>
            <a:off x="868680" y="3108960"/>
            <a:ext cx="502920" cy="502920"/>
          </a:xfrm>
          <a:prstGeom prst="rect">
            <a:avLst/>
          </a:prstGeom>
        </p:spPr>
      </p:pic>
      <p:sp>
        <p:nvSpPr>
          <p:cNvPr id="11" name="Text 8"/>
          <p:cNvSpPr/>
          <p:nvPr/>
        </p:nvSpPr>
        <p:spPr>
          <a:xfrm>
            <a:off x="868680" y="3703320"/>
            <a:ext cx="2971800" cy="45720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PRD first</a:t>
            </a:r>
            <a:endParaRPr lang="en-US" sz="1800" dirty="0"/>
          </a:p>
        </p:txBody>
      </p:sp>
      <p:sp>
        <p:nvSpPr>
          <p:cNvPr id="12" name="Text 9"/>
          <p:cNvSpPr/>
          <p:nvPr/>
        </p:nvSpPr>
        <p:spPr>
          <a:xfrm>
            <a:off x="868680" y="4160520"/>
            <a:ext cx="2971800" cy="1737360"/>
          </a:xfrm>
          <a:prstGeom prst="rect">
            <a:avLst/>
          </a:prstGeom>
          <a:noFill/>
          <a:ln/>
        </p:spPr>
        <p:txBody>
          <a:bodyPr wrap="square" lIns="0" tIns="0" rIns="0" bIns="0" rtlCol="0" anchor="t"/>
          <a:lstStyle/>
          <a:p>
            <a:pPr indent="0" marL="0">
              <a:buNone/>
            </a:pPr>
            <a:r>
              <a:rPr lang="en-US" sz="1300" dirty="0">
                <a:solidFill>
                  <a:srgbClr val="2A2025"/>
                </a:solidFill>
                <a:latin typeface="Calibri" pitchFamily="34" charset="0"/>
                <a:ea typeface="Calibri" pitchFamily="34" charset="-122"/>
                <a:cs typeface="Calibri" pitchFamily="34" charset="-120"/>
              </a:rPr>
              <a:t>I wrote the product requirements document before any code. Claude helped me think it through. The PRD is what kept the project from sprawling.</a:t>
            </a:r>
            <a:endParaRPr lang="en-US" sz="1300" dirty="0"/>
          </a:p>
        </p:txBody>
      </p:sp>
      <p:sp>
        <p:nvSpPr>
          <p:cNvPr id="13" name="Shape 10"/>
          <p:cNvSpPr/>
          <p:nvPr/>
        </p:nvSpPr>
        <p:spPr>
          <a:xfrm>
            <a:off x="4352544" y="2834640"/>
            <a:ext cx="3611880" cy="320040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4" name="Shape 11"/>
          <p:cNvSpPr/>
          <p:nvPr/>
        </p:nvSpPr>
        <p:spPr>
          <a:xfrm>
            <a:off x="4352544" y="2834640"/>
            <a:ext cx="3611880" cy="128016"/>
          </a:xfrm>
          <a:prstGeom prst="rect">
            <a:avLst/>
          </a:prstGeom>
          <a:solidFill>
            <a:srgbClr val="6B8F6E"/>
          </a:solidFill>
          <a:ln/>
        </p:spPr>
      </p:sp>
      <p:pic>
        <p:nvPicPr>
          <p:cNvPr id="15" name="Image 1" descr="preencoded.png"/>
          <p:cNvPicPr>
            <a:picLocks noChangeAspect="1"/>
          </p:cNvPicPr>
          <p:nvPr/>
        </p:nvPicPr>
        <p:blipFill>
          <a:blip r:embed="rId2"/>
          <a:stretch>
            <a:fillRect/>
          </a:stretch>
        </p:blipFill>
        <p:spPr>
          <a:xfrm>
            <a:off x="4672584" y="3108960"/>
            <a:ext cx="502920" cy="502920"/>
          </a:xfrm>
          <a:prstGeom prst="rect">
            <a:avLst/>
          </a:prstGeom>
        </p:spPr>
      </p:pic>
      <p:sp>
        <p:nvSpPr>
          <p:cNvPr id="16" name="Text 12"/>
          <p:cNvSpPr/>
          <p:nvPr/>
        </p:nvSpPr>
        <p:spPr>
          <a:xfrm>
            <a:off x="4672584" y="3703320"/>
            <a:ext cx="2971800" cy="45720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Single HTML file</a:t>
            </a:r>
            <a:endParaRPr lang="en-US" sz="1800" dirty="0"/>
          </a:p>
        </p:txBody>
      </p:sp>
      <p:sp>
        <p:nvSpPr>
          <p:cNvPr id="17" name="Text 13"/>
          <p:cNvSpPr/>
          <p:nvPr/>
        </p:nvSpPr>
        <p:spPr>
          <a:xfrm>
            <a:off x="4672584" y="4160520"/>
            <a:ext cx="2971800" cy="1737360"/>
          </a:xfrm>
          <a:prstGeom prst="rect">
            <a:avLst/>
          </a:prstGeom>
          <a:noFill/>
          <a:ln/>
        </p:spPr>
        <p:txBody>
          <a:bodyPr wrap="square" lIns="0" tIns="0" rIns="0" bIns="0" rtlCol="0" anchor="t"/>
          <a:lstStyle/>
          <a:p>
            <a:pPr indent="0" marL="0">
              <a:buNone/>
            </a:pPr>
            <a:r>
              <a:rPr lang="en-US" sz="1300" dirty="0">
                <a:solidFill>
                  <a:srgbClr val="2A2025"/>
                </a:solidFill>
                <a:latin typeface="Calibri" pitchFamily="34" charset="0"/>
                <a:ea typeface="Calibri" pitchFamily="34" charset="-122"/>
                <a:cs typeface="Calibri" pitchFamily="34" charset="-120"/>
              </a:rPr>
              <a:t>Vanilla JS, no framework. Claude wrote most of the code. I read every line, tested every feature, redesigned every panel. The faculty stays in the loop.</a:t>
            </a:r>
            <a:endParaRPr lang="en-US" sz="1300" dirty="0"/>
          </a:p>
        </p:txBody>
      </p:sp>
      <p:sp>
        <p:nvSpPr>
          <p:cNvPr id="18" name="Shape 14"/>
          <p:cNvSpPr/>
          <p:nvPr/>
        </p:nvSpPr>
        <p:spPr>
          <a:xfrm>
            <a:off x="8156448" y="2834640"/>
            <a:ext cx="3611880" cy="3200400"/>
          </a:xfrm>
          <a:prstGeom prst="rect">
            <a:avLst/>
          </a:prstGeom>
          <a:solidFill>
            <a:srgbClr val="FFFFFF"/>
          </a:solidFill>
          <a:ln w="9525">
            <a:solidFill>
              <a:srgbClr val="E8E0E3"/>
            </a:solidFill>
            <a:prstDash val="solid"/>
          </a:ln>
          <a:effectLst>
            <a:outerShdw sx="100000" sy="100000" kx="0" ky="0" algn="bl" rotWithShape="0" blurRad="76200" dist="12700" dir="8100000">
              <a:srgbClr val="000000">
                <a:alpha val="6000"/>
              </a:srgbClr>
            </a:outerShdw>
          </a:effectLst>
        </p:spPr>
      </p:sp>
      <p:sp>
        <p:nvSpPr>
          <p:cNvPr id="19" name="Shape 15"/>
          <p:cNvSpPr/>
          <p:nvPr/>
        </p:nvSpPr>
        <p:spPr>
          <a:xfrm>
            <a:off x="8156448" y="2834640"/>
            <a:ext cx="3611880" cy="128016"/>
          </a:xfrm>
          <a:prstGeom prst="rect">
            <a:avLst/>
          </a:prstGeom>
          <a:solidFill>
            <a:srgbClr val="B8956A"/>
          </a:solidFill>
          <a:ln/>
        </p:spPr>
      </p:sp>
      <p:pic>
        <p:nvPicPr>
          <p:cNvPr id="20" name="Image 2" descr="preencoded.png"/>
          <p:cNvPicPr>
            <a:picLocks noChangeAspect="1"/>
          </p:cNvPicPr>
          <p:nvPr/>
        </p:nvPicPr>
        <p:blipFill>
          <a:blip r:embed="rId3"/>
          <a:stretch>
            <a:fillRect/>
          </a:stretch>
        </p:blipFill>
        <p:spPr>
          <a:xfrm>
            <a:off x="8476488" y="3108960"/>
            <a:ext cx="502920" cy="502920"/>
          </a:xfrm>
          <a:prstGeom prst="rect">
            <a:avLst/>
          </a:prstGeom>
        </p:spPr>
      </p:pic>
      <p:sp>
        <p:nvSpPr>
          <p:cNvPr id="21" name="Text 16"/>
          <p:cNvSpPr/>
          <p:nvPr/>
        </p:nvSpPr>
        <p:spPr>
          <a:xfrm>
            <a:off x="8476488" y="3703320"/>
            <a:ext cx="2971800" cy="457200"/>
          </a:xfrm>
          <a:prstGeom prst="rect">
            <a:avLst/>
          </a:prstGeom>
          <a:noFill/>
          <a:ln/>
        </p:spPr>
        <p:txBody>
          <a:bodyPr wrap="square" lIns="0" tIns="0" rIns="0" bIns="0" rtlCol="0" anchor="ctr"/>
          <a:lstStyle/>
          <a:p>
            <a:pPr indent="0" marL="0">
              <a:buNone/>
            </a:pPr>
            <a:r>
              <a:rPr lang="en-US" sz="1800" b="1" dirty="0">
                <a:solidFill>
                  <a:srgbClr val="2A2025"/>
                </a:solidFill>
                <a:latin typeface="Cambria" pitchFamily="34" charset="0"/>
                <a:ea typeface="Cambria" pitchFamily="34" charset="-122"/>
                <a:cs typeface="Cambria" pitchFamily="34" charset="-120"/>
              </a:rPr>
              <a:t>Daily AI pair-programming</a:t>
            </a:r>
            <a:endParaRPr lang="en-US" sz="1800" dirty="0"/>
          </a:p>
        </p:txBody>
      </p:sp>
      <p:sp>
        <p:nvSpPr>
          <p:cNvPr id="22" name="Text 17"/>
          <p:cNvSpPr/>
          <p:nvPr/>
        </p:nvSpPr>
        <p:spPr>
          <a:xfrm>
            <a:off x="8476488" y="4160520"/>
            <a:ext cx="2971800" cy="1737360"/>
          </a:xfrm>
          <a:prstGeom prst="rect">
            <a:avLst/>
          </a:prstGeom>
          <a:noFill/>
          <a:ln/>
        </p:spPr>
        <p:txBody>
          <a:bodyPr wrap="square" lIns="0" tIns="0" rIns="0" bIns="0" rtlCol="0" anchor="t"/>
          <a:lstStyle/>
          <a:p>
            <a:pPr indent="0" marL="0">
              <a:buNone/>
            </a:pPr>
            <a:r>
              <a:rPr lang="en-US" sz="1300" dirty="0">
                <a:solidFill>
                  <a:srgbClr val="2A2025"/>
                </a:solidFill>
                <a:latin typeface="Calibri" pitchFamily="34" charset="0"/>
                <a:ea typeface="Calibri" pitchFamily="34" charset="-122"/>
                <a:cs typeface="Calibri" pitchFamily="34" charset="-120"/>
              </a:rPr>
              <a:t>Two-month build. I write the spec in plain English, Claude proposes the code, I iterate. The same workflow my students are about to learn for their jobs.</a:t>
            </a:r>
            <a:endParaRPr lang="en-US" sz="1300" dirty="0"/>
          </a:p>
        </p:txBody>
      </p:sp>
      <p:sp>
        <p:nvSpPr>
          <p:cNvPr id="23" name="Text 18"/>
          <p:cNvSpPr/>
          <p:nvPr/>
        </p:nvSpPr>
        <p:spPr>
          <a:xfrm>
            <a:off x="548640" y="6126480"/>
            <a:ext cx="11064240" cy="274320"/>
          </a:xfrm>
          <a:prstGeom prst="rect">
            <a:avLst/>
          </a:prstGeom>
          <a:noFill/>
          <a:ln/>
        </p:spPr>
        <p:txBody>
          <a:bodyPr wrap="square" lIns="0" tIns="0" rIns="0" bIns="0" rtlCol="0" anchor="ctr"/>
          <a:lstStyle/>
          <a:p>
            <a:pPr indent="0" marL="0">
              <a:buNone/>
            </a:pPr>
            <a:r>
              <a:rPr lang="en-US" sz="1050" b="1" i="1" dirty="0">
                <a:solidFill>
                  <a:srgbClr val="8A7E83"/>
                </a:solidFill>
                <a:latin typeface="Calibri" pitchFamily="34" charset="0"/>
                <a:ea typeface="Calibri" pitchFamily="34" charset="-122"/>
                <a:cs typeface="Calibri" pitchFamily="34" charset="-120"/>
              </a:rPr>
              <a:t xml:space="preserve">My stack: </a:t>
            </a:r>
            <a:pPr indent="0" marL="0">
              <a:buNone/>
            </a:pPr>
            <a:r>
              <a:rPr lang="en-US" sz="1050" i="1" dirty="0">
                <a:solidFill>
                  <a:srgbClr val="8A7E83"/>
                </a:solidFill>
                <a:latin typeface="Calibri" pitchFamily="34" charset="0"/>
                <a:ea typeface="Calibri" pitchFamily="34" charset="-122"/>
                <a:cs typeface="Calibri" pitchFamily="34" charset="-120"/>
              </a:rPr>
              <a:t>Claude Opus 4.7 on Anthropic’s $100/month Max subscription  ·  VS Code  ·  GitHub Pages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Side Bar"/>
          <p:cNvSpPr/>
          <p:nvPr/>
        </p:nvSpPr>
        <p:spPr>
          <a:xfrm>
            <a:off x="0" y="0"/>
            <a:ext cx="164592" cy="6858000"/>
          </a:xfrm>
          <a:prstGeom prst="rect">
            <a:avLst/>
          </a:prstGeom>
          <a:solidFill>
            <a:srgbClr val="7A5080"/>
          </a:solidFill>
          <a:ln/>
        </p:spPr>
      </p:sp>
      <p:sp>
        <p:nvSpPr>
          <p:cNvPr id="3" name="Page Number"/>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rPr>
              <a:t>23 / 24</a:t>
            </a:r>
            <a:endParaRPr lang="en-US" sz="900" dirty="0"/>
          </a:p>
        </p:txBody>
      </p:sp>
      <p:sp>
        <p:nvSpPr>
          <p:cNvPr id="4" name="Footer"/>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rPr>
              <a:t>Michelle Blomberg  ·  Mesa AI Summit 2026</a:t>
            </a:r>
            <a:endParaRPr lang="en-US" sz="900" dirty="0"/>
          </a:p>
        </p:txBody>
      </p:sp>
      <p:sp>
        <p:nvSpPr>
          <p:cNvPr id="5" name="Section Label"/>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rPr>
              <a:t>WHAT IS NEXT</a:t>
            </a:r>
            <a:endParaRPr lang="en-US" sz="1050" dirty="0"/>
          </a:p>
        </p:txBody>
      </p:sp>
      <p:sp>
        <p:nvSpPr>
          <p:cNvPr id="6" name="Title"/>
          <p:cNvSpPr/>
          <p:nvPr/>
        </p:nvSpPr>
        <p:spPr>
          <a:xfrm>
            <a:off x="548640" y="868680"/>
            <a:ext cx="10972800" cy="82296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rPr>
              <a:t>Testing it for real.</a:t>
            </a:r>
            <a:endParaRPr lang="en-US" sz="4200" dirty="0"/>
          </a:p>
        </p:txBody>
      </p:sp>
      <p:sp>
        <p:nvSpPr>
          <p:cNvPr id="7" name="Subtitle"/>
          <p:cNvSpPr/>
          <p:nvPr/>
        </p:nvSpPr>
        <p:spPr>
          <a:xfrm>
            <a:off x="548640" y="1737360"/>
            <a:ext cx="10972800" cy="457200"/>
          </a:xfrm>
          <a:prstGeom prst="rect">
            <a:avLst/>
          </a:prstGeom>
          <a:noFill/>
          <a:ln/>
        </p:spPr>
        <p:txBody>
          <a:bodyPr wrap="square" lIns="0" tIns="0" rIns="0" bIns="0" rtlCol="0" anchor="ctr"/>
          <a:lstStyle/>
          <a:p>
            <a:pPr indent="0" marL="0">
              <a:buNone/>
            </a:pPr>
            <a:r>
              <a:rPr lang="en-US" sz="1700" i="1" dirty="0">
                <a:solidFill>
                  <a:srgbClr val="7A5080"/>
                </a:solidFill>
                <a:latin typeface="Cambria" pitchFamily="34" charset="0"/>
              </a:rPr>
              <a:t>Render is a prototype. The point of the next year is to find out what actually works.</a:t>
            </a:r>
            <a:endParaRPr lang="en-US" sz="1700" i="1" dirty="0"/>
          </a:p>
        </p:txBody>
      </p:sp>
      <p:sp>
        <p:nvSpPr>
          <p:cNvPr id="8" name="Card 1"/>
          <p:cNvSpPr/>
          <p:nvPr/>
        </p:nvSpPr>
        <p:spPr>
          <a:xfrm>
            <a:off x="548640" y="2514600"/>
            <a:ext cx="5212080" cy="3383280"/>
          </a:xfrm>
          <a:prstGeom prst="rect">
            <a:avLst/>
          </a:prstGeom>
          <a:solidFill>
            <a:srgbClr val="F4EDE4"/>
          </a:solidFill>
          <a:ln/>
        </p:spPr>
      </p:sp>
      <p:sp>
        <p:nvSpPr>
          <p:cNvPr id="9" name="Card 1 Bar"/>
          <p:cNvSpPr/>
          <p:nvPr/>
        </p:nvSpPr>
        <p:spPr>
          <a:xfrm>
            <a:off x="548640" y="2514600"/>
            <a:ext cx="128016" cy="3383280"/>
          </a:xfrm>
          <a:prstGeom prst="rect">
            <a:avLst/>
          </a:prstGeom>
          <a:solidFill>
            <a:srgbClr val="5C7A52"/>
          </a:solidFill>
          <a:ln/>
        </p:spPr>
      </p:sp>
      <p:sp>
        <p:nvSpPr>
          <p:cNvPr id="10" name="Card 1 Tag"/>
          <p:cNvSpPr/>
          <p:nvPr/>
        </p:nvSpPr>
        <p:spPr>
          <a:xfrm>
            <a:off x="868680" y="2834640"/>
            <a:ext cx="4663440" cy="274320"/>
          </a:xfrm>
          <a:prstGeom prst="rect">
            <a:avLst/>
          </a:prstGeom>
          <a:noFill/>
          <a:ln/>
        </p:spPr>
        <p:txBody>
          <a:bodyPr wrap="square" lIns="0" tIns="0" rIns="0" bIns="0" rtlCol="0" anchor="ctr"/>
          <a:lstStyle/>
          <a:p>
            <a:pPr indent="0" marL="0">
              <a:buNone/>
            </a:pPr>
            <a:r>
              <a:rPr lang="en-US" sz="1000" b="1" spc="400" kern="0" dirty="0">
                <a:solidFill>
                  <a:srgbClr val="5C7A52"/>
                </a:solidFill>
                <a:latin typeface="Calibri" pitchFamily="34" charset="0"/>
              </a:rPr>
              <a:t>SUMMER 2026</a:t>
            </a:r>
            <a:endParaRPr lang="en-US" sz="1000" dirty="0"/>
          </a:p>
        </p:txBody>
      </p:sp>
      <p:sp>
        <p:nvSpPr>
          <p:cNvPr id="11" name="Card 1 Title"/>
          <p:cNvSpPr/>
          <p:nvPr/>
        </p:nvSpPr>
        <p:spPr>
          <a:xfrm>
            <a:off x="868680" y="3200400"/>
            <a:ext cx="4663440" cy="548640"/>
          </a:xfrm>
          <a:prstGeom prst="rect">
            <a:avLst/>
          </a:prstGeom>
          <a:noFill/>
          <a:ln/>
        </p:spPr>
        <p:txBody>
          <a:bodyPr wrap="square" lIns="0" tIns="0" rIns="0" bIns="0" rtlCol="0" anchor="ctr"/>
          <a:lstStyle/>
          <a:p>
            <a:pPr indent="0" marL="0">
              <a:buNone/>
            </a:pPr>
            <a:r>
              <a:rPr lang="en-US" sz="2200" b="1" dirty="0">
                <a:solidFill>
                  <a:srgbClr val="2A2025"/>
                </a:solidFill>
                <a:latin typeface="Cambria" pitchFamily="34" charset="0"/>
              </a:rPr>
              <a:t>Usability testing</a:t>
            </a:r>
            <a:endParaRPr lang="en-US" sz="2200" dirty="0"/>
          </a:p>
        </p:txBody>
      </p:sp>
      <p:sp>
        <p:nvSpPr>
          <p:cNvPr id="12" name="Card 1 Body"/>
          <p:cNvSpPr/>
          <p:nvPr/>
        </p:nvSpPr>
        <p:spPr>
          <a:xfrm>
            <a:off x="868680" y="3886200"/>
            <a:ext cx="4663440" cy="1737360"/>
          </a:xfrm>
          <a:prstGeom prst="rect">
            <a:avLst/>
          </a:prstGeom>
          <a:noFill/>
          <a:ln/>
        </p:spPr>
        <p:txBody>
          <a:bodyPr wrap="square" lIns="0" tIns="0" rIns="0" bIns="0" rtlCol="0" anchor="t"/>
          <a:lstStyle/>
          <a:p>
            <a:pPr indent="0" marL="0">
              <a:lnSpc>
                <a:spcPct val="128000"/>
              </a:lnSpc>
              <a:buNone/>
            </a:pPr>
            <a:r>
              <a:rPr lang="en-US" sz="1500" dirty="0">
                <a:solidFill>
                  <a:srgbClr val="2A2025"/>
                </a:solidFill>
                <a:latin typeface="Calibri" pitchFamily="34" charset="0"/>
              </a:rPr>
              <a:t>A small group of students works through Render so I can see where it helps and where it gets in the way, then revise before it reaches a full class.</a:t>
            </a:r>
            <a:endParaRPr lang="en-US" sz="1500" dirty="0"/>
          </a:p>
        </p:txBody>
      </p:sp>
      <p:sp>
        <p:nvSpPr>
          <p:cNvPr id="13" name="Card 2"/>
          <p:cNvSpPr/>
          <p:nvPr/>
        </p:nvSpPr>
        <p:spPr>
          <a:xfrm>
            <a:off x="6309360" y="2514600"/>
            <a:ext cx="5212080" cy="3383280"/>
          </a:xfrm>
          <a:prstGeom prst="rect">
            <a:avLst/>
          </a:prstGeom>
          <a:solidFill>
            <a:srgbClr val="F4EDE4"/>
          </a:solidFill>
          <a:ln/>
        </p:spPr>
      </p:sp>
      <p:sp>
        <p:nvSpPr>
          <p:cNvPr id="14" name="Card 2 Bar"/>
          <p:cNvSpPr/>
          <p:nvPr/>
        </p:nvSpPr>
        <p:spPr>
          <a:xfrm>
            <a:off x="6309360" y="2514600"/>
            <a:ext cx="128016" cy="3383280"/>
          </a:xfrm>
          <a:prstGeom prst="rect">
            <a:avLst/>
          </a:prstGeom>
          <a:solidFill>
            <a:srgbClr val="7A5080"/>
          </a:solidFill>
          <a:ln/>
        </p:spPr>
      </p:sp>
      <p:sp>
        <p:nvSpPr>
          <p:cNvPr id="15" name="Card 2 Tag"/>
          <p:cNvSpPr/>
          <p:nvPr/>
        </p:nvSpPr>
        <p:spPr>
          <a:xfrm>
            <a:off x="6629400" y="2834640"/>
            <a:ext cx="4663440" cy="274320"/>
          </a:xfrm>
          <a:prstGeom prst="rect">
            <a:avLst/>
          </a:prstGeom>
          <a:noFill/>
          <a:ln/>
        </p:spPr>
        <p:txBody>
          <a:bodyPr wrap="square" lIns="0" tIns="0" rIns="0" bIns="0" rtlCol="0" anchor="ctr"/>
          <a:lstStyle/>
          <a:p>
            <a:pPr indent="0" marL="0">
              <a:buNone/>
            </a:pPr>
            <a:r>
              <a:rPr lang="en-US" sz="1000" b="1" spc="400" kern="0" dirty="0">
                <a:solidFill>
                  <a:srgbClr val="7A5080"/>
                </a:solidFill>
                <a:latin typeface="Calibri" pitchFamily="34" charset="0"/>
              </a:rPr>
              <a:t>FALL 2026</a:t>
            </a:r>
            <a:endParaRPr lang="en-US" sz="1000" dirty="0"/>
          </a:p>
        </p:txBody>
      </p:sp>
      <p:sp>
        <p:nvSpPr>
          <p:cNvPr id="16" name="Card 2 Title"/>
          <p:cNvSpPr/>
          <p:nvPr/>
        </p:nvSpPr>
        <p:spPr>
          <a:xfrm>
            <a:off x="6629400" y="3200400"/>
            <a:ext cx="4663440" cy="548640"/>
          </a:xfrm>
          <a:prstGeom prst="rect">
            <a:avLst/>
          </a:prstGeom>
          <a:noFill/>
          <a:ln/>
        </p:spPr>
        <p:txBody>
          <a:bodyPr wrap="square" lIns="0" tIns="0" rIns="0" bIns="0" rtlCol="0" anchor="ctr"/>
          <a:lstStyle/>
          <a:p>
            <a:pPr indent="0" marL="0">
              <a:buNone/>
            </a:pPr>
            <a:r>
              <a:rPr lang="en-US" sz="2200" b="1" dirty="0">
                <a:solidFill>
                  <a:srgbClr val="2A2025"/>
                </a:solidFill>
                <a:latin typeface="Cambria" pitchFamily="34" charset="0"/>
              </a:rPr>
              <a:t>Pilot in one section</a:t>
            </a:r>
            <a:endParaRPr lang="en-US" sz="2200" dirty="0"/>
          </a:p>
        </p:txBody>
      </p:sp>
      <p:sp>
        <p:nvSpPr>
          <p:cNvPr id="17" name="Card 2 Body"/>
          <p:cNvSpPr/>
          <p:nvPr/>
        </p:nvSpPr>
        <p:spPr>
          <a:xfrm>
            <a:off x="6629400" y="3886200"/>
            <a:ext cx="4663440" cy="1737360"/>
          </a:xfrm>
          <a:prstGeom prst="rect">
            <a:avLst/>
          </a:prstGeom>
          <a:noFill/>
          <a:ln/>
        </p:spPr>
        <p:txBody>
          <a:bodyPr wrap="square" lIns="0" tIns="0" rIns="0" bIns="0" rtlCol="0" anchor="t"/>
          <a:lstStyle/>
          <a:p>
            <a:pPr indent="0" marL="0">
              <a:lnSpc>
                <a:spcPct val="128000"/>
              </a:lnSpc>
              <a:buNone/>
            </a:pPr>
            <a:r>
              <a:rPr lang="en-US" sz="1500" dirty="0">
                <a:solidFill>
                  <a:srgbClr val="2A2025"/>
                </a:solidFill>
                <a:latin typeface="Calibri" pitchFamily="34" charset="0"/>
              </a:rPr>
              <a:t>One full section of AVC 248 uses Render across the whole semester. If it works well, the natural next step is adapting it for other programs at GCC.</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C3A63"/>
        </a:solidFill>
      </p:bgPr>
    </p:bg>
    <p:spTree>
      <p:nvGrpSpPr>
        <p:cNvPr id="1" name=""/>
        <p:cNvGrpSpPr/>
        <p:nvPr/>
      </p:nvGrpSpPr>
      <p:grpSpPr>
        <a:xfrm>
          <a:off x="0" y="0"/>
          <a:ext cx="0" cy="0"/>
          <a:chOff x="0" y="0"/>
          <a:chExt cx="0" cy="0"/>
        </a:xfrm>
      </p:grpSpPr>
      <p:sp>
        <p:nvSpPr>
          <p:cNvPr id="2" name="Shape 0"/>
          <p:cNvSpPr/>
          <p:nvPr/>
        </p:nvSpPr>
        <p:spPr>
          <a:xfrm>
            <a:off x="640080" y="1463040"/>
            <a:ext cx="91440" cy="3840480"/>
          </a:xfrm>
          <a:prstGeom prst="rect">
            <a:avLst/>
          </a:prstGeom>
          <a:solidFill>
            <a:srgbClr val="B8956A"/>
          </a:solidFill>
          <a:ln/>
        </p:spPr>
      </p:sp>
      <p:sp>
        <p:nvSpPr>
          <p:cNvPr id="3" name="Text 1"/>
          <p:cNvSpPr/>
          <p:nvPr/>
        </p:nvSpPr>
        <p:spPr>
          <a:xfrm>
            <a:off x="960120" y="1417320"/>
            <a:ext cx="10058400" cy="365760"/>
          </a:xfrm>
          <a:prstGeom prst="rect">
            <a:avLst/>
          </a:prstGeom>
          <a:noFill/>
          <a:ln/>
        </p:spPr>
        <p:txBody>
          <a:bodyPr wrap="square" rtlCol="0" anchor="ctr"/>
          <a:lstStyle/>
          <a:p>
            <a:pPr indent="0" marL="0">
              <a:buNone/>
            </a:pPr>
            <a:r>
              <a:rPr lang="en-US" sz="1200" b="1" spc="600" kern="0" dirty="0">
                <a:solidFill>
                  <a:srgbClr val="C4929E"/>
                </a:solidFill>
                <a:latin typeface="Calibri" pitchFamily="34" charset="0"/>
                <a:ea typeface="Calibri" pitchFamily="34" charset="-122"/>
                <a:cs typeface="Calibri" pitchFamily="34" charset="-120"/>
              </a:rPr>
              <a:t>THANK YOU</a:t>
            </a:r>
            <a:endParaRPr lang="en-US" sz="1200" dirty="0"/>
          </a:p>
        </p:txBody>
      </p:sp>
      <p:sp>
        <p:nvSpPr>
          <p:cNvPr id="4" name="Text 2"/>
          <p:cNvSpPr/>
          <p:nvPr/>
        </p:nvSpPr>
        <p:spPr>
          <a:xfrm>
            <a:off x="960120" y="1965960"/>
            <a:ext cx="10698480" cy="1371600"/>
          </a:xfrm>
          <a:prstGeom prst="rect">
            <a:avLst/>
          </a:prstGeom>
          <a:noFill/>
          <a:ln/>
        </p:spPr>
        <p:txBody>
          <a:bodyPr wrap="square" lIns="0" tIns="0" rIns="0" bIns="0" rtlCol="0" anchor="ctr"/>
          <a:lstStyle/>
          <a:p>
            <a:pPr indent="0" marL="0">
              <a:buNone/>
            </a:pPr>
            <a:r>
              <a:rPr lang="en-US" sz="7200" i="1" dirty="0">
                <a:solidFill>
                  <a:srgbClr val="FFFFFF"/>
                </a:solidFill>
                <a:latin typeface="Cambria" pitchFamily="34" charset="0"/>
                <a:ea typeface="Cambria" pitchFamily="34" charset="-122"/>
                <a:cs typeface="Cambria" pitchFamily="34" charset="-120"/>
              </a:rPr>
              <a:t>Questions?</a:t>
            </a:r>
            <a:endParaRPr lang="en-US" sz="7200" dirty="0"/>
          </a:p>
        </p:txBody>
      </p:sp>
      <p:sp>
        <p:nvSpPr>
          <p:cNvPr id="5" name="Text 3"/>
          <p:cNvSpPr/>
          <p:nvPr/>
        </p:nvSpPr>
        <p:spPr>
          <a:xfrm>
            <a:off x="960120" y="3840480"/>
            <a:ext cx="3657600" cy="365760"/>
          </a:xfrm>
          <a:prstGeom prst="rect">
            <a:avLst/>
          </a:prstGeom>
          <a:noFill/>
          <a:ln/>
        </p:spPr>
        <p:txBody>
          <a:bodyPr wrap="square" rtlCol="0" anchor="ctr"/>
          <a:lstStyle/>
          <a:p>
            <a:pPr indent="0" marL="0">
              <a:buNone/>
            </a:pPr>
            <a:r>
              <a:rPr lang="en-US" sz="1400" dirty="0">
                <a:solidFill>
                  <a:srgbClr val="C8B8D4"/>
                </a:solidFill>
                <a:latin typeface="Calibri" pitchFamily="34" charset="0"/>
                <a:ea typeface="Calibri" pitchFamily="34" charset="-122"/>
                <a:cs typeface="Calibri" pitchFamily="34" charset="-120"/>
              </a:rPr>
              <a:t>Reach me:</a:t>
            </a:r>
            <a:endParaRPr lang="en-US" sz="1400" dirty="0"/>
          </a:p>
        </p:txBody>
      </p:sp>
      <p:sp>
        <p:nvSpPr>
          <p:cNvPr id="6" name="Text 4"/>
          <p:cNvSpPr/>
          <p:nvPr/>
        </p:nvSpPr>
        <p:spPr>
          <a:xfrm>
            <a:off x="960120" y="4160520"/>
            <a:ext cx="10972800" cy="365760"/>
          </a:xfrm>
          <a:prstGeom prst="rect">
            <a:avLst/>
          </a:prstGeom>
          <a:noFill/>
          <a:ln/>
        </p:spPr>
        <p:txBody>
          <a:bodyPr wrap="square" rtlCol="0" anchor="ctr"/>
          <a:lstStyle/>
          <a:p>
            <a:pPr indent="0" marL="0">
              <a:buNone/>
            </a:pPr>
            <a:r>
              <a:rPr lang="en-US" sz="1800" i="1" dirty="0">
                <a:solidFill>
                  <a:srgbClr val="E6D2B3"/>
                </a:solidFill>
                <a:latin typeface="Cambria" pitchFamily="34" charset="0"/>
                <a:ea typeface="Cambria" pitchFamily="34" charset="-122"/>
                <a:cs typeface="Cambria" pitchFamily="34" charset="-120"/>
              </a:rPr>
              <a:t>michelle.blomberg@gccaz.edu</a:t>
            </a:r>
            <a:endParaRPr lang="en-US" sz="1800" dirty="0"/>
          </a:p>
        </p:txBody>
      </p:sp>
      <p:sp>
        <p:nvSpPr>
          <p:cNvPr id="7" name="Text 5"/>
          <p:cNvSpPr/>
          <p:nvPr/>
        </p:nvSpPr>
        <p:spPr>
          <a:xfrm>
            <a:off x="960120" y="4709160"/>
            <a:ext cx="3657600" cy="365760"/>
          </a:xfrm>
          <a:prstGeom prst="rect">
            <a:avLst/>
          </a:prstGeom>
          <a:noFill/>
          <a:ln/>
        </p:spPr>
        <p:txBody>
          <a:bodyPr wrap="square" rtlCol="0" anchor="ctr"/>
          <a:lstStyle/>
          <a:p>
            <a:pPr indent="0" marL="0">
              <a:buNone/>
            </a:pPr>
            <a:r>
              <a:rPr lang="en-US" sz="1400" dirty="0">
                <a:solidFill>
                  <a:srgbClr val="C8B8D4"/>
                </a:solidFill>
                <a:latin typeface="Calibri" pitchFamily="34" charset="0"/>
                <a:ea typeface="Calibri" pitchFamily="34" charset="-122"/>
                <a:cs typeface="Calibri" pitchFamily="34" charset="-120"/>
              </a:rPr>
              <a:t>Everything’s here:</a:t>
            </a:r>
            <a:endParaRPr lang="en-US" sz="1400" dirty="0"/>
          </a:p>
        </p:txBody>
      </p:sp>
      <p:sp>
        <p:nvSpPr>
          <p:cNvPr id="8" name="Text 6"/>
          <p:cNvSpPr/>
          <p:nvPr/>
        </p:nvSpPr>
        <p:spPr>
          <a:xfrm>
            <a:off x="960120" y="5029200"/>
            <a:ext cx="10972800" cy="365760"/>
          </a:xfrm>
          <a:prstGeom prst="rect">
            <a:avLst/>
          </a:prstGeom>
          <a:noFill/>
          <a:ln/>
        </p:spPr>
        <p:txBody>
          <a:bodyPr wrap="square" rtlCol="0" anchor="ctr"/>
          <a:lstStyle/>
          <a:p>
            <a:pPr indent="0" marL="0">
              <a:buNone/>
            </a:pPr>
            <a:r>
              <a:rPr lang="en-US" sz="1800" i="1" dirty="0">
                <a:solidFill>
                  <a:srgbClr val="E6D2B3"/>
                </a:solidFill>
                <a:latin typeface="Cambria" pitchFamily="34" charset="0"/>
                <a:ea typeface="Cambria" pitchFamily="34" charset="-122"/>
                <a:cs typeface="Cambria" pitchFamily="34" charset="-120"/>
              </a:rPr>
              <a:t>singletrackmom.github.io</a:t>
            </a:r>
            <a:endParaRPr lang="en-US" sz="1800" dirty="0"/>
          </a:p>
        </p:txBody>
      </p:sp>
      <p:sp>
        <p:nvSpPr>
          <p:cNvPr id="10" name="Text 8"/>
          <p:cNvSpPr/>
          <p:nvPr/>
        </p:nvSpPr>
        <p:spPr>
          <a:xfrm>
            <a:off x="960120" y="5440680"/>
            <a:ext cx="10972800" cy="320040"/>
          </a:xfrm>
          <a:prstGeom prst="rect">
            <a:avLst/>
          </a:prstGeom>
          <a:noFill/>
          <a:ln/>
        </p:spPr>
        <p:txBody>
          <a:bodyPr wrap="square" rtlCol="0" anchor="ctr"/>
          <a:lstStyle/>
          <a:p>
            <a:pPr indent="0" marL="0">
              <a:buNone/>
            </a:pPr>
            <a:r>
              <a:rPr lang="en-US" sz="1100" i="1" dirty="0">
                <a:solidFill>
                  <a:srgbClr val="C8B8D4"/>
                </a:solidFill>
                <a:latin typeface="Calibri" pitchFamily="34" charset="0"/>
                <a:ea typeface="Calibri" pitchFamily="34" charset="-122"/>
                <a:cs typeface="Calibri" pitchFamily="34" charset="-120"/>
              </a:rPr>
              <a:t>Render and these slides are both linked from the main page.</a:t>
            </a:r>
            <a:endParaRPr lang="en-US" sz="1100" dirty="0"/>
          </a:p>
        </p:txBody>
      </p:sp>
      <p:sp>
        <p:nvSpPr>
          <p:cNvPr id="9" name="Text 7"/>
          <p:cNvSpPr/>
          <p:nvPr/>
        </p:nvSpPr>
        <p:spPr>
          <a:xfrm>
            <a:off x="960120" y="5989320"/>
            <a:ext cx="10972800" cy="365760"/>
          </a:xfrm>
          <a:prstGeom prst="rect">
            <a:avLst/>
          </a:prstGeom>
          <a:noFill/>
          <a:ln/>
        </p:spPr>
        <p:txBody>
          <a:bodyPr wrap="square" rtlCol="0" anchor="ctr"/>
          <a:lstStyle/>
          <a:p>
            <a:pPr indent="0" marL="0">
              <a:buNone/>
            </a:pPr>
            <a:r>
              <a:rPr lang="en-US" sz="1200" dirty="0">
                <a:solidFill>
                  <a:srgbClr val="C8B8D4"/>
                </a:solidFill>
                <a:latin typeface="Calibri" pitchFamily="34" charset="0"/>
                <a:ea typeface="Calibri" pitchFamily="34" charset="-122"/>
                <a:cs typeface="Calibri" pitchFamily="34" charset="-120"/>
              </a:rPr>
              <a:t>Michelle Blomberg  ·  Residential Faculty, Digital Media Arts  ·  Glendale Community College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p:bgPr>
    </p:bg>
    <p:spTree>
      <p:nvGrpSpPr>
        <p:cNvPr id="1" name=""/>
        <p:cNvGrpSpPr/>
        <p:nvPr/>
      </p:nvGrpSpPr>
      <p:grpSpPr>
        <a:xfrm>
          <a:off x="0" y="0"/>
          <a:ext cx="0" cy="0"/>
          <a:chOff x="0" y="0"/>
          <a:chExt cx="0" cy="0"/>
        </a:xfrm>
      </p:grpSpPr>
      <p:sp>
        <p:nvSpPr>
          <p:cNvPr id="2" name="Side Bar"/>
          <p:cNvSpPr/>
          <p:nvPr/>
        </p:nvSpPr>
        <p:spPr>
          <a:xfrm>
            <a:off x="0" y="0"/>
            <a:ext cx="164592" cy="6858000"/>
          </a:xfrm>
          <a:prstGeom prst="rect">
            <a:avLst/>
          </a:prstGeom>
          <a:solidFill>
            <a:srgbClr val="7A5080"/>
          </a:solidFill>
          <a:ln/>
        </p:spPr>
      </p:sp>
      <p:sp>
        <p:nvSpPr>
          <p:cNvPr id="3" name="Page Number"/>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rPr>
              <a:t>20 / 24</a:t>
            </a:r>
            <a:endParaRPr lang="en-US" sz="900" dirty="0"/>
          </a:p>
        </p:txBody>
      </p:sp>
      <p:sp>
        <p:nvSpPr>
          <p:cNvPr id="4" name="Footer"/>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rPr>
              <a:t>Michelle Blomberg  ·  Mesa AI Summit 2026</a:t>
            </a:r>
            <a:endParaRPr lang="en-US" sz="900" dirty="0"/>
          </a:p>
        </p:txBody>
      </p:sp>
      <p:sp>
        <p:nvSpPr>
          <p:cNvPr id="5" name="Section Label"/>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rPr>
              <a:t>THE IDEA UNDERNEATH ALL OF THIS</a:t>
            </a:r>
            <a:endParaRPr lang="en-US" sz="1050" dirty="0"/>
          </a:p>
        </p:txBody>
      </p:sp>
      <p:sp>
        <p:nvSpPr>
          <p:cNvPr id="6" name="Title"/>
          <p:cNvSpPr/>
          <p:nvPr/>
        </p:nvSpPr>
        <p:spPr>
          <a:xfrm>
            <a:off x="548640" y="868680"/>
            <a:ext cx="10972800" cy="182880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rPr>
              <a:t>A structured tool beats a blank prompt.</a:t>
            </a:r>
            <a:endParaRPr lang="en-US" sz="4200" dirty="0"/>
          </a:p>
        </p:txBody>
      </p:sp>
      <p:sp>
        <p:nvSpPr>
          <p:cNvPr id="7" name="Body"/>
          <p:cNvSpPr/>
          <p:nvPr/>
        </p:nvSpPr>
        <p:spPr>
          <a:xfrm>
            <a:off x="548640" y="2880360"/>
            <a:ext cx="10515600" cy="3474720"/>
          </a:xfrm>
          <a:prstGeom prst="rect">
            <a:avLst/>
          </a:prstGeom>
          <a:noFill/>
          <a:ln/>
        </p:spPr>
        <p:txBody>
          <a:bodyPr wrap="square" lIns="0" tIns="0" rIns="0" bIns="0" rtlCol="0" anchor="t"/>
          <a:lstStyle/>
          <a:p>
            <a:pPr indent="0" marL="0">
              <a:lnSpc>
                <a:spcPct val="130000"/>
              </a:lnSpc>
              <a:spcAft>
                <a:spcPts val="1400"/>
              </a:spcAft>
              <a:buNone/>
            </a:pPr>
            <a:r>
              <a:rPr lang="en-US" sz="2000" dirty="0">
                <a:solidFill>
                  <a:srgbClr val="2A2025"/>
                </a:solidFill>
                <a:latin typeface="Calibri" pitchFamily="34" charset="0"/>
              </a:rPr>
              <a:t>An empty AI chat asks the student to already know what to ask. That blank page is where a lot of students freeze, or avoid AI altogether.</a:t>
            </a:r>
          </a:p>
          <a:p>
            <a:pPr indent="0" marL="0">
              <a:lnSpc>
                <a:spcPct val="130000"/>
              </a:lnSpc>
              <a:spcAft>
                <a:spcPts val="1400"/>
              </a:spcAft>
              <a:buNone/>
            </a:pPr>
            <a:r>
              <a:rPr lang="en-US" sz="2000" dirty="0">
                <a:solidFill>
                  <a:srgbClr val="2A2025"/>
                </a:solidFill>
                <a:latin typeface="Calibri" pitchFamily="34" charset="0"/>
              </a:rPr>
              <a:t>A structured tool makes the first move for them. It asks the question, holds their goals and their saved work as context, and turns AI from something intimidating into something they just use.</a:t>
            </a:r>
          </a:p>
          <a:p>
            <a:pPr indent="0" marL="0">
              <a:lnSpc>
                <a:spcPct val="130000"/>
              </a:lnSpc>
              <a:buNone/>
            </a:pPr>
            <a:r>
              <a:rPr lang="en-US" sz="2000" i="1" dirty="0">
                <a:solidFill>
                  <a:srgbClr val="7A5080"/>
                </a:solidFill>
                <a:latin typeface="Cambria" pitchFamily="34" charset="0"/>
              </a:rPr>
              <a:t>The interface is the difference between a student using AI with confidence and a student avoiding it.</a:t>
            </a:r>
            <a:endParaRPr lang="en-US" sz="2000" i="1" dirty="0"/>
          </a:p>
          <a:p>
            <a:pPr indent="0" marL="0">
              <a:lnSpc>
                <a:spcPct val="130000"/>
              </a:lnSpc>
              <a:spcBef>
                <a:spcPts val="1000"/>
              </a:spcBef>
              <a:buNone/>
            </a:pPr>
            <a:r>
              <a:rPr lang="en-US" sz="2000" dirty="0">
                <a:solidFill>
                  <a:srgbClr val="2A2025"/>
                </a:solidFill>
                <a:latin typeface="Calibri" pitchFamily="34" charset="0"/>
                <a:ea typeface="Calibri" pitchFamily="34" charset="-122"/>
                <a:cs typeface="Calibri" pitchFamily="34" charset="-120"/>
              </a:rPr>
              <a:t>And building one is not a coding skill. It is prompting. If you can describe what you want, you can do this.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C3A63"/>
        </a:solidFill>
      </p:bgPr>
    </p:bg>
    <p:spTree>
      <p:nvGrpSpPr>
        <p:cNvPr id="1" name=""/>
        <p:cNvGrpSpPr/>
        <p:nvPr/>
      </p:nvGrpSpPr>
      <p:grpSpPr>
        <a:xfrm>
          <a:off x="0" y="0"/>
          <a:ext cx="0" cy="0"/>
          <a:chOff x="0" y="0"/>
          <a:chExt cx="0" cy="0"/>
        </a:xfrm>
      </p:grpSpPr>
      <p:sp>
        <p:nvSpPr>
          <p:cNvPr id="2" name="Accent Bar"/>
          <p:cNvSpPr/>
          <p:nvPr/>
        </p:nvSpPr>
        <p:spPr>
          <a:xfrm>
            <a:off x="640080" y="1280160"/>
            <a:ext cx="91440" cy="3931920"/>
          </a:xfrm>
          <a:prstGeom prst="rect">
            <a:avLst/>
          </a:prstGeom>
          <a:solidFill>
            <a:srgbClr val="B8956A"/>
          </a:solidFill>
          <a:ln/>
        </p:spPr>
      </p:sp>
      <p:sp>
        <p:nvSpPr>
          <p:cNvPr id="3" name="Page Number"/>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C8B8D4"/>
                </a:solidFill>
                <a:latin typeface="Calibri" pitchFamily="34" charset="0"/>
              </a:rPr>
              <a:t>21 / 24</a:t>
            </a:r>
            <a:endParaRPr lang="en-US" sz="900" dirty="0"/>
          </a:p>
        </p:txBody>
      </p:sp>
      <p:sp>
        <p:nvSpPr>
          <p:cNvPr id="4" name="Section Label"/>
          <p:cNvSpPr/>
          <p:nvPr/>
        </p:nvSpPr>
        <p:spPr>
          <a:xfrm>
            <a:off x="960120" y="1234440"/>
            <a:ext cx="10058400" cy="365760"/>
          </a:xfrm>
          <a:prstGeom prst="rect">
            <a:avLst/>
          </a:prstGeom>
          <a:noFill/>
          <a:ln/>
        </p:spPr>
        <p:txBody>
          <a:bodyPr wrap="square" rtlCol="0" anchor="ctr"/>
          <a:lstStyle/>
          <a:p>
            <a:pPr indent="0" marL="0">
              <a:buNone/>
            </a:pPr>
            <a:r>
              <a:rPr lang="en-US" sz="1200" b="1" spc="600" kern="0" dirty="0">
                <a:solidFill>
                  <a:srgbClr val="C4929E"/>
                </a:solidFill>
                <a:latin typeface="Calibri" pitchFamily="34" charset="0"/>
              </a:rPr>
              <a:t>YOUR TURN</a:t>
            </a:r>
            <a:endParaRPr lang="en-US" sz="1200" dirty="0"/>
          </a:p>
        </p:txBody>
      </p:sp>
      <p:sp>
        <p:nvSpPr>
          <p:cNvPr id="5" name="Title"/>
          <p:cNvSpPr/>
          <p:nvPr/>
        </p:nvSpPr>
        <p:spPr>
          <a:xfrm>
            <a:off x="960120" y="1783080"/>
            <a:ext cx="10515600" cy="1280160"/>
          </a:xfrm>
          <a:prstGeom prst="rect">
            <a:avLst/>
          </a:prstGeom>
          <a:noFill/>
          <a:ln/>
        </p:spPr>
        <p:txBody>
          <a:bodyPr wrap="square" lIns="0" tIns="0" rIns="0" bIns="0" rtlCol="0" anchor="t"/>
          <a:lstStyle/>
          <a:p>
            <a:pPr indent="0" marL="0">
              <a:buNone/>
            </a:pPr>
            <a:r>
              <a:rPr lang="en-US" sz="4200" i="1" dirty="0">
                <a:solidFill>
                  <a:srgbClr val="FFFFFF"/>
                </a:solidFill>
                <a:latin typeface="Cambria" pitchFamily="34" charset="0"/>
              </a:rPr>
              <a:t>What do you build over and over?</a:t>
            </a:r>
            <a:endParaRPr lang="en-US" sz="4200" i="1" dirty="0"/>
          </a:p>
        </p:txBody>
      </p:sp>
      <p:sp>
        <p:nvSpPr>
          <p:cNvPr id="6" name="Body"/>
          <p:cNvSpPr/>
          <p:nvPr/>
        </p:nvSpPr>
        <p:spPr>
          <a:xfrm>
            <a:off x="960120" y="3246120"/>
            <a:ext cx="10058400" cy="2011680"/>
          </a:xfrm>
          <a:prstGeom prst="rect">
            <a:avLst/>
          </a:prstGeom>
          <a:noFill/>
          <a:ln/>
        </p:spPr>
        <p:txBody>
          <a:bodyPr wrap="square" lIns="0" tIns="0" rIns="0" bIns="0" rtlCol="0" anchor="t"/>
          <a:lstStyle/>
          <a:p>
            <a:pPr indent="0" marL="0">
              <a:lnSpc>
                <a:spcPct val="132000"/>
              </a:lnSpc>
              <a:spcAft>
                <a:spcPts val="1400"/>
              </a:spcAft>
              <a:buNone/>
            </a:pPr>
            <a:r>
              <a:rPr lang="en-US" sz="2000" dirty="0">
                <a:solidFill>
                  <a:srgbClr val="F2E9DC"/>
                </a:solidFill>
                <a:latin typeface="Calibri" pitchFamily="34" charset="0"/>
              </a:rPr>
              <a:t>Think of one thing you paste into an AI chat over and over. The same prompt, every week.</a:t>
            </a:r>
          </a:p>
          <a:p>
            <a:pPr indent="0" marL="0">
              <a:lnSpc>
                <a:spcPct val="132000"/>
              </a:lnSpc>
              <a:buNone/>
            </a:pPr>
            <a:r>
              <a:rPr lang="en-US" sz="2000" dirty="0">
                <a:solidFill>
                  <a:srgbClr val="F2E9DC"/>
                </a:solidFill>
                <a:latin typeface="Calibri" pitchFamily="34" charset="0"/>
              </a:rPr>
              <a:t xml:space="preserve">That repetition is the signal. </a:t>
            </a:r>
            <a:r>
              <a:rPr lang="en-US" sz="2000" i="1" dirty="0">
                <a:solidFill>
                  <a:srgbClr val="E6D2B3"/>
                </a:solidFill>
                <a:latin typeface="Cambria" pitchFamily="34" charset="0"/>
              </a:rPr>
              <a:t>That is a structured tool waiting to be built, in your discipline, for your students or for you.</a:t>
            </a:r>
            <a:endParaRPr lang="en-US" sz="2000" i="1" dirty="0"/>
          </a:p>
        </p:txBody>
      </p:sp>
      <p:sp>
        <p:nvSpPr>
          <p:cNvPr id="7" name="Prompt cue"/>
          <p:cNvSpPr/>
          <p:nvPr/>
        </p:nvSpPr>
        <p:spPr>
          <a:xfrm>
            <a:off x="960120" y="5440680"/>
            <a:ext cx="10058400" cy="365760"/>
          </a:xfrm>
          <a:prstGeom prst="rect">
            <a:avLst/>
          </a:prstGeom>
          <a:noFill/>
          <a:ln/>
        </p:spPr>
        <p:txBody>
          <a:bodyPr wrap="square" rtlCol="0" anchor="ctr"/>
          <a:lstStyle/>
          <a:p>
            <a:pPr indent="0" marL="0">
              <a:buNone/>
            </a:pPr>
            <a:r>
              <a:rPr lang="en-US" sz="1300" dirty="0">
                <a:solidFill>
                  <a:srgbClr val="C8B8D4"/>
                </a:solidFill>
                <a:latin typeface="Calibri" pitchFamily="34" charset="0"/>
              </a:rPr>
              <a:t>Take a minute. Drop one in the chat. What is yours?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2"/>
        </a:solidFill>
      </p:bgPr>
    </p:bg>
    <p:spTree>
      <p:nvGrpSpPr>
        <p:cNvPr id="1" name=""/>
        <p:cNvGrpSpPr/>
        <p:nvPr/>
      </p:nvGrpSpPr>
      <p:grpSpPr>
        <a:xfrm>
          <a:off x="0" y="0"/>
          <a:ext cx="0" cy="0"/>
          <a:chOff x="0" y="0"/>
          <a:chExt cx="0" cy="0"/>
        </a:xfrm>
      </p:grpSpPr>
      <p:sp>
        <p:nvSpPr>
          <p:cNvPr id="2" name="Side Bar"/>
          <p:cNvSpPr/>
          <p:nvPr/>
        </p:nvSpPr>
        <p:spPr>
          <a:xfrm>
            <a:off x="0" y="0"/>
            <a:ext cx="164592" cy="6858000"/>
          </a:xfrm>
          <a:prstGeom prst="rect">
            <a:avLst/>
          </a:prstGeom>
          <a:solidFill>
            <a:srgbClr val="7A5080"/>
          </a:solidFill>
          <a:ln/>
        </p:spPr>
      </p:sp>
      <p:sp>
        <p:nvSpPr>
          <p:cNvPr id="3" name="Page Number"/>
          <p:cNvSpPr/>
          <p:nvPr/>
        </p:nvSpPr>
        <p:spPr>
          <a:xfrm>
            <a:off x="10911535" y="6446520"/>
            <a:ext cx="914400" cy="274320"/>
          </a:xfrm>
          <a:prstGeom prst="rect">
            <a:avLst/>
          </a:prstGeom>
          <a:noFill/>
          <a:ln/>
        </p:spPr>
        <p:txBody>
          <a:bodyPr wrap="square" rtlCol="0" anchor="ctr"/>
          <a:lstStyle/>
          <a:p>
            <a:pPr algn="r" indent="0" marL="0">
              <a:buNone/>
            </a:pPr>
            <a:r>
              <a:rPr lang="en-US" sz="900" dirty="0">
                <a:solidFill>
                  <a:srgbClr val="8A7E83"/>
                </a:solidFill>
                <a:latin typeface="Calibri" pitchFamily="34" charset="0"/>
              </a:rPr>
              <a:t>22 / 24</a:t>
            </a:r>
            <a:endParaRPr lang="en-US" sz="900" dirty="0"/>
          </a:p>
        </p:txBody>
      </p:sp>
      <p:sp>
        <p:nvSpPr>
          <p:cNvPr id="4" name="Footer"/>
          <p:cNvSpPr/>
          <p:nvPr/>
        </p:nvSpPr>
        <p:spPr>
          <a:xfrm>
            <a:off x="548640" y="6446520"/>
            <a:ext cx="7315200" cy="274320"/>
          </a:xfrm>
          <a:prstGeom prst="rect">
            <a:avLst/>
          </a:prstGeom>
          <a:noFill/>
          <a:ln/>
        </p:spPr>
        <p:txBody>
          <a:bodyPr wrap="square" rtlCol="0" anchor="ctr"/>
          <a:lstStyle/>
          <a:p>
            <a:pPr indent="0" marL="0">
              <a:buNone/>
            </a:pPr>
            <a:r>
              <a:rPr lang="en-US" sz="900" dirty="0">
                <a:solidFill>
                  <a:srgbClr val="8A7E83"/>
                </a:solidFill>
                <a:latin typeface="Calibri" pitchFamily="34" charset="0"/>
              </a:rPr>
              <a:t>Michelle Blomberg  ·  Mesa AI Summit 2026</a:t>
            </a:r>
            <a:endParaRPr lang="en-US" sz="900" dirty="0"/>
          </a:p>
        </p:txBody>
      </p:sp>
      <p:sp>
        <p:nvSpPr>
          <p:cNvPr id="5" name="Section Label"/>
          <p:cNvSpPr/>
          <p:nvPr/>
        </p:nvSpPr>
        <p:spPr>
          <a:xfrm>
            <a:off x="548640" y="457200"/>
            <a:ext cx="10972800" cy="320040"/>
          </a:xfrm>
          <a:prstGeom prst="rect">
            <a:avLst/>
          </a:prstGeom>
          <a:noFill/>
          <a:ln/>
        </p:spPr>
        <p:txBody>
          <a:bodyPr wrap="square" lIns="0" tIns="0" rIns="0" bIns="0" rtlCol="0" anchor="ctr"/>
          <a:lstStyle/>
          <a:p>
            <a:pPr indent="0" marL="0">
              <a:buNone/>
            </a:pPr>
            <a:r>
              <a:rPr lang="en-US" sz="1050" b="1" spc="600" kern="0" dirty="0">
                <a:solidFill>
                  <a:srgbClr val="7A5080"/>
                </a:solidFill>
                <a:latin typeface="Calibri" pitchFamily="34" charset="0"/>
              </a:rPr>
              <a:t>A FEW MORE, IN CASE YOU ARE STILL THINKING</a:t>
            </a:r>
            <a:endParaRPr lang="en-US" sz="1050" dirty="0"/>
          </a:p>
        </p:txBody>
      </p:sp>
      <p:sp>
        <p:nvSpPr>
          <p:cNvPr id="6" name="Title"/>
          <p:cNvSpPr/>
          <p:nvPr/>
        </p:nvSpPr>
        <p:spPr>
          <a:xfrm>
            <a:off x="548640" y="868680"/>
            <a:ext cx="10972800" cy="822960"/>
          </a:xfrm>
          <a:prstGeom prst="rect">
            <a:avLst/>
          </a:prstGeom>
          <a:noFill/>
          <a:ln/>
        </p:spPr>
        <p:txBody>
          <a:bodyPr wrap="square" lIns="0" tIns="0" rIns="0" bIns="0" rtlCol="0" anchor="t"/>
          <a:lstStyle/>
          <a:p>
            <a:pPr indent="0" marL="0">
              <a:buNone/>
            </a:pPr>
            <a:r>
              <a:rPr lang="en-US" sz="4200" dirty="0">
                <a:solidFill>
                  <a:srgbClr val="2A2025"/>
                </a:solidFill>
                <a:latin typeface="Cambria" pitchFamily="34" charset="0"/>
              </a:rPr>
              <a:t>A few more I am working on.</a:t>
            </a:r>
            <a:endParaRPr lang="en-US" sz="4200" dirty="0"/>
          </a:p>
        </p:txBody>
      </p:sp>
      <p:sp>
        <p:nvSpPr>
          <p:cNvPr id="8" name="Card"/>
          <p:cNvSpPr/>
          <p:nvPr/>
        </p:nvSpPr>
        <p:spPr>
          <a:xfrm>
            <a:off x="548640" y="2011680"/>
            <a:ext cx="3515360" cy="3886200"/>
          </a:xfrm>
          <a:prstGeom prst="rect">
            <a:avLst/>
          </a:prstGeom>
          <a:solidFill>
            <a:srgbClr val="F4EDE4"/>
          </a:solidFill>
          <a:ln/>
        </p:spPr>
      </p:sp>
      <p:sp>
        <p:nvSpPr>
          <p:cNvPr id="9" name="Card Bar"/>
          <p:cNvSpPr/>
          <p:nvPr/>
        </p:nvSpPr>
        <p:spPr>
          <a:xfrm>
            <a:off x="548640" y="2011680"/>
            <a:ext cx="3515360" cy="91440"/>
          </a:xfrm>
          <a:prstGeom prst="rect">
            <a:avLst/>
          </a:prstGeom>
          <a:solidFill>
            <a:srgbClr val="5C7A52"/>
          </a:solidFill>
          <a:ln/>
        </p:spPr>
      </p:sp>
      <p:sp>
        <p:nvSpPr>
          <p:cNvPr id="10" name="Tag"/>
          <p:cNvSpPr/>
          <p:nvPr/>
        </p:nvSpPr>
        <p:spPr>
          <a:xfrm>
            <a:off x="868680" y="2286000"/>
            <a:ext cx="2875280" cy="365760"/>
          </a:xfrm>
          <a:prstGeom prst="rect">
            <a:avLst/>
          </a:prstGeom>
          <a:noFill/>
          <a:ln/>
        </p:spPr>
        <p:txBody>
          <a:bodyPr wrap="square" lIns="0" tIns="0" rIns="0" bIns="0" rtlCol="0" anchor="ctr"/>
          <a:lstStyle/>
          <a:p>
            <a:pPr indent="0" marL="0">
              <a:buNone/>
            </a:pPr>
            <a:r>
              <a:rPr lang="en-US" sz="850" b="1" spc="300" kern="0" dirty="0">
                <a:solidFill>
                  <a:srgbClr val="5C7A52"/>
                </a:solidFill>
                <a:latin typeface="Calibri" pitchFamily="34" charset="0"/>
              </a:rPr>
              <a:t>A STRUCTURED TOOL • LIVE</a:t>
            </a:r>
            <a:endParaRPr lang="en-US" sz="850" dirty="0"/>
          </a:p>
        </p:txBody>
      </p:sp>
      <p:sp>
        <p:nvSpPr>
          <p:cNvPr id="11" name="Card Title"/>
          <p:cNvSpPr/>
          <p:nvPr/>
        </p:nvSpPr>
        <p:spPr>
          <a:xfrm>
            <a:off x="868680" y="2697480"/>
            <a:ext cx="2875280" cy="822960"/>
          </a:xfrm>
          <a:prstGeom prst="rect">
            <a:avLst/>
          </a:prstGeom>
          <a:noFill/>
          <a:ln/>
        </p:spPr>
        <p:txBody>
          <a:bodyPr wrap="square" lIns="0" tIns="0" rIns="0" bIns="0" rtlCol="0" anchor="ctr"/>
          <a:lstStyle/>
          <a:p>
            <a:pPr indent="0" marL="0">
              <a:buNone/>
            </a:pPr>
            <a:r>
              <a:rPr lang="en-US" sz="2000" b="1" dirty="0">
                <a:solidFill>
                  <a:srgbClr val="2A2025"/>
                </a:solidFill>
                <a:latin typeface="Cambria" pitchFamily="34" charset="0"/>
              </a:rPr>
              <a:t>CopaMigo</a:t>
            </a:r>
            <a:endParaRPr lang="en-US" sz="2000" dirty="0"/>
          </a:p>
        </p:txBody>
      </p:sp>
      <p:sp>
        <p:nvSpPr>
          <p:cNvPr id="12" name="Card Body"/>
          <p:cNvSpPr/>
          <p:nvPr/>
        </p:nvSpPr>
        <p:spPr>
          <a:xfrm>
            <a:off x="868680" y="3657600"/>
            <a:ext cx="2875280" cy="2057400"/>
          </a:xfrm>
          <a:prstGeom prst="rect">
            <a:avLst/>
          </a:prstGeom>
          <a:noFill/>
          <a:ln/>
        </p:spPr>
        <p:txBody>
          <a:bodyPr wrap="square" lIns="0" tIns="0" rIns="0" bIns="0" rtlCol="0" anchor="t"/>
          <a:lstStyle/>
          <a:p>
            <a:pPr indent="0" marL="0">
              <a:lnSpc>
                <a:spcPct val="126000"/>
              </a:lnSpc>
              <a:buNone/>
            </a:pPr>
            <a:r>
              <a:rPr lang="en-US" sz="1300" dirty="0">
                <a:solidFill>
                  <a:srgbClr val="2A2025"/>
                </a:solidFill>
                <a:latin typeface="Calibri" pitchFamily="34" charset="0"/>
              </a:rPr>
              <a:t>A bilingual student-support router. A student describes a problem in plain English or Spanish, and it points them to the right campus service with contact info, hours, and what to ask for.</a:t>
            </a:r>
            <a:endParaRPr lang="en-US" sz="1300" dirty="0"/>
          </a:p>
        </p:txBody>
      </p:sp>
      <p:sp>
        <p:nvSpPr>
          <p:cNvPr id="13" name="Card"/>
          <p:cNvSpPr/>
          <p:nvPr/>
        </p:nvSpPr>
        <p:spPr>
          <a:xfrm>
            <a:off x="4338320" y="2011680"/>
            <a:ext cx="3515360" cy="3886200"/>
          </a:xfrm>
          <a:prstGeom prst="rect">
            <a:avLst/>
          </a:prstGeom>
          <a:solidFill>
            <a:srgbClr val="F4EDE4"/>
          </a:solidFill>
          <a:ln/>
        </p:spPr>
      </p:sp>
      <p:sp>
        <p:nvSpPr>
          <p:cNvPr id="14" name="Card Bar"/>
          <p:cNvSpPr/>
          <p:nvPr/>
        </p:nvSpPr>
        <p:spPr>
          <a:xfrm>
            <a:off x="4338320" y="2011680"/>
            <a:ext cx="3515360" cy="91440"/>
          </a:xfrm>
          <a:prstGeom prst="rect">
            <a:avLst/>
          </a:prstGeom>
          <a:solidFill>
            <a:srgbClr val="B8956A"/>
          </a:solidFill>
          <a:ln/>
        </p:spPr>
      </p:sp>
      <p:sp>
        <p:nvSpPr>
          <p:cNvPr id="15" name="Tag"/>
          <p:cNvSpPr/>
          <p:nvPr/>
        </p:nvSpPr>
        <p:spPr>
          <a:xfrm>
            <a:off x="4658360" y="2286000"/>
            <a:ext cx="2875280" cy="365760"/>
          </a:xfrm>
          <a:prstGeom prst="rect">
            <a:avLst/>
          </a:prstGeom>
          <a:noFill/>
          <a:ln/>
        </p:spPr>
        <p:txBody>
          <a:bodyPr wrap="square" lIns="0" tIns="0" rIns="0" bIns="0" rtlCol="0" anchor="ctr"/>
          <a:lstStyle/>
          <a:p>
            <a:pPr indent="0" marL="0">
              <a:buNone/>
            </a:pPr>
            <a:r>
              <a:rPr lang="en-US" sz="850" b="1" spc="300" kern="0" dirty="0">
                <a:solidFill>
                  <a:srgbClr val="B8956A"/>
                </a:solidFill>
                <a:latin typeface="Calibri" pitchFamily="34" charset="0"/>
              </a:rPr>
              <a:t>AN AGENT • AN IDEA I AM DESIGNING</a:t>
            </a:r>
            <a:endParaRPr lang="en-US" sz="850" dirty="0"/>
          </a:p>
        </p:txBody>
      </p:sp>
      <p:sp>
        <p:nvSpPr>
          <p:cNvPr id="16" name="Card Title"/>
          <p:cNvSpPr/>
          <p:nvPr/>
        </p:nvSpPr>
        <p:spPr>
          <a:xfrm>
            <a:off x="4658360" y="2697480"/>
            <a:ext cx="2875280" cy="822960"/>
          </a:xfrm>
          <a:prstGeom prst="rect">
            <a:avLst/>
          </a:prstGeom>
          <a:noFill/>
          <a:ln/>
        </p:spPr>
        <p:txBody>
          <a:bodyPr wrap="square" lIns="0" tIns="0" rIns="0" bIns="0" rtlCol="0" anchor="ctr"/>
          <a:lstStyle/>
          <a:p>
            <a:pPr indent="0" marL="0">
              <a:buNone/>
            </a:pPr>
            <a:r>
              <a:rPr lang="en-US" sz="2000" b="1" dirty="0">
                <a:solidFill>
                  <a:srgbClr val="2A2025"/>
                </a:solidFill>
                <a:latin typeface="Cambria" pitchFamily="34" charset="0"/>
              </a:rPr>
              <a:t>Syllabus Auditor</a:t>
            </a:r>
            <a:endParaRPr lang="en-US" sz="2000" dirty="0"/>
          </a:p>
        </p:txBody>
      </p:sp>
      <p:sp>
        <p:nvSpPr>
          <p:cNvPr id="17" name="Card Body"/>
          <p:cNvSpPr/>
          <p:nvPr/>
        </p:nvSpPr>
        <p:spPr>
          <a:xfrm>
            <a:off x="4658360" y="3657600"/>
            <a:ext cx="2875280" cy="2057400"/>
          </a:xfrm>
          <a:prstGeom prst="rect">
            <a:avLst/>
          </a:prstGeom>
          <a:noFill/>
          <a:ln/>
        </p:spPr>
        <p:txBody>
          <a:bodyPr wrap="square" lIns="0" tIns="0" rIns="0" bIns="0" rtlCol="0" anchor="t"/>
          <a:lstStyle/>
          <a:p>
            <a:pPr indent="0" marL="0">
              <a:lnSpc>
                <a:spcPct val="126000"/>
              </a:lnSpc>
              <a:buNone/>
            </a:pPr>
            <a:r>
              <a:rPr lang="en-US" sz="1300" dirty="0">
                <a:solidFill>
                  <a:srgbClr val="2A2025"/>
                </a:solidFill>
                <a:latin typeface="Calibri" pitchFamily="34" charset="0"/>
              </a:rPr>
              <a:t>Faculty submit a syllabus through a form. An agent checks it against a required-elements rubric, then either logs it as complete or emails back a report with specific fixes.</a:t>
            </a:r>
            <a:endParaRPr lang="en-US" sz="1300" dirty="0"/>
          </a:p>
        </p:txBody>
      </p:sp>
      <p:sp>
        <p:nvSpPr>
          <p:cNvPr id="18" name="Card"/>
          <p:cNvSpPr/>
          <p:nvPr/>
        </p:nvSpPr>
        <p:spPr>
          <a:xfrm>
            <a:off x="8128000" y="2011680"/>
            <a:ext cx="3515360" cy="3886200"/>
          </a:xfrm>
          <a:prstGeom prst="rect">
            <a:avLst/>
          </a:prstGeom>
          <a:solidFill>
            <a:srgbClr val="F4EDE4"/>
          </a:solidFill>
          <a:ln/>
        </p:spPr>
      </p:sp>
      <p:sp>
        <p:nvSpPr>
          <p:cNvPr id="19" name="Card Bar"/>
          <p:cNvSpPr/>
          <p:nvPr/>
        </p:nvSpPr>
        <p:spPr>
          <a:xfrm>
            <a:off x="8128000" y="2011680"/>
            <a:ext cx="3515360" cy="91440"/>
          </a:xfrm>
          <a:prstGeom prst="rect">
            <a:avLst/>
          </a:prstGeom>
          <a:solidFill>
            <a:srgbClr val="7A5080"/>
          </a:solidFill>
          <a:ln/>
        </p:spPr>
      </p:sp>
      <p:sp>
        <p:nvSpPr>
          <p:cNvPr id="20" name="Tag"/>
          <p:cNvSpPr/>
          <p:nvPr/>
        </p:nvSpPr>
        <p:spPr>
          <a:xfrm>
            <a:off x="8448040" y="2286000"/>
            <a:ext cx="2875280" cy="365760"/>
          </a:xfrm>
          <a:prstGeom prst="rect">
            <a:avLst/>
          </a:prstGeom>
          <a:noFill/>
          <a:ln/>
        </p:spPr>
        <p:txBody>
          <a:bodyPr wrap="square" lIns="0" tIns="0" rIns="0" bIns="0" rtlCol="0" anchor="ctr"/>
          <a:lstStyle/>
          <a:p>
            <a:pPr indent="0" marL="0">
              <a:buNone/>
            </a:pPr>
            <a:r>
              <a:rPr lang="en-US" sz="850" b="1" spc="300" kern="0" dirty="0">
                <a:solidFill>
                  <a:srgbClr val="7A5080"/>
                </a:solidFill>
                <a:latin typeface="Calibri" pitchFamily="34" charset="0"/>
              </a:rPr>
              <a:t>AN AGENT • AN IDEA I AM DESIGNING</a:t>
            </a:r>
            <a:endParaRPr lang="en-US" sz="850" dirty="0"/>
          </a:p>
        </p:txBody>
      </p:sp>
      <p:sp>
        <p:nvSpPr>
          <p:cNvPr id="21" name="Card Title"/>
          <p:cNvSpPr/>
          <p:nvPr/>
        </p:nvSpPr>
        <p:spPr>
          <a:xfrm>
            <a:off x="8448040" y="2697480"/>
            <a:ext cx="2875280" cy="822960"/>
          </a:xfrm>
          <a:prstGeom prst="rect">
            <a:avLst/>
          </a:prstGeom>
          <a:noFill/>
          <a:ln/>
        </p:spPr>
        <p:txBody>
          <a:bodyPr wrap="square" lIns="0" tIns="0" rIns="0" bIns="0" rtlCol="0" anchor="ctr"/>
          <a:lstStyle/>
          <a:p>
            <a:pPr indent="0" marL="0">
              <a:buNone/>
            </a:pPr>
            <a:r>
              <a:rPr lang="en-US" sz="2000" b="1" dirty="0">
                <a:solidFill>
                  <a:srgbClr val="2A2025"/>
                </a:solidFill>
                <a:latin typeface="Cambria" pitchFamily="34" charset="0"/>
              </a:rPr>
              <a:t>Canvas Course Auditor</a:t>
            </a:r>
            <a:endParaRPr lang="en-US" sz="2000" dirty="0"/>
          </a:p>
        </p:txBody>
      </p:sp>
      <p:sp>
        <p:nvSpPr>
          <p:cNvPr id="22" name="Card Body"/>
          <p:cNvSpPr/>
          <p:nvPr/>
        </p:nvSpPr>
        <p:spPr>
          <a:xfrm>
            <a:off x="8448040" y="3657600"/>
            <a:ext cx="2875280" cy="2057400"/>
          </a:xfrm>
          <a:prstGeom prst="rect">
            <a:avLst/>
          </a:prstGeom>
          <a:noFill/>
          <a:ln/>
        </p:spPr>
        <p:txBody>
          <a:bodyPr wrap="square" lIns="0" tIns="0" rIns="0" bIns="0" rtlCol="0" anchor="t"/>
          <a:lstStyle/>
          <a:p>
            <a:pPr indent="0" marL="0">
              <a:lnSpc>
                <a:spcPct val="126000"/>
              </a:lnSpc>
              <a:buNone/>
            </a:pPr>
            <a:r>
              <a:rPr lang="en-US" sz="1300" dirty="0">
                <a:solidFill>
                  <a:srgbClr val="2A2025"/>
                </a:solidFill>
                <a:latin typeface="Calibri" pitchFamily="34" charset="0"/>
              </a:rPr>
              <a:t>Point it at a Canvas course export and it checks the things I now audit by hand: module-to-competency alignment, accessibility, and how assignment due dates fall across the week.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Career Tools That Outlast the Semester</dc:title>
  <dc:subject>PptxGenJS Presentation</dc:subject>
  <dc:creator>Michelle Blomberg</dc:creator>
  <cp:lastModifiedBy>Michelle Blomberg</cp:lastModifiedBy>
  <cp:revision>1</cp:revision>
  <dcterms:created xsi:type="dcterms:W3CDTF">2026-05-15T17:58:13Z</dcterms:created>
  <dcterms:modified xsi:type="dcterms:W3CDTF">2026-05-15T17:58:13Z</dcterms:modified>
</cp:coreProperties>
</file>