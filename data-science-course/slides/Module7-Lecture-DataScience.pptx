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439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E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and AI ethics and governance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Harms get specified, measured, and controlled with the same rigor as latency. “We didn’t intend it” is not a control.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6172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Michelle Blomberg  ·  CC BY-NC-SA 4.0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HOW IT FLOWS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a little, then do a little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7A508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0"/>
            <a:ext cx="1417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892808" y="3090672"/>
            <a:ext cx="219456" cy="219456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7" name="Shape 5"/>
          <p:cNvSpPr/>
          <p:nvPr/>
        </p:nvSpPr>
        <p:spPr>
          <a:xfrm>
            <a:off x="2148840" y="274320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2A6F97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2743200"/>
            <a:ext cx="1417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Try: Measuring Fairness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84448" y="3090672"/>
            <a:ext cx="219456" cy="219456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0" y="274320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7A5080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2743200"/>
            <a:ext cx="1417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76088" y="3090672"/>
            <a:ext cx="219456" cy="219456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13" name="Shape 11"/>
          <p:cNvSpPr/>
          <p:nvPr/>
        </p:nvSpPr>
        <p:spPr>
          <a:xfrm>
            <a:off x="5532120" y="274320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2A6F97"/>
          </a:solidFill>
          <a:ln/>
        </p:spPr>
      </p:sp>
      <p:sp>
        <p:nvSpPr>
          <p:cNvPr id="14" name="Text 12"/>
          <p:cNvSpPr/>
          <p:nvPr/>
        </p:nvSpPr>
        <p:spPr>
          <a:xfrm>
            <a:off x="5532120" y="2743200"/>
            <a:ext cx="1417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Try: What-If Tool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967728" y="3090672"/>
            <a:ext cx="219456" cy="219456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16" name="Shape 14"/>
          <p:cNvSpPr/>
          <p:nvPr/>
        </p:nvSpPr>
        <p:spPr>
          <a:xfrm>
            <a:off x="7223760" y="274320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9A6B1F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2743200"/>
            <a:ext cx="1417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+ defend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5800" y="4114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recorded segment is short. You pause, practice the concept hands-on, then return for the next piece.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7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WHERE THIS SITS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module sits in the lifecycle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737360" cy="868680"/>
          </a:xfrm>
          <a:prstGeom prst="chevron">
            <a:avLst/>
          </a:prstGeom>
          <a:solidFill>
            <a:srgbClr val="F7F4F8"/>
          </a:solidFill>
          <a:ln w="12700">
            <a:solidFill>
              <a:srgbClr val="E9E1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084832" y="2286000"/>
            <a:ext cx="1737360" cy="868680"/>
          </a:xfrm>
          <a:prstGeom prst="chevron">
            <a:avLst/>
          </a:prstGeom>
          <a:solidFill>
            <a:srgbClr val="F7F4F8"/>
          </a:solidFill>
          <a:ln w="12700">
            <a:solidFill>
              <a:srgbClr val="E9E1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84832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29584" y="2286000"/>
            <a:ext cx="1737360" cy="868680"/>
          </a:xfrm>
          <a:prstGeom prst="chevron">
            <a:avLst/>
          </a:prstGeom>
          <a:solidFill>
            <a:srgbClr val="F7F4F8"/>
          </a:solidFill>
          <a:ln w="12700">
            <a:solidFill>
              <a:srgbClr val="E9E1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9584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974336" y="2286000"/>
            <a:ext cx="1737360" cy="868680"/>
          </a:xfrm>
          <a:prstGeom prst="chevron">
            <a:avLst/>
          </a:prstGeom>
          <a:solidFill>
            <a:srgbClr val="F7F4F8"/>
          </a:solidFill>
          <a:ln w="12700">
            <a:solidFill>
              <a:srgbClr val="E9E1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74336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19088" y="2286000"/>
            <a:ext cx="1737360" cy="868680"/>
          </a:xfrm>
          <a:prstGeom prst="chevron">
            <a:avLst/>
          </a:prstGeom>
          <a:solidFill>
            <a:srgbClr val="F7F4F8"/>
          </a:solidFill>
          <a:ln w="12700">
            <a:solidFill>
              <a:srgbClr val="E9E1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63840" y="2286000"/>
            <a:ext cx="1737360" cy="868680"/>
          </a:xfrm>
          <a:prstGeom prst="chevron">
            <a:avLst/>
          </a:prstGeom>
          <a:solidFill>
            <a:srgbClr val="7A5080"/>
          </a:solidFill>
          <a:ln w="12700">
            <a:solidFill>
              <a:srgbClr val="7A50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365760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govern layer: culture and accountability, contextualizing the system, quantifying risk, and acting on it. Governance is ongoing work, because models drift and a one-time audit is not governance.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7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5F3D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harm and the impossibility 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12 minutes on camera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7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Disparate impact, measured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subgroup base rates, selection rates, and error rates rather than trusting intent.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four-fifths rule is a screening heuristic, not a legal safe harbor.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flag warrants a closer audit; it does not by itself prove or clear discrimination.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7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worked disparate-impact check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rate by group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88720" y="3566160"/>
            <a:ext cx="1371600" cy="1645920"/>
          </a:xfrm>
          <a:prstGeom prst="rect">
            <a:avLst/>
          </a:prstGeom>
          <a:solidFill>
            <a:srgbClr val="456546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56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5303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4251960"/>
            <a:ext cx="1371600" cy="960120"/>
          </a:xfrm>
          <a:prstGeom prst="rect">
            <a:avLst/>
          </a:prstGeom>
          <a:solidFill>
            <a:srgbClr val="94395A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5303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5212080"/>
            <a:ext cx="4754880" cy="0"/>
          </a:xfrm>
          <a:prstGeom prst="line">
            <a:avLst/>
          </a:prstGeom>
          <a:noFill/>
          <a:ln w="19050">
            <a:solidFill>
              <a:srgbClr val="2622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2377440"/>
            <a:ext cx="5394960" cy="2743200"/>
          </a:xfrm>
          <a:prstGeom prst="roundRect">
            <a:avLst>
              <a:gd name="adj" fmla="val 2000"/>
            </a:avLst>
          </a:prstGeom>
          <a:solidFill>
            <a:srgbClr val="F5E7EC"/>
          </a:solidFill>
          <a:ln w="19050">
            <a:solidFill>
              <a:srgbClr val="9439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439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four-fifths screen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309360" y="320040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= 0.35 ÷ 0.60 = 0.58. Below the 0.80 threshold, so this is a screening flag that the classifier warrants a closer disparate-impact audit, not proof and not a safe harbor.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7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 definitions conflict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554480" y="2468880"/>
            <a:ext cx="2743200" cy="1097280"/>
          </a:xfrm>
          <a:prstGeom prst="roundRect">
            <a:avLst>
              <a:gd name="adj" fmla="val 7500"/>
            </a:avLst>
          </a:prstGeom>
          <a:solidFill>
            <a:srgbClr val="456546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24688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2468880"/>
            <a:ext cx="2743200" cy="1097280"/>
          </a:xfrm>
          <a:prstGeom prst="roundRect">
            <a:avLst>
              <a:gd name="adj" fmla="val 7500"/>
            </a:avLst>
          </a:prstGeom>
          <a:solidFill>
            <a:srgbClr val="2A6F97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24688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Equalized odds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55280" y="2468880"/>
            <a:ext cx="2743200" cy="1097280"/>
          </a:xfrm>
          <a:prstGeom prst="roundRect">
            <a:avLst>
              <a:gd name="adj" fmla="val 7500"/>
            </a:avLst>
          </a:prstGeom>
          <a:solidFill>
            <a:srgbClr val="9A6B1F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24688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parity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794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39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at most two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434340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base rates differ across groups, these three cannot generally hold at once. Choosing a fairness definition is a value judgment you justify, not a quantity you compute away.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7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A6F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50" kern="0" dirty="0">
                <a:solidFill>
                  <a:srgbClr val="B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TRY IT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 Measuring Fairness + Equality of Odds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3063240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PAIR’s Measuring Fairness, move the threshold and watch improving one group’s outcome degrade a competing metric.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MLU-Explain’s Equality of Odds, see how equalized true- and false-positive rates differ from parity and calibration.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5321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15 minutes, then come back for Part 2.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F3D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NIST AI RMF and governance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13 minutes on camera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7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NIST AI Risk Management Framework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7A508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651760"/>
            <a:ext cx="237744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+ accountability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44952" y="3108960"/>
            <a:ext cx="274320" cy="256032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7" name="Shape 5"/>
          <p:cNvSpPr/>
          <p:nvPr/>
        </p:nvSpPr>
        <p:spPr>
          <a:xfrm>
            <a:off x="3383280" y="2651760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2A6F97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2651760"/>
            <a:ext cx="237744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 stakeholders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88152" y="3108960"/>
            <a:ext cx="274320" cy="256032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10" name="Shape 8"/>
          <p:cNvSpPr/>
          <p:nvPr/>
        </p:nvSpPr>
        <p:spPr>
          <a:xfrm>
            <a:off x="6126480" y="2651760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9A6B1F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2651760"/>
            <a:ext cx="237744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risk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31352" y="3108960"/>
            <a:ext cx="274320" cy="256032"/>
          </a:xfrm>
          <a:prstGeom prst="rightArrow">
            <a:avLst/>
          </a:prstGeom>
          <a:solidFill>
            <a:srgbClr val="6D635F"/>
          </a:solidFill>
          <a:ln/>
        </p:spPr>
      </p:sp>
      <p:sp>
        <p:nvSpPr>
          <p:cNvPr id="13" name="Shape 11"/>
          <p:cNvSpPr/>
          <p:nvPr/>
        </p:nvSpPr>
        <p:spPr>
          <a:xfrm>
            <a:off x="8869680" y="2651760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456546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0" y="2651760"/>
            <a:ext cx="237744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+ act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4206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functions are connective tissue: Govern sets accountability, Map contextualizes the system, Measure quantifies risk, and Manage acts on it.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7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what the model is and where the data came from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BFAFC"/>
          </a:solidFill>
          <a:ln w="19050">
            <a:solidFill>
              <a:srgbClr val="4565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671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565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Card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behavior, intended use, and limitations, including subgroup performance.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0" y="196596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BFAFC"/>
          </a:solidFill>
          <a:ln w="19050">
            <a:solidFill>
              <a:srgbClr val="2A6F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1671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6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Datasheet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7432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provenance and consent: where the data came from and whether subjects agreed to this use.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384048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BFAFC"/>
          </a:solidFill>
          <a:ln w="19050">
            <a:solidFill>
              <a:srgbClr val="9A6B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0416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6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 + privacy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46177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De-identification is fragile under re-identification and linkage attacks.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26480" y="3840480"/>
            <a:ext cx="5212080" cy="1691640"/>
          </a:xfrm>
          <a:prstGeom prst="roundRect">
            <a:avLst>
              <a:gd name="adj" fmla="val 3243"/>
            </a:avLst>
          </a:prstGeom>
          <a:solidFill>
            <a:srgbClr val="FBFAFC"/>
          </a:solidFill>
          <a:ln w="19050">
            <a:solidFill>
              <a:srgbClr val="7A5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0416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5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46177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Populations shift and models drift; documentation, thresholds, and a review cadence make governance durable.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7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A6F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50" kern="0" dirty="0">
                <a:solidFill>
                  <a:srgbClr val="B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TRY IT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Aequitas and the What-If Tool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3063240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 model with Aequitas to see subgroup disparities reported against a reference group.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predictions with Google’s What-If Tool to inspect counterfactuals and per-subgroup performance without new code.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Survival of the Best Fit to see how historical data launders past discrimination into an automated system.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5321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20 minutes, then run the formative check.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56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PUT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Formative deliverable (completion points)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disparate-impact check on the module’s case classifier and its dataset.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sensitive attribute, compute one fairness metric (selection rate or false-positive rate) per subgroup, and report the disparate-impact ratio of the least- to most-favored group.</a:t>
            </a:r>
            <a:endParaRPr lang="en-US" sz="16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two or three sentences, name which competing metric your chosen one trades against, and in which direction.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5074920"/>
            <a:ext cx="10698480" cy="868680"/>
          </a:xfrm>
          <a:prstGeom prst="roundRect">
            <a:avLst>
              <a:gd name="adj" fmla="val 6316"/>
            </a:avLst>
          </a:prstGeom>
          <a:solidFill>
            <a:srgbClr val="EAF0EA"/>
          </a:solidFill>
          <a:ln w="12700">
            <a:solidFill>
              <a:srgbClr val="6B8F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07492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456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counts.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work with a short reflection or evidence you ran it. Credited on completion, not scored for correctness. This is the practice that makes the graded simulation go well.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Science  ·  Module 7  ·  CC BY-NC-SA 4.0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9A6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ASSESSMENT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Model-Governance Review Board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288036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convene a NIST AI RMF review of a classifier that makes decisions about people, built on records repurposed without consent, whose subgroup table shows real disparate impact.</a:t>
            </a:r>
            <a:endParaRPr lang="en-US" sz="16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assemble a governance dossier (Model Card, Datasheet, measured harms, proposed controls) and recommend approve, reject, or condition.</a:t>
            </a:r>
            <a:endParaRPr lang="en-US" sz="16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defend it before a rotating three-person board that asks unscripted questions.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4864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7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a live or recorded oral defense: rehearse it first with the on-device defense-practice tool.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2026-08-06T18:16:52Z</dcterms:created>
  <dcterms:modified xsi:type="dcterms:W3CDTF">2026-08-06T18:16:52Z</dcterms:modified>
</cp:coreProperties>
</file>