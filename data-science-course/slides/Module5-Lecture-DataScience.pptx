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50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E9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Rigorous model evaluation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error flatters. This module is about the number you can actually defend, and its uncertainty.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6172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Michelle Blomberg  ·  CC BY-NC-SA 4.0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HOW IT FLOWS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a little, then do a little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7A508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0"/>
            <a:ext cx="14173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892808" y="3090672"/>
            <a:ext cx="219456" cy="219456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7" name="Shape 5"/>
          <p:cNvSpPr/>
          <p:nvPr/>
        </p:nvSpPr>
        <p:spPr>
          <a:xfrm>
            <a:off x="2148840" y="274320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2A6F97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2743200"/>
            <a:ext cx="14173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Try: cross-val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84448" y="3090672"/>
            <a:ext cx="219456" cy="219456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0" y="274320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7A5080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2743200"/>
            <a:ext cx="14173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76088" y="3090672"/>
            <a:ext cx="219456" cy="219456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13" name="Shape 11"/>
          <p:cNvSpPr/>
          <p:nvPr/>
        </p:nvSpPr>
        <p:spPr>
          <a:xfrm>
            <a:off x="5532120" y="274320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2A6F97"/>
          </a:solidFill>
          <a:ln/>
        </p:spPr>
      </p:sp>
      <p:sp>
        <p:nvSpPr>
          <p:cNvPr id="14" name="Text 12"/>
          <p:cNvSpPr/>
          <p:nvPr/>
        </p:nvSpPr>
        <p:spPr>
          <a:xfrm>
            <a:off x="5532120" y="2743200"/>
            <a:ext cx="14173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Try: thresholds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967728" y="3090672"/>
            <a:ext cx="219456" cy="219456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16" name="Shape 14"/>
          <p:cNvSpPr/>
          <p:nvPr/>
        </p:nvSpPr>
        <p:spPr>
          <a:xfrm>
            <a:off x="7223760" y="274320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9A6B1F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2743200"/>
            <a:ext cx="14173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5800" y="4114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recorded segment is short. You pause, practice the concept hands-on, then return for the next piece.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5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WHERE THIS SITS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module sits in the lifecycle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737360" cy="868680"/>
          </a:xfrm>
          <a:prstGeom prst="chevron">
            <a:avLst/>
          </a:prstGeom>
          <a:solidFill>
            <a:srgbClr val="F7F4F8"/>
          </a:solidFill>
          <a:ln w="12700">
            <a:solidFill>
              <a:srgbClr val="E9E1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084832" y="2286000"/>
            <a:ext cx="1737360" cy="868680"/>
          </a:xfrm>
          <a:prstGeom prst="chevron">
            <a:avLst/>
          </a:prstGeom>
          <a:solidFill>
            <a:srgbClr val="F7F4F8"/>
          </a:solidFill>
          <a:ln w="12700">
            <a:solidFill>
              <a:srgbClr val="E9E1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84832" y="2286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29584" y="2286000"/>
            <a:ext cx="1737360" cy="868680"/>
          </a:xfrm>
          <a:prstGeom prst="chevron">
            <a:avLst/>
          </a:prstGeom>
          <a:solidFill>
            <a:srgbClr val="F7F4F8"/>
          </a:solidFill>
          <a:ln w="12700">
            <a:solidFill>
              <a:srgbClr val="E9E1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9584" y="2286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974336" y="2286000"/>
            <a:ext cx="1737360" cy="868680"/>
          </a:xfrm>
          <a:prstGeom prst="chevron">
            <a:avLst/>
          </a:prstGeom>
          <a:solidFill>
            <a:srgbClr val="7A5080"/>
          </a:solidFill>
          <a:ln w="12700">
            <a:solidFill>
              <a:srgbClr val="7A5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74336" y="2286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19088" y="2286000"/>
            <a:ext cx="1737360" cy="868680"/>
          </a:xfrm>
          <a:prstGeom prst="chevron">
            <a:avLst/>
          </a:prstGeom>
          <a:solidFill>
            <a:srgbClr val="F7F4F8"/>
          </a:solidFill>
          <a:ln w="12700">
            <a:solidFill>
              <a:srgbClr val="E9E1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2286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63840" y="2286000"/>
            <a:ext cx="1737360" cy="868680"/>
          </a:xfrm>
          <a:prstGeom prst="chevron">
            <a:avLst/>
          </a:prstGeom>
          <a:solidFill>
            <a:srgbClr val="F7F4F8"/>
          </a:solidFill>
          <a:ln w="12700">
            <a:solidFill>
              <a:srgbClr val="E9E1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2286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365760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sits inside the model layer but governs everything: it decides whether a result is real. The through-line is that every preprocessing step which learns from data must be fit inside the training folds only.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5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5F3D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Holdout, cross-validation, and leakage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9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12 minutes on camera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5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holdout ladder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2377440" cy="1188720"/>
          </a:xfrm>
          <a:prstGeom prst="roundRect">
            <a:avLst>
              <a:gd name="adj" fmla="val 6923"/>
            </a:avLst>
          </a:prstGeom>
          <a:solidFill>
            <a:srgbClr val="4565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651760"/>
            <a:ext cx="237744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44952" y="3108960"/>
            <a:ext cx="274320" cy="256032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7" name="Shape 5"/>
          <p:cNvSpPr/>
          <p:nvPr/>
        </p:nvSpPr>
        <p:spPr>
          <a:xfrm>
            <a:off x="3383280" y="2651760"/>
            <a:ext cx="2377440" cy="1188720"/>
          </a:xfrm>
          <a:prstGeom prst="roundRect">
            <a:avLst>
              <a:gd name="adj" fmla="val 6923"/>
            </a:avLst>
          </a:prstGeom>
          <a:solidFill>
            <a:srgbClr val="2A6F97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2651760"/>
            <a:ext cx="237744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88152" y="3108960"/>
            <a:ext cx="274320" cy="256032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10" name="Shape 8"/>
          <p:cNvSpPr/>
          <p:nvPr/>
        </p:nvSpPr>
        <p:spPr>
          <a:xfrm>
            <a:off x="6126480" y="2651760"/>
            <a:ext cx="2377440" cy="1188720"/>
          </a:xfrm>
          <a:prstGeom prst="roundRect">
            <a:avLst>
              <a:gd name="adj" fmla="val 6923"/>
            </a:avLst>
          </a:prstGeom>
          <a:solidFill>
            <a:srgbClr val="9A6B1F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2651760"/>
            <a:ext cx="237744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CV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also tune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4206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error is an optimistic, biased estimate of future performance. The ladder buys a more stable, honest estimate as you climb it, at the cost of compute.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5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leakage sneaks 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BFAFC"/>
          </a:solidFill>
          <a:ln w="19050">
            <a:solidFill>
              <a:srgbClr val="9439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671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439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Fit-before-split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scaler, imputer, selector, or target encoder fit on the full data before splitting.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26480" y="196596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BFAFC"/>
          </a:solidFill>
          <a:ln w="19050">
            <a:solidFill>
              <a:srgbClr val="9A6B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1671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6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leakage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27432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future information to predict the past because rows were shuffled across time.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384048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BFAFC"/>
          </a:solidFill>
          <a:ln w="19050">
            <a:solidFill>
              <a:srgbClr val="2A6F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0416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6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Grouped records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46177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or grouped rows straddling the train/test boundary so the model has seen its test.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26480" y="384048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BFAFC"/>
          </a:solidFill>
          <a:ln w="19050">
            <a:solidFill>
              <a:srgbClr val="4565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0416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565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tell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46177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held-out score that looks too good is usually leakage, not skill.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5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6F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50" kern="0" dirty="0">
                <a:solidFill>
                  <a:srgbClr val="B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TRY IT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MLU-Explain Cross-Validation + Bias-Variance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3063240"/>
            <a:ext cx="10241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through how folds are formed and how the averaged estimate stabilizes as k changes.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Bias-Variance, see how flexibility moves you between under- and over-fitting and where test error is minimized.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5321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15 minutes, then come back for Part 2.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F3D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metrics and uncertainty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9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13 minutes on camera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5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97% accuracy can be worse than useless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class imbalance a high accuracy can hide total failure on the rare positive class.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confusion matrix, then precision, recall, and F-scores, to see what the headline number conceals.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classifier outputs a score; the decision threshold turns scores into labels, and ROC and PR curves summarize every threshold at once.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5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confusion matrix, not the headline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70332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+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−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0" y="2514600"/>
            <a:ext cx="1280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+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4069080"/>
            <a:ext cx="1280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03320" y="2514600"/>
            <a:ext cx="2743200" cy="1417320"/>
          </a:xfrm>
          <a:prstGeom prst="roundRect">
            <a:avLst>
              <a:gd name="adj" fmla="val 3226"/>
            </a:avLst>
          </a:prstGeom>
          <a:solidFill>
            <a:srgbClr val="FBFAFC"/>
          </a:solidFill>
          <a:ln w="19050">
            <a:solidFill>
              <a:srgbClr val="4565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2743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65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 positive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0332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caught, correctly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2514600"/>
            <a:ext cx="2743200" cy="1417320"/>
          </a:xfrm>
          <a:prstGeom prst="roundRect">
            <a:avLst>
              <a:gd name="adj" fmla="val 3226"/>
            </a:avLst>
          </a:prstGeom>
          <a:solidFill>
            <a:srgbClr val="FBFAFC"/>
          </a:solidFill>
          <a:ln w="19050">
            <a:solidFill>
              <a:srgbClr val="9A6B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743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6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 positive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03320" y="4069080"/>
            <a:ext cx="2743200" cy="1417320"/>
          </a:xfrm>
          <a:prstGeom prst="roundRect">
            <a:avLst>
              <a:gd name="adj" fmla="val 3226"/>
            </a:avLst>
          </a:prstGeom>
          <a:solidFill>
            <a:srgbClr val="FBFAFC"/>
          </a:solidFill>
          <a:ln w="19050">
            <a:solidFill>
              <a:srgbClr val="9439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4297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39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 negative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03320" y="4846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4069080"/>
            <a:ext cx="2743200" cy="1417320"/>
          </a:xfrm>
          <a:prstGeom prst="roundRect">
            <a:avLst>
              <a:gd name="adj" fmla="val 3226"/>
            </a:avLst>
          </a:prstGeom>
          <a:solidFill>
            <a:srgbClr val="FBFAFC"/>
          </a:solidFill>
          <a:ln w="19050">
            <a:solidFill>
              <a:srgbClr val="4565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4297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65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 negative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4846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cleared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5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metric is a sample, not a fact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estimate is one draw from a distribution. Report it with a bootstrap or cross-validated confidence interval.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the interval correctly: it is about the variability of the estimate, not a probability about the truth.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Disaggregate: an aggregate score that looks strong can hide a subgroup where the model collapses.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5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A6F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50" kern="0" dirty="0">
                <a:solidFill>
                  <a:srgbClr val="B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TRY IT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Thresholding and confidence intervals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3063240"/>
            <a:ext cx="10241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ROC &amp; AUC, move the threshold and watch the confusion matrix update; note how one model traces a whole curve.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Google MLCC Thresholding, use the imbalance slider to feel precision and recall respond as the positive class becomes rare.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Interpreting Confidence Intervals, watch how intervals from repeated samples behave.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5321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20 minutes, then build the formative.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56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PUT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Formative deliverable (completion points)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any model you have trained (or a provided baseline) and pick one metric appropriate to its target.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that metric with either a bootstrap or a cross-validated confidence interval.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sentence explaining why the point estimate alone would mislead a decision-maker.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5074920"/>
            <a:ext cx="10698480" cy="868680"/>
          </a:xfrm>
          <a:prstGeom prst="roundRect">
            <a:avLst>
              <a:gd name="adj" fmla="val 6316"/>
            </a:avLst>
          </a:prstGeom>
          <a:solidFill>
            <a:srgbClr val="EAF0EA"/>
          </a:solidFill>
          <a:ln w="12700">
            <a:solidFill>
              <a:srgbClr val="6B8F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07492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456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counts.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 work with a short reflection or evidence you ran it. Credited on completion, not scored for correctness. This is the practice that makes the graded simulation go well.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5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9A6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ASSESSMENT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Ridgeline Renewables model audit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288036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departing contractor left a “production-ready” failure-prediction model scoring 0.97 AUC, with a note recommending immediate deployment.</a:t>
            </a:r>
            <a:endParaRPr lang="en-US" sz="16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handoff hides planted defects: target leakage, train/test contamination, and a metric chosen to flatter under imbalance.</a:t>
            </a:r>
            <a:endParaRPr lang="en-US" sz="16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 is to find them, quantify the honest performance, and recommend for or against deployment with evidence.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2026-08-06T18:16:52Z</dcterms:created>
  <dcterms:modified xsi:type="dcterms:W3CDTF">2026-08-06T18:16:52Z</dcterms:modified>
</cp:coreProperties>
</file>