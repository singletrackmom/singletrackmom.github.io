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error</c:v>
                </c:pt>
              </c:strCache>
            </c:strRef>
          </c:tx>
          <c:spPr>
            <a:solidFill>
              <a:srgbClr val="2A6F97"/>
            </a:solidFill>
            <a:ln w="38100" cap="flat">
              <a:solidFill>
                <a:srgbClr val="2A6F9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6F97"/>
              </a:solidFill>
              <a:ln w="9525" cap="flat">
                <a:solidFill>
                  <a:srgbClr val="2A6F9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low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>high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</c:v>
                </c:pt>
                <c:pt idx="1">
                  <c:v>0.7</c:v>
                </c:pt>
                <c:pt idx="2">
                  <c:v>0.55</c:v>
                </c:pt>
                <c:pt idx="3">
                  <c:v>0.42</c:v>
                </c:pt>
                <c:pt idx="4">
                  <c:v>0.32</c:v>
                </c:pt>
                <c:pt idx="5">
                  <c:v>0.24</c:v>
                </c:pt>
                <c:pt idx="6">
                  <c:v>0.18</c:v>
                </c:pt>
                <c:pt idx="7">
                  <c:v>0.13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Held-out (test) error</c:v>
                </c:pt>
              </c:strCache>
            </c:strRef>
          </c:tx>
          <c:spPr>
            <a:solidFill>
              <a:srgbClr val="9A6B1F"/>
            </a:solidFill>
            <a:ln w="38100" cap="flat">
              <a:solidFill>
                <a:srgbClr val="9A6B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A6B1F"/>
              </a:solidFill>
              <a:ln w="9525" cap="flat">
                <a:solidFill>
                  <a:srgbClr val="9A6B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low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>high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0.95</c:v>
                </c:pt>
                <c:pt idx="1">
                  <c:v>0.72</c:v>
                </c:pt>
                <c:pt idx="2">
                  <c:v>0.56</c:v>
                </c:pt>
                <c:pt idx="3">
                  <c:v>0.47</c:v>
                </c:pt>
                <c:pt idx="4">
                  <c:v>0.44</c:v>
                </c:pt>
                <c:pt idx="5">
                  <c:v>0.5</c:v>
                </c:pt>
                <c:pt idx="6">
                  <c:v>0.63</c:v>
                </c:pt>
                <c:pt idx="7">
                  <c:v>0.8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Model complexity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Error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A6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learning: regression and classification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problem type first, fit a model you can interpret, and prove it with a leakage-safe validation.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Michelle Blomberg  ·  CC BY-NC-SA 4.0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HOW IT FLOWS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a little, then do a little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7A508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92808" y="3090672"/>
            <a:ext cx="219456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7" name="Shape 5"/>
          <p:cNvSpPr/>
          <p:nvPr/>
        </p:nvSpPr>
        <p:spPr>
          <a:xfrm>
            <a:off x="214884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2A6F97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MLU-Explain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84448" y="3090672"/>
            <a:ext cx="219456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7A5080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76088" y="3090672"/>
            <a:ext cx="219456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3" name="Shape 11"/>
          <p:cNvSpPr/>
          <p:nvPr/>
        </p:nvSpPr>
        <p:spPr>
          <a:xfrm>
            <a:off x="553212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2A6F97"/>
          </a:solidFill>
          <a:ln/>
        </p:spPr>
      </p:sp>
      <p:sp>
        <p:nvSpPr>
          <p:cNvPr id="14" name="Text 12"/>
          <p:cNvSpPr/>
          <p:nvPr/>
        </p:nvSpPr>
        <p:spPr>
          <a:xfrm>
            <a:off x="553212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Playground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67728" y="3090672"/>
            <a:ext cx="219456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6" name="Shape 14"/>
          <p:cNvSpPr/>
          <p:nvPr/>
        </p:nvSpPr>
        <p:spPr>
          <a:xfrm>
            <a:off x="722376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9A6B1F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" y="4114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recorded segment is short. You pause, practice the concept hands-on, then return for the next piece.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4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WHERE THIS SITS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module sits in the lifecycle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084832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84832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29584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9584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974336" y="2286000"/>
            <a:ext cx="1737360" cy="868680"/>
          </a:xfrm>
          <a:prstGeom prst="chevron">
            <a:avLst/>
          </a:prstGeom>
          <a:solidFill>
            <a:srgbClr val="7A5080"/>
          </a:solidFill>
          <a:ln w="12700">
            <a:solidFill>
              <a:srgbClr val="7A5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74336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19088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63840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365760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model layer. A continuous target points to regression, a label to classification, and the choice constrains everything downstream, but the real deliverable is an honest estimate of out-of-sample performance.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4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5F3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model and reading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12 minutes on camera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4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problem type first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4565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651760"/>
            <a:ext cx="237744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target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Regression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44952" y="3108960"/>
            <a:ext cx="274320" cy="256032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265176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2A6F97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2651760"/>
            <a:ext cx="237744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 / probability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Classification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88152" y="3108960"/>
            <a:ext cx="274320" cy="256032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0" name="Shape 8"/>
          <p:cNvSpPr/>
          <p:nvPr/>
        </p:nvSpPr>
        <p:spPr>
          <a:xfrm>
            <a:off x="6126480" y="265176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9A6B1F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651760"/>
            <a:ext cx="237744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target at all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Clustering (Mod 6)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4206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framing decision constrains method, metric, and validation. Diagnose which one a stated business or research question actually requires before touching a model.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4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family carries a bias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4565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671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56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models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an additive, roughly linear signal; pay for violations with underfitting. Win when data are scarce or you need transparent effects.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96596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2A6F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1671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 ensembles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7432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bias, average away variance. Win when the signal has interactions and nonlinearities on wildly different scales.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84048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9A6B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0416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6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coefficient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4617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expected outcome per unit of a predictor, holding others fixed. If you cannot say the sentence, you are not done.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6480" y="384048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7A5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0416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odds ratio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4617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exponent of a logistic coefficient, a change in the odds. Interpretation comes bundled with the fit.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4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6F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B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 IT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MLU-Explain: regression, logistic, random forest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306324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points in Linear Regression to feel how least squares responds to leverage and outliers.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sigmoid in Logistic Regression to the log-odds interpretation.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Random Forest average many decorrelated trees into a smooth boundary.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532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20 minutes, then come back for Part 2.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F3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Bias, variance, and honest validation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13 minutes on camera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4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bias–variance trade-off is not abstract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error keeps dropping as complexity rises, while held-out error turns back up. That gap is the whole story.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must happen on data the model never touched.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without a leakage-safe split behind it is decoration, not evidence.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309360" y="192024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4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private leaderboard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0515600" cy="1508760"/>
          </a:xfrm>
          <a:prstGeom prst="roundRect">
            <a:avLst>
              <a:gd name="adj" fmla="val 3636"/>
            </a:avLst>
          </a:prstGeom>
          <a:solidFill>
            <a:srgbClr val="FBFAFC"/>
          </a:solidFill>
          <a:ln w="19050">
            <a:solidFill>
              <a:srgbClr val="2A6F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3317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leaderboard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8803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minority of hidden test rows, updated live, easy to chase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10515600" cy="1508760"/>
          </a:xfrm>
          <a:prstGeom prst="roundRect">
            <a:avLst>
              <a:gd name="adj" fmla="val 3636"/>
            </a:avLst>
          </a:prstGeom>
          <a:solidFill>
            <a:srgbClr val="FBFAFC"/>
          </a:solidFill>
          <a:ln w="19050">
            <a:solidFill>
              <a:srgbClr val="7A5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690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5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leaderboard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46177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majority, revealed only at close, the real score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 the public board and the private board punishes you. Honest validation is the only defense.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4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6F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B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 IT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 Playground and R2D3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306324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TensorFlow Playground, use only the spiral and circle datasets and watch a purely linear model fail where added features and capacity succeed.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R2D3’s visual introduction to see how a tree partitions feature space and how depth trades bias for variance.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532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15 minutes, then build the formative comparison.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56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PUT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Formative deliverable (completion points)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shared dataset in the module folder, fit a baseline model (intercept-only or single-feature) and one stronger model (full regression or a tuned random forest).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 single held-out metric for each (RMSE or MAE for regression; ROC-AUC or F1 for classification), chosen and justified for the target.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two sentences on why the stronger model does or does not help. A stronger model that fails to beat the baseline is a legitimate result, say so.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074920"/>
            <a:ext cx="10698480" cy="868680"/>
          </a:xfrm>
          <a:prstGeom prst="roundRect">
            <a:avLst>
              <a:gd name="adj" fmla="val 6316"/>
            </a:avLst>
          </a:prstGeom>
          <a:solidFill>
            <a:srgbClr val="EAF0EA"/>
          </a:solidFill>
          <a:ln w="12700">
            <a:solidFill>
              <a:srgbClr val="6B8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07492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456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counts.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work with a short reflection or evidence you ran it. Credited on completion, not scored for correctness. This is the practice that makes the graded simulation go well.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4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9A6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ASSESSMENT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Private-Leaderboard Competition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288036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compete in a hosted prediction competition on a client task, forecasting an outcome from tabular data with a hidden test truth.</a:t>
            </a:r>
            <a:endParaRPr lang="en-US" sz="16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submission is scored on a live public leaderboard (a minority of rows) and a private leaderboard (the majority), revealed only at close.</a:t>
            </a:r>
            <a:endParaRPr lang="en-US" sz="16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the public board overfits; the private board rewards the honest, leakage-safe validation this module builds.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2026-08-06T18:16:52Z</dcterms:created>
  <dcterms:modified xsi:type="dcterms:W3CDTF">2026-08-06T18:16:52Z</dcterms:modified>
</cp:coreProperties>
</file>