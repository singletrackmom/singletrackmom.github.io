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6F97"/>
        </a:solidFill>
      </p:bgPr>
    </p:bg>
    <p:spTree>
      <p:nvGrpSpPr>
        <p:cNvPr id="1" name=""/>
        <p:cNvGrpSpPr/>
        <p:nvPr/>
      </p:nvGrpSpPr>
      <p:grpSpPr>
        <a:xfrm>
          <a:off x="0" y="0"/>
          <a:ext cx="0" cy="0"/>
          <a:chOff x="0" y="0"/>
          <a:chExt cx="0" cy="0"/>
        </a:xfrm>
      </p:grpSpPr>
      <p:sp>
        <p:nvSpPr>
          <p:cNvPr id="2" name="Text 0"/>
          <p:cNvSpPr/>
          <p:nvPr/>
        </p:nvSpPr>
        <p:spPr>
          <a:xfrm>
            <a:off x="822960" y="1371600"/>
            <a:ext cx="10515600" cy="457200"/>
          </a:xfrm>
          <a:prstGeom prst="rect">
            <a:avLst/>
          </a:prstGeom>
          <a:noFill/>
          <a:ln/>
        </p:spPr>
        <p:txBody>
          <a:bodyPr wrap="square" lIns="0" tIns="0" rIns="0" bIns="0" rtlCol="0" anchor="ctr"/>
          <a:lstStyle/>
          <a:p>
            <a:pPr indent="0" marL="0">
              <a:buNone/>
            </a:pPr>
            <a:r>
              <a:rPr lang="en-US" sz="1800" b="1" spc="200" kern="0" dirty="0">
                <a:solidFill>
                  <a:srgbClr val="E9E1EE"/>
                </a:solidFill>
                <a:latin typeface="Calibri" pitchFamily="34" charset="0"/>
                <a:ea typeface="Calibri" pitchFamily="34" charset="-122"/>
                <a:cs typeface="Calibri" pitchFamily="34" charset="-120"/>
              </a:rPr>
              <a:t>MODULE 2</a:t>
            </a:r>
            <a:endParaRPr lang="en-US" sz="1800" dirty="0"/>
          </a:p>
        </p:txBody>
      </p:sp>
      <p:sp>
        <p:nvSpPr>
          <p:cNvPr id="3" name="Text 1"/>
          <p:cNvSpPr/>
          <p:nvPr/>
        </p:nvSpPr>
        <p:spPr>
          <a:xfrm>
            <a:off x="822960" y="1920240"/>
            <a:ext cx="10515600" cy="1463040"/>
          </a:xfrm>
          <a:prstGeom prst="rect">
            <a:avLst/>
          </a:prstGeom>
          <a:noFill/>
          <a:ln/>
        </p:spPr>
        <p:txBody>
          <a:bodyPr wrap="square" lIns="0" tIns="0" rIns="0" bIns="0" rtlCol="0" anchor="ctr"/>
          <a:lstStyle/>
          <a:p>
            <a:pPr indent="0" marL="0">
              <a:lnSpc>
                <a:spcPct val="100000"/>
              </a:lnSpc>
              <a:buNone/>
            </a:pPr>
            <a:r>
              <a:rPr lang="en-US" sz="3800" b="1" dirty="0">
                <a:solidFill>
                  <a:srgbClr val="FFFFFF"/>
                </a:solidFill>
                <a:latin typeface="Cambria" pitchFamily="34" charset="0"/>
                <a:ea typeface="Cambria" pitchFamily="34" charset="-122"/>
                <a:cs typeface="Cambria" pitchFamily="34" charset="-120"/>
              </a:rPr>
              <a:t>Preprocessing messy and dynamic data</a:t>
            </a:r>
            <a:endParaRPr lang="en-US" sz="3800" dirty="0"/>
          </a:p>
        </p:txBody>
      </p:sp>
      <p:sp>
        <p:nvSpPr>
          <p:cNvPr id="4" name="Text 2"/>
          <p:cNvSpPr/>
          <p:nvPr/>
        </p:nvSpPr>
        <p:spPr>
          <a:xfrm>
            <a:off x="822960" y="3611880"/>
            <a:ext cx="9966960" cy="914400"/>
          </a:xfrm>
          <a:prstGeom prst="rect">
            <a:avLst/>
          </a:prstGeom>
          <a:noFill/>
          <a:ln/>
        </p:spPr>
        <p:txBody>
          <a:bodyPr wrap="square" lIns="0" tIns="0" rIns="0" bIns="0" rtlCol="0" anchor="ctr"/>
          <a:lstStyle/>
          <a:p>
            <a:pPr indent="0" marL="0">
              <a:lnSpc>
                <a:spcPct val="115000"/>
              </a:lnSpc>
              <a:buNone/>
            </a:pPr>
            <a:r>
              <a:rPr lang="en-US" sz="1600" dirty="0">
                <a:solidFill>
                  <a:srgbClr val="FFFFFF"/>
                </a:solidFill>
                <a:latin typeface="Calibri" pitchFamily="34" charset="0"/>
                <a:ea typeface="Calibri" pitchFamily="34" charset="-122"/>
                <a:cs typeface="Calibri" pitchFamily="34" charset="-120"/>
              </a:rPr>
              <a:t>Real data arrives broken. Cleaning is a chain of defensible, reversible, documented decisions, not a chore.</a:t>
            </a:r>
            <a:endParaRPr lang="en-US" sz="1600" dirty="0"/>
          </a:p>
        </p:txBody>
      </p:sp>
      <p:sp>
        <p:nvSpPr>
          <p:cNvPr id="5" name="Text 3"/>
          <p:cNvSpPr/>
          <p:nvPr/>
        </p:nvSpPr>
        <p:spPr>
          <a:xfrm>
            <a:off x="822960" y="6172200"/>
            <a:ext cx="10515600" cy="274320"/>
          </a:xfrm>
          <a:prstGeom prst="rect">
            <a:avLst/>
          </a:prstGeom>
          <a:noFill/>
          <a:ln/>
        </p:spPr>
        <p:txBody>
          <a:bodyPr wrap="square" lIns="0" tIns="0" rIns="0" bIns="0" rtlCol="0" anchor="ctr"/>
          <a:lstStyle/>
          <a:p>
            <a:pPr indent="0" marL="0">
              <a:buNone/>
            </a:pPr>
            <a:r>
              <a:rPr lang="en-US" sz="1100" dirty="0">
                <a:solidFill>
                  <a:srgbClr val="E9E1EE"/>
                </a:solidFill>
                <a:latin typeface="Calibri" pitchFamily="34" charset="0"/>
                <a:ea typeface="Calibri" pitchFamily="34" charset="-122"/>
                <a:cs typeface="Calibri" pitchFamily="34" charset="-120"/>
              </a:rPr>
              <a:t>Advanced Data Science  ·  Michelle Blomberg  ·  CC BY-NC-SA 4.0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292608"/>
          </a:xfrm>
          <a:prstGeom prst="rect">
            <a:avLst/>
          </a:prstGeom>
          <a:noFill/>
          <a:ln/>
        </p:spPr>
        <p:txBody>
          <a:bodyPr wrap="square" lIns="0" tIns="0" rIns="0" bIns="0" rtlCol="0" anchor="ctr"/>
          <a:lstStyle/>
          <a:p>
            <a:pPr indent="0" marL="0">
              <a:buNone/>
            </a:pPr>
            <a:r>
              <a:rPr lang="en-US" sz="1200" b="1" spc="150" kern="0" dirty="0">
                <a:solidFill>
                  <a:srgbClr val="7A5080"/>
                </a:solidFill>
                <a:latin typeface="Calibri" pitchFamily="34" charset="0"/>
                <a:ea typeface="Calibri" pitchFamily="34" charset="-122"/>
                <a:cs typeface="Calibri" pitchFamily="34" charset="-120"/>
              </a:rPr>
              <a:t>MODULE 2 · HOW IT FLOWS</a:t>
            </a:r>
            <a:endParaRPr lang="en-US" sz="12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indent="0" marL="0">
              <a:lnSpc>
                <a:spcPct val="100000"/>
              </a:lnSpc>
              <a:buNone/>
            </a:pPr>
            <a:r>
              <a:rPr lang="en-US" sz="2800" b="1" dirty="0">
                <a:solidFill>
                  <a:srgbClr val="26221F"/>
                </a:solidFill>
                <a:latin typeface="Cambria" pitchFamily="34" charset="0"/>
                <a:ea typeface="Cambria" pitchFamily="34" charset="-122"/>
                <a:cs typeface="Cambria" pitchFamily="34" charset="-120"/>
              </a:rPr>
              <a:t>Watch a little, then do a little</a:t>
            </a:r>
            <a:endParaRPr lang="en-US" sz="2800" dirty="0"/>
          </a:p>
        </p:txBody>
      </p:sp>
      <p:sp>
        <p:nvSpPr>
          <p:cNvPr id="4" name="Shape 2"/>
          <p:cNvSpPr/>
          <p:nvPr/>
        </p:nvSpPr>
        <p:spPr>
          <a:xfrm>
            <a:off x="457200" y="2743200"/>
            <a:ext cx="1417320" cy="914400"/>
          </a:xfrm>
          <a:prstGeom prst="roundRect">
            <a:avLst>
              <a:gd name="adj" fmla="val 9000"/>
            </a:avLst>
          </a:prstGeom>
          <a:solidFill>
            <a:srgbClr val="7A5080"/>
          </a:solidFill>
          <a:ln/>
        </p:spPr>
      </p:sp>
      <p:sp>
        <p:nvSpPr>
          <p:cNvPr id="5" name="Text 3"/>
          <p:cNvSpPr/>
          <p:nvPr/>
        </p:nvSpPr>
        <p:spPr>
          <a:xfrm>
            <a:off x="457200" y="2743200"/>
            <a:ext cx="1417320" cy="9144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Watch</a:t>
            </a:r>
            <a:endParaRPr lang="en-US" sz="1150" dirty="0"/>
          </a:p>
        </p:txBody>
      </p:sp>
      <p:sp>
        <p:nvSpPr>
          <p:cNvPr id="6" name="Shape 4"/>
          <p:cNvSpPr/>
          <p:nvPr/>
        </p:nvSpPr>
        <p:spPr>
          <a:xfrm>
            <a:off x="1892808" y="3090672"/>
            <a:ext cx="219456" cy="219456"/>
          </a:xfrm>
          <a:prstGeom prst="rightArrow">
            <a:avLst/>
          </a:prstGeom>
          <a:solidFill>
            <a:srgbClr val="6D635F"/>
          </a:solidFill>
          <a:ln/>
        </p:spPr>
      </p:sp>
      <p:sp>
        <p:nvSpPr>
          <p:cNvPr id="7" name="Shape 5"/>
          <p:cNvSpPr/>
          <p:nvPr/>
        </p:nvSpPr>
        <p:spPr>
          <a:xfrm>
            <a:off x="2148840" y="2743200"/>
            <a:ext cx="1417320" cy="914400"/>
          </a:xfrm>
          <a:prstGeom prst="roundRect">
            <a:avLst>
              <a:gd name="adj" fmla="val 9000"/>
            </a:avLst>
          </a:prstGeom>
          <a:solidFill>
            <a:srgbClr val="2A6F97"/>
          </a:solidFill>
          <a:ln/>
        </p:spPr>
      </p:sp>
      <p:sp>
        <p:nvSpPr>
          <p:cNvPr id="8" name="Text 6"/>
          <p:cNvSpPr/>
          <p:nvPr/>
        </p:nvSpPr>
        <p:spPr>
          <a:xfrm>
            <a:off x="2148840" y="2743200"/>
            <a:ext cx="1417320" cy="9144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Try: Kaggle</a:t>
            </a:r>
            <a:endParaRPr lang="en-US" sz="1150" dirty="0"/>
          </a:p>
        </p:txBody>
      </p:sp>
      <p:sp>
        <p:nvSpPr>
          <p:cNvPr id="9" name="Shape 7"/>
          <p:cNvSpPr/>
          <p:nvPr/>
        </p:nvSpPr>
        <p:spPr>
          <a:xfrm>
            <a:off x="3584448" y="3090672"/>
            <a:ext cx="219456" cy="219456"/>
          </a:xfrm>
          <a:prstGeom prst="rightArrow">
            <a:avLst/>
          </a:prstGeom>
          <a:solidFill>
            <a:srgbClr val="6D635F"/>
          </a:solidFill>
          <a:ln/>
        </p:spPr>
      </p:sp>
      <p:sp>
        <p:nvSpPr>
          <p:cNvPr id="10" name="Shape 8"/>
          <p:cNvSpPr/>
          <p:nvPr/>
        </p:nvSpPr>
        <p:spPr>
          <a:xfrm>
            <a:off x="3840480" y="2743200"/>
            <a:ext cx="1417320" cy="914400"/>
          </a:xfrm>
          <a:prstGeom prst="roundRect">
            <a:avLst>
              <a:gd name="adj" fmla="val 9000"/>
            </a:avLst>
          </a:prstGeom>
          <a:solidFill>
            <a:srgbClr val="7A5080"/>
          </a:solidFill>
          <a:ln/>
        </p:spPr>
      </p:sp>
      <p:sp>
        <p:nvSpPr>
          <p:cNvPr id="11" name="Text 9"/>
          <p:cNvSpPr/>
          <p:nvPr/>
        </p:nvSpPr>
        <p:spPr>
          <a:xfrm>
            <a:off x="3840480" y="2743200"/>
            <a:ext cx="1417320" cy="9144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Watch</a:t>
            </a:r>
            <a:endParaRPr lang="en-US" sz="1150" dirty="0"/>
          </a:p>
        </p:txBody>
      </p:sp>
      <p:sp>
        <p:nvSpPr>
          <p:cNvPr id="12" name="Shape 10"/>
          <p:cNvSpPr/>
          <p:nvPr/>
        </p:nvSpPr>
        <p:spPr>
          <a:xfrm>
            <a:off x="5276088" y="3090672"/>
            <a:ext cx="219456" cy="219456"/>
          </a:xfrm>
          <a:prstGeom prst="rightArrow">
            <a:avLst/>
          </a:prstGeom>
          <a:solidFill>
            <a:srgbClr val="6D635F"/>
          </a:solidFill>
          <a:ln/>
        </p:spPr>
      </p:sp>
      <p:sp>
        <p:nvSpPr>
          <p:cNvPr id="13" name="Shape 11"/>
          <p:cNvSpPr/>
          <p:nvPr/>
        </p:nvSpPr>
        <p:spPr>
          <a:xfrm>
            <a:off x="5532120" y="2743200"/>
            <a:ext cx="1417320" cy="914400"/>
          </a:xfrm>
          <a:prstGeom prst="roundRect">
            <a:avLst>
              <a:gd name="adj" fmla="val 9000"/>
            </a:avLst>
          </a:prstGeom>
          <a:solidFill>
            <a:srgbClr val="2A6F97"/>
          </a:solidFill>
          <a:ln/>
        </p:spPr>
      </p:sp>
      <p:sp>
        <p:nvSpPr>
          <p:cNvPr id="14" name="Text 12"/>
          <p:cNvSpPr/>
          <p:nvPr/>
        </p:nvSpPr>
        <p:spPr>
          <a:xfrm>
            <a:off x="5532120" y="2743200"/>
            <a:ext cx="1417320" cy="9144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Try: missingno</a:t>
            </a:r>
            <a:endParaRPr lang="en-US" sz="1150" dirty="0"/>
          </a:p>
        </p:txBody>
      </p:sp>
      <p:sp>
        <p:nvSpPr>
          <p:cNvPr id="15" name="Shape 13"/>
          <p:cNvSpPr/>
          <p:nvPr/>
        </p:nvSpPr>
        <p:spPr>
          <a:xfrm>
            <a:off x="6967728" y="3090672"/>
            <a:ext cx="219456" cy="219456"/>
          </a:xfrm>
          <a:prstGeom prst="rightArrow">
            <a:avLst/>
          </a:prstGeom>
          <a:solidFill>
            <a:srgbClr val="6D635F"/>
          </a:solidFill>
          <a:ln/>
        </p:spPr>
      </p:sp>
      <p:sp>
        <p:nvSpPr>
          <p:cNvPr id="16" name="Shape 14"/>
          <p:cNvSpPr/>
          <p:nvPr/>
        </p:nvSpPr>
        <p:spPr>
          <a:xfrm>
            <a:off x="7223760" y="2743200"/>
            <a:ext cx="1417320" cy="914400"/>
          </a:xfrm>
          <a:prstGeom prst="roundRect">
            <a:avLst>
              <a:gd name="adj" fmla="val 9000"/>
            </a:avLst>
          </a:prstGeom>
          <a:solidFill>
            <a:srgbClr val="9A6B1F"/>
          </a:solidFill>
          <a:ln/>
        </p:spPr>
      </p:sp>
      <p:sp>
        <p:nvSpPr>
          <p:cNvPr id="17" name="Text 15"/>
          <p:cNvSpPr/>
          <p:nvPr/>
        </p:nvSpPr>
        <p:spPr>
          <a:xfrm>
            <a:off x="7223760" y="2743200"/>
            <a:ext cx="1417320" cy="914400"/>
          </a:xfrm>
          <a:prstGeom prst="rect">
            <a:avLst/>
          </a:prstGeom>
          <a:noFill/>
          <a:ln/>
        </p:spPr>
        <p:txBody>
          <a:bodyPr wrap="square" lIns="25400" tIns="25400" rIns="25400" bIns="254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Assess</a:t>
            </a:r>
            <a:endParaRPr lang="en-US" sz="1150" dirty="0"/>
          </a:p>
        </p:txBody>
      </p:sp>
      <p:sp>
        <p:nvSpPr>
          <p:cNvPr id="18" name="Text 16"/>
          <p:cNvSpPr/>
          <p:nvPr/>
        </p:nvSpPr>
        <p:spPr>
          <a:xfrm>
            <a:off x="685800" y="4114800"/>
            <a:ext cx="10515600" cy="640080"/>
          </a:xfrm>
          <a:prstGeom prst="rect">
            <a:avLst/>
          </a:prstGeom>
          <a:noFill/>
          <a:ln/>
        </p:spPr>
        <p:txBody>
          <a:bodyPr wrap="square" lIns="0" tIns="0" rIns="0" bIns="0" rtlCol="0" anchor="ctr"/>
          <a:lstStyle/>
          <a:p>
            <a:pPr indent="0" marL="0">
              <a:buNone/>
            </a:pPr>
            <a:r>
              <a:rPr lang="en-US" sz="1500" i="1" dirty="0">
                <a:solidFill>
                  <a:srgbClr val="6D635F"/>
                </a:solidFill>
                <a:latin typeface="Calibri" pitchFamily="34" charset="0"/>
                <a:ea typeface="Calibri" pitchFamily="34" charset="-122"/>
                <a:cs typeface="Calibri" pitchFamily="34" charset="-120"/>
              </a:rPr>
              <a:t>Each recorded segment is short. You pause, practice the concept hands-on, then return for the next piece.</a:t>
            </a:r>
            <a:endParaRPr lang="en-US" sz="1500" dirty="0"/>
          </a:p>
        </p:txBody>
      </p:sp>
      <p:sp>
        <p:nvSpPr>
          <p:cNvPr id="19" name="Text 17"/>
          <p:cNvSpPr/>
          <p:nvPr/>
        </p:nvSpPr>
        <p:spPr>
          <a:xfrm>
            <a:off x="640080" y="6382512"/>
            <a:ext cx="10972800" cy="274320"/>
          </a:xfrm>
          <a:prstGeom prst="rect">
            <a:avLst/>
          </a:prstGeom>
          <a:noFill/>
          <a:ln/>
        </p:spPr>
        <p:txBody>
          <a:bodyPr wrap="square" lIns="0" tIns="0" rIns="0" bIns="0" rtlCol="0" anchor="ctr"/>
          <a:lstStyle/>
          <a:p>
            <a:pPr indent="0" marL="0">
              <a:buNone/>
            </a:pPr>
            <a:r>
              <a:rPr lang="en-US" sz="1000" dirty="0">
                <a:solidFill>
                  <a:srgbClr val="6D635F"/>
                </a:solidFill>
                <a:latin typeface="Calibri" pitchFamily="34" charset="0"/>
                <a:ea typeface="Calibri" pitchFamily="34" charset="-122"/>
                <a:cs typeface="Calibri" pitchFamily="34" charset="-120"/>
              </a:rPr>
              <a:t>Advanced Data Science  ·  Module 2  ·  CC BY-NC-SA 4.0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292608"/>
          </a:xfrm>
          <a:prstGeom prst="rect">
            <a:avLst/>
          </a:prstGeom>
          <a:noFill/>
          <a:ln/>
        </p:spPr>
        <p:txBody>
          <a:bodyPr wrap="square" lIns="0" tIns="0" rIns="0" bIns="0" rtlCol="0" anchor="ctr"/>
          <a:lstStyle/>
          <a:p>
            <a:pPr indent="0" marL="0">
              <a:buNone/>
            </a:pPr>
            <a:r>
              <a:rPr lang="en-US" sz="1200" b="1" spc="150" kern="0" dirty="0">
                <a:solidFill>
                  <a:srgbClr val="7A5080"/>
                </a:solidFill>
                <a:latin typeface="Calibri" pitchFamily="34" charset="0"/>
                <a:ea typeface="Calibri" pitchFamily="34" charset="-122"/>
                <a:cs typeface="Calibri" pitchFamily="34" charset="-120"/>
              </a:rPr>
              <a:t>MODULE 2 · WHERE THIS SITS</a:t>
            </a:r>
            <a:endParaRPr lang="en-US" sz="12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indent="0" marL="0">
              <a:lnSpc>
                <a:spcPct val="100000"/>
              </a:lnSpc>
              <a:buNone/>
            </a:pPr>
            <a:r>
              <a:rPr lang="en-US" sz="2800" b="1" dirty="0">
                <a:solidFill>
                  <a:srgbClr val="26221F"/>
                </a:solidFill>
                <a:latin typeface="Cambria" pitchFamily="34" charset="0"/>
                <a:ea typeface="Cambria" pitchFamily="34" charset="-122"/>
                <a:cs typeface="Cambria" pitchFamily="34" charset="-120"/>
              </a:rPr>
              <a:t>Where this module sits in the lifecycle</a:t>
            </a:r>
            <a:endParaRPr lang="en-US" sz="2800" dirty="0"/>
          </a:p>
        </p:txBody>
      </p:sp>
      <p:sp>
        <p:nvSpPr>
          <p:cNvPr id="4" name="Shape 2"/>
          <p:cNvSpPr/>
          <p:nvPr/>
        </p:nvSpPr>
        <p:spPr>
          <a:xfrm>
            <a:off x="640080" y="2286000"/>
            <a:ext cx="1737360" cy="868680"/>
          </a:xfrm>
          <a:prstGeom prst="chevron">
            <a:avLst/>
          </a:prstGeom>
          <a:solidFill>
            <a:srgbClr val="F7F4F8"/>
          </a:solidFill>
          <a:ln w="12700">
            <a:solidFill>
              <a:srgbClr val="E9E1EE"/>
            </a:solidFill>
            <a:prstDash val="solid"/>
          </a:ln>
        </p:spPr>
      </p:sp>
      <p:sp>
        <p:nvSpPr>
          <p:cNvPr id="5" name="Text 3"/>
          <p:cNvSpPr/>
          <p:nvPr/>
        </p:nvSpPr>
        <p:spPr>
          <a:xfrm>
            <a:off x="640080" y="2286000"/>
            <a:ext cx="1737360" cy="868680"/>
          </a:xfrm>
          <a:prstGeom prst="rect">
            <a:avLst/>
          </a:prstGeom>
          <a:noFill/>
          <a:ln/>
        </p:spPr>
        <p:txBody>
          <a:bodyPr wrap="square" lIns="0" tIns="0" rIns="0" bIns="0" rtlCol="0" anchor="ctr"/>
          <a:lstStyle/>
          <a:p>
            <a:pPr algn="ctr" indent="0" marL="0">
              <a:buNone/>
            </a:pPr>
            <a:r>
              <a:rPr lang="en-US" sz="1250" dirty="0">
                <a:solidFill>
                  <a:srgbClr val="6D635F"/>
                </a:solidFill>
                <a:latin typeface="Calibri" pitchFamily="34" charset="0"/>
                <a:ea typeface="Calibri" pitchFamily="34" charset="-122"/>
                <a:cs typeface="Calibri" pitchFamily="34" charset="-120"/>
              </a:rPr>
              <a:t>Acquire</a:t>
            </a:r>
            <a:endParaRPr lang="en-US" sz="1250" dirty="0"/>
          </a:p>
        </p:txBody>
      </p:sp>
      <p:sp>
        <p:nvSpPr>
          <p:cNvPr id="6" name="Shape 4"/>
          <p:cNvSpPr/>
          <p:nvPr/>
        </p:nvSpPr>
        <p:spPr>
          <a:xfrm>
            <a:off x="2084832" y="2286000"/>
            <a:ext cx="1737360" cy="868680"/>
          </a:xfrm>
          <a:prstGeom prst="chevron">
            <a:avLst/>
          </a:prstGeom>
          <a:solidFill>
            <a:srgbClr val="7A5080"/>
          </a:solidFill>
          <a:ln w="12700">
            <a:solidFill>
              <a:srgbClr val="7A5080"/>
            </a:solidFill>
            <a:prstDash val="solid"/>
          </a:ln>
        </p:spPr>
      </p:sp>
      <p:sp>
        <p:nvSpPr>
          <p:cNvPr id="7" name="Text 5"/>
          <p:cNvSpPr/>
          <p:nvPr/>
        </p:nvSpPr>
        <p:spPr>
          <a:xfrm>
            <a:off x="2084832" y="2286000"/>
            <a:ext cx="1737360"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Preprocess</a:t>
            </a:r>
            <a:endParaRPr lang="en-US" sz="1250" dirty="0"/>
          </a:p>
        </p:txBody>
      </p:sp>
      <p:sp>
        <p:nvSpPr>
          <p:cNvPr id="8" name="Shape 6"/>
          <p:cNvSpPr/>
          <p:nvPr/>
        </p:nvSpPr>
        <p:spPr>
          <a:xfrm>
            <a:off x="3529584" y="2286000"/>
            <a:ext cx="1737360" cy="868680"/>
          </a:xfrm>
          <a:prstGeom prst="chevron">
            <a:avLst/>
          </a:prstGeom>
          <a:solidFill>
            <a:srgbClr val="F7F4F8"/>
          </a:solidFill>
          <a:ln w="12700">
            <a:solidFill>
              <a:srgbClr val="E9E1EE"/>
            </a:solidFill>
            <a:prstDash val="solid"/>
          </a:ln>
        </p:spPr>
      </p:sp>
      <p:sp>
        <p:nvSpPr>
          <p:cNvPr id="9" name="Text 7"/>
          <p:cNvSpPr/>
          <p:nvPr/>
        </p:nvSpPr>
        <p:spPr>
          <a:xfrm>
            <a:off x="3529584" y="2286000"/>
            <a:ext cx="1737360" cy="868680"/>
          </a:xfrm>
          <a:prstGeom prst="rect">
            <a:avLst/>
          </a:prstGeom>
          <a:noFill/>
          <a:ln/>
        </p:spPr>
        <p:txBody>
          <a:bodyPr wrap="square" lIns="0" tIns="0" rIns="0" bIns="0" rtlCol="0" anchor="ctr"/>
          <a:lstStyle/>
          <a:p>
            <a:pPr algn="ctr" indent="0" marL="0">
              <a:buNone/>
            </a:pPr>
            <a:r>
              <a:rPr lang="en-US" sz="1250" dirty="0">
                <a:solidFill>
                  <a:srgbClr val="6D635F"/>
                </a:solidFill>
                <a:latin typeface="Calibri" pitchFamily="34" charset="0"/>
                <a:ea typeface="Calibri" pitchFamily="34" charset="-122"/>
                <a:cs typeface="Calibri" pitchFamily="34" charset="-120"/>
              </a:rPr>
              <a:t>Analyze</a:t>
            </a:r>
            <a:endParaRPr lang="en-US" sz="1250" dirty="0"/>
          </a:p>
        </p:txBody>
      </p:sp>
      <p:sp>
        <p:nvSpPr>
          <p:cNvPr id="10" name="Shape 8"/>
          <p:cNvSpPr/>
          <p:nvPr/>
        </p:nvSpPr>
        <p:spPr>
          <a:xfrm>
            <a:off x="4974336" y="2286000"/>
            <a:ext cx="1737360" cy="868680"/>
          </a:xfrm>
          <a:prstGeom prst="chevron">
            <a:avLst/>
          </a:prstGeom>
          <a:solidFill>
            <a:srgbClr val="F7F4F8"/>
          </a:solidFill>
          <a:ln w="12700">
            <a:solidFill>
              <a:srgbClr val="E9E1EE"/>
            </a:solidFill>
            <a:prstDash val="solid"/>
          </a:ln>
        </p:spPr>
      </p:sp>
      <p:sp>
        <p:nvSpPr>
          <p:cNvPr id="11" name="Text 9"/>
          <p:cNvSpPr/>
          <p:nvPr/>
        </p:nvSpPr>
        <p:spPr>
          <a:xfrm>
            <a:off x="4974336" y="2286000"/>
            <a:ext cx="1737360" cy="868680"/>
          </a:xfrm>
          <a:prstGeom prst="rect">
            <a:avLst/>
          </a:prstGeom>
          <a:noFill/>
          <a:ln/>
        </p:spPr>
        <p:txBody>
          <a:bodyPr wrap="square" lIns="0" tIns="0" rIns="0" bIns="0" rtlCol="0" anchor="ctr"/>
          <a:lstStyle/>
          <a:p>
            <a:pPr algn="ctr" indent="0" marL="0">
              <a:buNone/>
            </a:pPr>
            <a:r>
              <a:rPr lang="en-US" sz="1250" dirty="0">
                <a:solidFill>
                  <a:srgbClr val="6D635F"/>
                </a:solidFill>
                <a:latin typeface="Calibri" pitchFamily="34" charset="0"/>
                <a:ea typeface="Calibri" pitchFamily="34" charset="-122"/>
                <a:cs typeface="Calibri" pitchFamily="34" charset="-120"/>
              </a:rPr>
              <a:t>Model</a:t>
            </a:r>
            <a:endParaRPr lang="en-US" sz="1250" dirty="0"/>
          </a:p>
        </p:txBody>
      </p:sp>
      <p:sp>
        <p:nvSpPr>
          <p:cNvPr id="12" name="Shape 10"/>
          <p:cNvSpPr/>
          <p:nvPr/>
        </p:nvSpPr>
        <p:spPr>
          <a:xfrm>
            <a:off x="6419088" y="2286000"/>
            <a:ext cx="1737360" cy="868680"/>
          </a:xfrm>
          <a:prstGeom prst="chevron">
            <a:avLst/>
          </a:prstGeom>
          <a:solidFill>
            <a:srgbClr val="F7F4F8"/>
          </a:solidFill>
          <a:ln w="12700">
            <a:solidFill>
              <a:srgbClr val="E9E1EE"/>
            </a:solidFill>
            <a:prstDash val="solid"/>
          </a:ln>
        </p:spPr>
      </p:sp>
      <p:sp>
        <p:nvSpPr>
          <p:cNvPr id="13" name="Text 11"/>
          <p:cNvSpPr/>
          <p:nvPr/>
        </p:nvSpPr>
        <p:spPr>
          <a:xfrm>
            <a:off x="6419088" y="2286000"/>
            <a:ext cx="1737360" cy="868680"/>
          </a:xfrm>
          <a:prstGeom prst="rect">
            <a:avLst/>
          </a:prstGeom>
          <a:noFill/>
          <a:ln/>
        </p:spPr>
        <p:txBody>
          <a:bodyPr wrap="square" lIns="0" tIns="0" rIns="0" bIns="0" rtlCol="0" anchor="ctr"/>
          <a:lstStyle/>
          <a:p>
            <a:pPr algn="ctr" indent="0" marL="0">
              <a:buNone/>
            </a:pPr>
            <a:r>
              <a:rPr lang="en-US" sz="1250" dirty="0">
                <a:solidFill>
                  <a:srgbClr val="6D635F"/>
                </a:solidFill>
                <a:latin typeface="Calibri" pitchFamily="34" charset="0"/>
                <a:ea typeface="Calibri" pitchFamily="34" charset="-122"/>
                <a:cs typeface="Calibri" pitchFamily="34" charset="-120"/>
              </a:rPr>
              <a:t>Communicate</a:t>
            </a:r>
            <a:endParaRPr lang="en-US" sz="1250" dirty="0"/>
          </a:p>
        </p:txBody>
      </p:sp>
      <p:sp>
        <p:nvSpPr>
          <p:cNvPr id="14" name="Shape 12"/>
          <p:cNvSpPr/>
          <p:nvPr/>
        </p:nvSpPr>
        <p:spPr>
          <a:xfrm>
            <a:off x="7863840" y="2286000"/>
            <a:ext cx="1737360" cy="868680"/>
          </a:xfrm>
          <a:prstGeom prst="chevron">
            <a:avLst/>
          </a:prstGeom>
          <a:solidFill>
            <a:srgbClr val="F7F4F8"/>
          </a:solidFill>
          <a:ln w="12700">
            <a:solidFill>
              <a:srgbClr val="E9E1EE"/>
            </a:solidFill>
            <a:prstDash val="solid"/>
          </a:ln>
        </p:spPr>
      </p:sp>
      <p:sp>
        <p:nvSpPr>
          <p:cNvPr id="15" name="Text 13"/>
          <p:cNvSpPr/>
          <p:nvPr/>
        </p:nvSpPr>
        <p:spPr>
          <a:xfrm>
            <a:off x="7863840" y="2286000"/>
            <a:ext cx="1737360" cy="868680"/>
          </a:xfrm>
          <a:prstGeom prst="rect">
            <a:avLst/>
          </a:prstGeom>
          <a:noFill/>
          <a:ln/>
        </p:spPr>
        <p:txBody>
          <a:bodyPr wrap="square" lIns="0" tIns="0" rIns="0" bIns="0" rtlCol="0" anchor="ctr"/>
          <a:lstStyle/>
          <a:p>
            <a:pPr algn="ctr" indent="0" marL="0">
              <a:buNone/>
            </a:pPr>
            <a:r>
              <a:rPr lang="en-US" sz="1250" dirty="0">
                <a:solidFill>
                  <a:srgbClr val="6D635F"/>
                </a:solidFill>
                <a:latin typeface="Calibri" pitchFamily="34" charset="0"/>
                <a:ea typeface="Calibri" pitchFamily="34" charset="-122"/>
                <a:cs typeface="Calibri" pitchFamily="34" charset="-120"/>
              </a:rPr>
              <a:t>Govern</a:t>
            </a:r>
            <a:endParaRPr lang="en-US" sz="1250" dirty="0"/>
          </a:p>
        </p:txBody>
      </p:sp>
      <p:sp>
        <p:nvSpPr>
          <p:cNvPr id="16" name="Text 14"/>
          <p:cNvSpPr/>
          <p:nvPr/>
        </p:nvSpPr>
        <p:spPr>
          <a:xfrm>
            <a:off x="685800" y="3657600"/>
            <a:ext cx="10607040" cy="1280160"/>
          </a:xfrm>
          <a:prstGeom prst="rect">
            <a:avLst/>
          </a:prstGeom>
          <a:noFill/>
          <a:ln/>
        </p:spPr>
        <p:txBody>
          <a:bodyPr wrap="square" lIns="0" tIns="0" rIns="0" bIns="0" rtlCol="0" anchor="ctr"/>
          <a:lstStyle/>
          <a:p>
            <a:pPr indent="0" marL="0">
              <a:lnSpc>
                <a:spcPct val="115000"/>
              </a:lnSpc>
              <a:buNone/>
            </a:pPr>
            <a:r>
              <a:rPr lang="en-US" sz="1600" dirty="0">
                <a:solidFill>
                  <a:srgbClr val="26221F"/>
                </a:solidFill>
                <a:latin typeface="Calibri" pitchFamily="34" charset="0"/>
                <a:ea typeface="Calibri" pitchFamily="34" charset="-122"/>
                <a:cs typeface="Calibri" pitchFamily="34" charset="-120"/>
              </a:rPr>
              <a:t>This module builds the preprocessing layer. Every downstream model inherits the assumptions you make about missing values, outliers, units, and duplicates here, so each fix must be defensible, reversible, and documented.</a:t>
            </a:r>
            <a:endParaRPr lang="en-US" sz="1600" dirty="0"/>
          </a:p>
        </p:txBody>
      </p:sp>
      <p:sp>
        <p:nvSpPr>
          <p:cNvPr id="17" name="Text 15"/>
          <p:cNvSpPr/>
          <p:nvPr/>
        </p:nvSpPr>
        <p:spPr>
          <a:xfrm>
            <a:off x="640080" y="6382512"/>
            <a:ext cx="10972800" cy="274320"/>
          </a:xfrm>
          <a:prstGeom prst="rect">
            <a:avLst/>
          </a:prstGeom>
          <a:noFill/>
          <a:ln/>
        </p:spPr>
        <p:txBody>
          <a:bodyPr wrap="square" lIns="0" tIns="0" rIns="0" bIns="0" rtlCol="0" anchor="ctr"/>
          <a:lstStyle/>
          <a:p>
            <a:pPr indent="0" marL="0">
              <a:buNone/>
            </a:pPr>
            <a:r>
              <a:rPr lang="en-US" sz="1000" dirty="0">
                <a:solidFill>
                  <a:srgbClr val="6D635F"/>
                </a:solidFill>
                <a:latin typeface="Calibri" pitchFamily="34" charset="0"/>
                <a:ea typeface="Calibri" pitchFamily="34" charset="-122"/>
                <a:cs typeface="Calibri" pitchFamily="34" charset="-120"/>
              </a:rPr>
              <a:t>Advanced Data Science  ·  Module 2  ·  CC BY-NC-SA 4.0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5F3D64"/>
        </a:solidFill>
      </p:bgPr>
    </p:bg>
    <p:spTree>
      <p:nvGrpSpPr>
        <p:cNvPr id="1" name=""/>
        <p:cNvGrpSpPr/>
        <p:nvPr/>
      </p:nvGrpSpPr>
      <p:grpSpPr>
        <a:xfrm>
          <a:off x="0" y="0"/>
          <a:ext cx="0" cy="0"/>
          <a:chOff x="0" y="0"/>
          <a:chExt cx="0" cy="0"/>
        </a:xfrm>
      </p:grpSpPr>
      <p:sp>
        <p:nvSpPr>
          <p:cNvPr id="2" name="Text 0"/>
          <p:cNvSpPr/>
          <p:nvPr/>
        </p:nvSpPr>
        <p:spPr>
          <a:xfrm>
            <a:off x="822960" y="2286000"/>
            <a:ext cx="10058400" cy="365760"/>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PART 1 OF 2</a:t>
            </a:r>
            <a:endParaRPr lang="en-US" sz="1500" dirty="0"/>
          </a:p>
        </p:txBody>
      </p:sp>
      <p:sp>
        <p:nvSpPr>
          <p:cNvPr id="3" name="Text 1"/>
          <p:cNvSpPr/>
          <p:nvPr/>
        </p:nvSpPr>
        <p:spPr>
          <a:xfrm>
            <a:off x="822960" y="2743200"/>
            <a:ext cx="10424160" cy="1188720"/>
          </a:xfrm>
          <a:prstGeom prst="rect">
            <a:avLst/>
          </a:prstGeom>
          <a:noFill/>
          <a:ln/>
        </p:spPr>
        <p:txBody>
          <a:bodyPr wrap="square" lIns="0" tIns="0" rIns="0" bIns="0" rtlCol="0" anchor="ctr"/>
          <a:lstStyle/>
          <a:p>
            <a:pPr indent="0" marL="0">
              <a:lnSpc>
                <a:spcPct val="100000"/>
              </a:lnSpc>
              <a:buNone/>
            </a:pPr>
            <a:r>
              <a:rPr lang="en-US" sz="3200" b="1" dirty="0">
                <a:solidFill>
                  <a:srgbClr val="FFFFFF"/>
                </a:solidFill>
                <a:latin typeface="Cambria" pitchFamily="34" charset="0"/>
                <a:ea typeface="Cambria" pitchFamily="34" charset="-122"/>
                <a:cs typeface="Cambria" pitchFamily="34" charset="-120"/>
              </a:rPr>
              <a:t>Cleaning as defensible decisions</a:t>
            </a:r>
            <a:endParaRPr lang="en-US" sz="3200" dirty="0"/>
          </a:p>
        </p:txBody>
      </p:sp>
      <p:sp>
        <p:nvSpPr>
          <p:cNvPr id="4" name="Text 2"/>
          <p:cNvSpPr/>
          <p:nvPr/>
        </p:nvSpPr>
        <p:spPr>
          <a:xfrm>
            <a:off x="822960" y="4023360"/>
            <a:ext cx="10058400" cy="365760"/>
          </a:xfrm>
          <a:prstGeom prst="rect">
            <a:avLst/>
          </a:prstGeom>
          <a:noFill/>
          <a:ln/>
        </p:spPr>
        <p:txBody>
          <a:bodyPr wrap="square" lIns="0" tIns="0" rIns="0" bIns="0" rtlCol="0" anchor="ctr"/>
          <a:lstStyle/>
          <a:p>
            <a:pPr indent="0" marL="0">
              <a:buNone/>
            </a:pPr>
            <a:r>
              <a:rPr lang="en-US" sz="1600" i="1" dirty="0">
                <a:solidFill>
                  <a:srgbClr val="E9E1EE"/>
                </a:solidFill>
                <a:latin typeface="Calibri" pitchFamily="34" charset="0"/>
                <a:ea typeface="Calibri" pitchFamily="34" charset="-122"/>
                <a:cs typeface="Calibri" pitchFamily="34" charset="-120"/>
              </a:rPr>
              <a:t>About 12 minutes on camera</a:t>
            </a:r>
            <a:endParaRPr lang="en-US" sz="1600" dirty="0"/>
          </a:p>
        </p:txBody>
      </p:sp>
      <p:sp>
        <p:nvSpPr>
          <p:cNvPr id="5" name="Text 3"/>
          <p:cNvSpPr/>
          <p:nvPr/>
        </p:nvSpPr>
        <p:spPr>
          <a:xfrm>
            <a:off x="640080" y="6382512"/>
            <a:ext cx="10972800" cy="274320"/>
          </a:xfrm>
          <a:prstGeom prst="rect">
            <a:avLst/>
          </a:prstGeom>
          <a:noFill/>
          <a:ln/>
        </p:spPr>
        <p:txBody>
          <a:bodyPr wrap="square" lIns="0" tIns="0" rIns="0" bIns="0" rtlCol="0" anchor="ctr"/>
          <a:lstStyle/>
          <a:p>
            <a:pPr indent="0" marL="0">
              <a:buNone/>
            </a:pPr>
            <a:r>
              <a:rPr lang="en-US" sz="1000" dirty="0">
                <a:solidFill>
                  <a:srgbClr val="6D635F"/>
                </a:solidFill>
                <a:latin typeface="Calibri" pitchFamily="34" charset="0"/>
                <a:ea typeface="Calibri" pitchFamily="34" charset="-122"/>
                <a:cs typeface="Calibri" pitchFamily="34" charset="-120"/>
              </a:rPr>
              <a:t>Advanced Data Science  ·  Module 2  ·  CC BY-NC-SA 4.0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292608"/>
          </a:xfrm>
          <a:prstGeom prst="rect">
            <a:avLst/>
          </a:prstGeom>
          <a:noFill/>
          <a:ln/>
        </p:spPr>
        <p:txBody>
          <a:bodyPr wrap="square" lIns="0" tIns="0" rIns="0" bIns="0" rtlCol="0" anchor="ctr"/>
          <a:lstStyle/>
          <a:p>
            <a:pPr indent="0" marL="0">
              <a:buNone/>
            </a:pPr>
            <a:r>
              <a:rPr lang="en-US" sz="1200" b="1" spc="150" kern="0" dirty="0">
                <a:solidFill>
                  <a:srgbClr val="7A5080"/>
                </a:solidFill>
                <a:latin typeface="Calibri" pitchFamily="34" charset="0"/>
                <a:ea typeface="Calibri" pitchFamily="34" charset="-122"/>
                <a:cs typeface="Calibri" pitchFamily="34" charset="-120"/>
              </a:rPr>
              <a:t>MODULE 2 · PART 1</a:t>
            </a:r>
            <a:endParaRPr lang="en-US" sz="12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indent="0" marL="0">
              <a:lnSpc>
                <a:spcPct val="100000"/>
              </a:lnSpc>
              <a:buNone/>
            </a:pPr>
            <a:r>
              <a:rPr lang="en-US" sz="2800" b="1" dirty="0">
                <a:solidFill>
                  <a:srgbClr val="26221F"/>
                </a:solidFill>
                <a:latin typeface="Cambria" pitchFamily="34" charset="0"/>
                <a:ea typeface="Cambria" pitchFamily="34" charset="-122"/>
                <a:cs typeface="Cambria" pitchFamily="34" charset="-120"/>
              </a:rPr>
              <a:t>“I dropped the bad rows” is never a methods sentence</a:t>
            </a:r>
            <a:endParaRPr lang="en-US" sz="2800" dirty="0"/>
          </a:p>
        </p:txBody>
      </p:sp>
      <p:sp>
        <p:nvSpPr>
          <p:cNvPr id="4" name="Text 2"/>
          <p:cNvSpPr/>
          <p:nvPr/>
        </p:nvSpPr>
        <p:spPr>
          <a:xfrm>
            <a:off x="685800" y="1965960"/>
            <a:ext cx="10607040" cy="3931920"/>
          </a:xfrm>
          <a:prstGeom prst="rect">
            <a:avLst/>
          </a:prstGeom>
          <a:noFill/>
          <a:ln/>
        </p:spPr>
        <p:txBody>
          <a:bodyPr wrap="square" lIns="0" tIns="0" rIns="0" bIns="0" rtlCol="0" anchor="t"/>
          <a:lstStyle/>
          <a:p>
            <a:pPr marL="203200" indent="-203200">
              <a:lnSpc>
                <a:spcPct val="110000"/>
              </a:lnSpc>
              <a:spcAft>
                <a:spcPts val="1000"/>
              </a:spcAft>
              <a:buSzPct val="100000"/>
              <a:buChar char="•"/>
            </a:pPr>
            <a:r>
              <a:rPr lang="en-US" sz="1600" dirty="0">
                <a:solidFill>
                  <a:srgbClr val="26221F"/>
                </a:solidFill>
                <a:latin typeface="Calibri" pitchFamily="34" charset="0"/>
                <a:ea typeface="Calibri" pitchFamily="34" charset="-122"/>
                <a:cs typeface="Calibri" pitchFamily="34" charset="-120"/>
              </a:rPr>
              <a:t>Name the mechanism you believe produced a defect before you choose a fix. The mechanism, not the symptom, dictates the honest remedy.</a:t>
            </a:r>
            <a:endParaRPr lang="en-US" sz="1600" dirty="0"/>
          </a:p>
          <a:p>
            <a:pPr marL="203200" indent="-203200">
              <a:lnSpc>
                <a:spcPct val="110000"/>
              </a:lnSpc>
              <a:spcAft>
                <a:spcPts val="1000"/>
              </a:spcAft>
              <a:buSzPct val="100000"/>
              <a:buChar char="•"/>
            </a:pPr>
            <a:r>
              <a:rPr lang="en-US" sz="1600" dirty="0">
                <a:solidFill>
                  <a:srgbClr val="26221F"/>
                </a:solidFill>
                <a:latin typeface="Calibri" pitchFamily="34" charset="0"/>
                <a:ea typeface="Calibri" pitchFamily="34" charset="-122"/>
                <a:cs typeface="Calibri" pitchFamily="34" charset="-120"/>
              </a:rPr>
              <a:t>Keep the raw data immutable, transform only copies, and log every step so the raw state can always be reconstructed.</a:t>
            </a:r>
            <a:endParaRPr lang="en-US" sz="1600" dirty="0"/>
          </a:p>
          <a:p>
            <a:pPr marL="203200" indent="-203200">
              <a:lnSpc>
                <a:spcPct val="110000"/>
              </a:lnSpc>
              <a:spcAft>
                <a:spcPts val="1000"/>
              </a:spcAft>
              <a:buSzPct val="100000"/>
              <a:buChar char="•"/>
            </a:pPr>
            <a:r>
              <a:rPr lang="en-US" sz="1600" dirty="0">
                <a:solidFill>
                  <a:srgbClr val="26221F"/>
                </a:solidFill>
                <a:latin typeface="Calibri" pitchFamily="34" charset="0"/>
                <a:ea typeface="Calibri" pitchFamily="34" charset="-122"/>
                <a:cs typeface="Calibri" pitchFamily="34" charset="-120"/>
              </a:rPr>
              <a:t>A defensible sentence states the action, the assumption behind it, and how it can be reversed.</a:t>
            </a:r>
            <a:endParaRPr lang="en-US" sz="1600" dirty="0"/>
          </a:p>
        </p:txBody>
      </p:sp>
      <p:sp>
        <p:nvSpPr>
          <p:cNvPr id="5" name="Text 3"/>
          <p:cNvSpPr/>
          <p:nvPr/>
        </p:nvSpPr>
        <p:spPr>
          <a:xfrm>
            <a:off x="640080" y="6382512"/>
            <a:ext cx="10972800" cy="274320"/>
          </a:xfrm>
          <a:prstGeom prst="rect">
            <a:avLst/>
          </a:prstGeom>
          <a:noFill/>
          <a:ln/>
        </p:spPr>
        <p:txBody>
          <a:bodyPr wrap="square" lIns="0" tIns="0" rIns="0" bIns="0" rtlCol="0" anchor="ctr"/>
          <a:lstStyle/>
          <a:p>
            <a:pPr indent="0" marL="0">
              <a:buNone/>
            </a:pPr>
            <a:r>
              <a:rPr lang="en-US" sz="1000" dirty="0">
                <a:solidFill>
                  <a:srgbClr val="6D635F"/>
                </a:solidFill>
                <a:latin typeface="Calibri" pitchFamily="34" charset="0"/>
                <a:ea typeface="Calibri" pitchFamily="34" charset="-122"/>
                <a:cs typeface="Calibri" pitchFamily="34" charset="-120"/>
              </a:rPr>
              <a:t>Advanced Data Science  ·  Module 2  ·  CC BY-NC-SA 4.0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292608"/>
          </a:xfrm>
          <a:prstGeom prst="rect">
            <a:avLst/>
          </a:prstGeom>
          <a:noFill/>
          <a:ln/>
        </p:spPr>
        <p:txBody>
          <a:bodyPr wrap="square" lIns="0" tIns="0" rIns="0" bIns="0" rtlCol="0" anchor="ctr"/>
          <a:lstStyle/>
          <a:p>
            <a:pPr indent="0" marL="0">
              <a:buNone/>
            </a:pPr>
            <a:r>
              <a:rPr lang="en-US" sz="1200" b="1" spc="150" kern="0" dirty="0">
                <a:solidFill>
                  <a:srgbClr val="7A5080"/>
                </a:solidFill>
                <a:latin typeface="Calibri" pitchFamily="34" charset="0"/>
                <a:ea typeface="Calibri" pitchFamily="34" charset="-122"/>
                <a:cs typeface="Calibri" pitchFamily="34" charset="-120"/>
              </a:rPr>
              <a:t>MODULE 2 · PART 1</a:t>
            </a:r>
            <a:endParaRPr lang="en-US" sz="12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indent="0" marL="0">
              <a:lnSpc>
                <a:spcPct val="100000"/>
              </a:lnSpc>
              <a:buNone/>
            </a:pPr>
            <a:r>
              <a:rPr lang="en-US" sz="2800" b="1" dirty="0">
                <a:solidFill>
                  <a:srgbClr val="26221F"/>
                </a:solidFill>
                <a:latin typeface="Cambria" pitchFamily="34" charset="0"/>
                <a:ea typeface="Cambria" pitchFamily="34" charset="-122"/>
                <a:cs typeface="Cambria" pitchFamily="34" charset="-120"/>
              </a:rPr>
              <a:t>Reversible by construction</a:t>
            </a:r>
            <a:endParaRPr lang="en-US" sz="2800" dirty="0"/>
          </a:p>
        </p:txBody>
      </p:sp>
      <p:sp>
        <p:nvSpPr>
          <p:cNvPr id="4" name="Shape 2"/>
          <p:cNvSpPr/>
          <p:nvPr/>
        </p:nvSpPr>
        <p:spPr>
          <a:xfrm>
            <a:off x="640080" y="2651760"/>
            <a:ext cx="2377440" cy="1188720"/>
          </a:xfrm>
          <a:prstGeom prst="roundRect">
            <a:avLst>
              <a:gd name="adj" fmla="val 6923"/>
            </a:avLst>
          </a:prstGeom>
          <a:solidFill>
            <a:srgbClr val="456546"/>
          </a:solidFill>
          <a:ln/>
        </p:spPr>
      </p:sp>
      <p:sp>
        <p:nvSpPr>
          <p:cNvPr id="5" name="Text 3"/>
          <p:cNvSpPr/>
          <p:nvPr/>
        </p:nvSpPr>
        <p:spPr>
          <a:xfrm>
            <a:off x="640080" y="2651760"/>
            <a:ext cx="2377440" cy="1188720"/>
          </a:xfrm>
          <a:prstGeom prst="rect">
            <a:avLst/>
          </a:prstGeom>
          <a:noFill/>
          <a:ln/>
        </p:spPr>
        <p:txBody>
          <a:bodyPr wrap="square" lIns="76200" tIns="76200" rIns="76200" bIns="7620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Raw file</a:t>
            </a:r>
            <a:endParaRPr lang="en-US" sz="1400" dirty="0"/>
          </a:p>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(immutable)</a:t>
            </a:r>
            <a:endParaRPr lang="en-US" sz="1400" dirty="0"/>
          </a:p>
        </p:txBody>
      </p:sp>
      <p:sp>
        <p:nvSpPr>
          <p:cNvPr id="6" name="Shape 4"/>
          <p:cNvSpPr/>
          <p:nvPr/>
        </p:nvSpPr>
        <p:spPr>
          <a:xfrm>
            <a:off x="3044952" y="3108960"/>
            <a:ext cx="274320" cy="256032"/>
          </a:xfrm>
          <a:prstGeom prst="rightArrow">
            <a:avLst/>
          </a:prstGeom>
          <a:solidFill>
            <a:srgbClr val="6D635F"/>
          </a:solidFill>
          <a:ln/>
        </p:spPr>
      </p:sp>
      <p:sp>
        <p:nvSpPr>
          <p:cNvPr id="7" name="Shape 5"/>
          <p:cNvSpPr/>
          <p:nvPr/>
        </p:nvSpPr>
        <p:spPr>
          <a:xfrm>
            <a:off x="3383280" y="2651760"/>
            <a:ext cx="2377440" cy="1188720"/>
          </a:xfrm>
          <a:prstGeom prst="roundRect">
            <a:avLst>
              <a:gd name="adj" fmla="val 6923"/>
            </a:avLst>
          </a:prstGeom>
          <a:solidFill>
            <a:srgbClr val="2A6F97"/>
          </a:solidFill>
          <a:ln/>
        </p:spPr>
      </p:sp>
      <p:sp>
        <p:nvSpPr>
          <p:cNvPr id="8" name="Text 6"/>
          <p:cNvSpPr/>
          <p:nvPr/>
        </p:nvSpPr>
        <p:spPr>
          <a:xfrm>
            <a:off x="3383280" y="2651760"/>
            <a:ext cx="2377440" cy="1188720"/>
          </a:xfrm>
          <a:prstGeom prst="rect">
            <a:avLst/>
          </a:prstGeom>
          <a:noFill/>
          <a:ln/>
        </p:spPr>
        <p:txBody>
          <a:bodyPr wrap="square" lIns="76200" tIns="76200" rIns="76200" bIns="7620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Transform</a:t>
            </a:r>
            <a:endParaRPr lang="en-US" sz="1400" dirty="0"/>
          </a:p>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 copy</a:t>
            </a:r>
            <a:endParaRPr lang="en-US" sz="1400" dirty="0"/>
          </a:p>
        </p:txBody>
      </p:sp>
      <p:sp>
        <p:nvSpPr>
          <p:cNvPr id="9" name="Shape 7"/>
          <p:cNvSpPr/>
          <p:nvPr/>
        </p:nvSpPr>
        <p:spPr>
          <a:xfrm>
            <a:off x="5788152" y="3108960"/>
            <a:ext cx="274320" cy="256032"/>
          </a:xfrm>
          <a:prstGeom prst="rightArrow">
            <a:avLst/>
          </a:prstGeom>
          <a:solidFill>
            <a:srgbClr val="6D635F"/>
          </a:solidFill>
          <a:ln/>
        </p:spPr>
      </p:sp>
      <p:sp>
        <p:nvSpPr>
          <p:cNvPr id="10" name="Shape 8"/>
          <p:cNvSpPr/>
          <p:nvPr/>
        </p:nvSpPr>
        <p:spPr>
          <a:xfrm>
            <a:off x="6126480" y="2651760"/>
            <a:ext cx="2377440" cy="1188720"/>
          </a:xfrm>
          <a:prstGeom prst="roundRect">
            <a:avLst>
              <a:gd name="adj" fmla="val 6923"/>
            </a:avLst>
          </a:prstGeom>
          <a:solidFill>
            <a:srgbClr val="9A6B1F"/>
          </a:solidFill>
          <a:ln/>
        </p:spPr>
      </p:sp>
      <p:sp>
        <p:nvSpPr>
          <p:cNvPr id="11" name="Text 9"/>
          <p:cNvSpPr/>
          <p:nvPr/>
        </p:nvSpPr>
        <p:spPr>
          <a:xfrm>
            <a:off x="6126480" y="2651760"/>
            <a:ext cx="2377440" cy="1188720"/>
          </a:xfrm>
          <a:prstGeom prst="rect">
            <a:avLst/>
          </a:prstGeom>
          <a:noFill/>
          <a:ln/>
        </p:spPr>
        <p:txBody>
          <a:bodyPr wrap="square" lIns="76200" tIns="76200" rIns="76200" bIns="7620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Log each</a:t>
            </a:r>
            <a:endParaRPr lang="en-US" sz="1400" dirty="0"/>
          </a:p>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step + reason</a:t>
            </a:r>
            <a:endParaRPr lang="en-US" sz="1400" dirty="0"/>
          </a:p>
        </p:txBody>
      </p:sp>
      <p:sp>
        <p:nvSpPr>
          <p:cNvPr id="12" name="Shape 10"/>
          <p:cNvSpPr/>
          <p:nvPr/>
        </p:nvSpPr>
        <p:spPr>
          <a:xfrm>
            <a:off x="8531352" y="3108960"/>
            <a:ext cx="274320" cy="256032"/>
          </a:xfrm>
          <a:prstGeom prst="rightArrow">
            <a:avLst/>
          </a:prstGeom>
          <a:solidFill>
            <a:srgbClr val="6D635F"/>
          </a:solidFill>
          <a:ln/>
        </p:spPr>
      </p:sp>
      <p:sp>
        <p:nvSpPr>
          <p:cNvPr id="13" name="Shape 11"/>
          <p:cNvSpPr/>
          <p:nvPr/>
        </p:nvSpPr>
        <p:spPr>
          <a:xfrm>
            <a:off x="8869680" y="2651760"/>
            <a:ext cx="2377440" cy="1188720"/>
          </a:xfrm>
          <a:prstGeom prst="roundRect">
            <a:avLst>
              <a:gd name="adj" fmla="val 6923"/>
            </a:avLst>
          </a:prstGeom>
          <a:solidFill>
            <a:srgbClr val="7A5080"/>
          </a:solidFill>
          <a:ln/>
        </p:spPr>
      </p:sp>
      <p:sp>
        <p:nvSpPr>
          <p:cNvPr id="14" name="Text 12"/>
          <p:cNvSpPr/>
          <p:nvPr/>
        </p:nvSpPr>
        <p:spPr>
          <a:xfrm>
            <a:off x="8869680" y="2651760"/>
            <a:ext cx="2377440" cy="1188720"/>
          </a:xfrm>
          <a:prstGeom prst="rect">
            <a:avLst/>
          </a:prstGeom>
          <a:noFill/>
          <a:ln/>
        </p:spPr>
        <p:txBody>
          <a:bodyPr wrap="square" lIns="76200" tIns="76200" rIns="76200" bIns="7620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Reconstruct</a:t>
            </a:r>
            <a:endParaRPr lang="en-US" sz="1400" dirty="0"/>
          </a:p>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raw anytime</a:t>
            </a:r>
            <a:endParaRPr lang="en-US" sz="1400" dirty="0"/>
          </a:p>
        </p:txBody>
      </p:sp>
      <p:sp>
        <p:nvSpPr>
          <p:cNvPr id="15" name="Text 13"/>
          <p:cNvSpPr/>
          <p:nvPr/>
        </p:nvSpPr>
        <p:spPr>
          <a:xfrm>
            <a:off x="685800" y="4206240"/>
            <a:ext cx="10607040" cy="822960"/>
          </a:xfrm>
          <a:prstGeom prst="rect">
            <a:avLst/>
          </a:prstGeom>
          <a:noFill/>
          <a:ln/>
        </p:spPr>
        <p:txBody>
          <a:bodyPr wrap="square" lIns="0" tIns="0" rIns="0" bIns="0" rtlCol="0" anchor="ctr"/>
          <a:lstStyle/>
          <a:p>
            <a:pPr indent="0" marL="0">
              <a:lnSpc>
                <a:spcPct val="110000"/>
              </a:lnSpc>
              <a:buNone/>
            </a:pPr>
            <a:r>
              <a:rPr lang="en-US" sz="1500" i="1" dirty="0">
                <a:solidFill>
                  <a:srgbClr val="6D635F"/>
                </a:solidFill>
                <a:latin typeface="Calibri" pitchFamily="34" charset="0"/>
                <a:ea typeface="Calibri" pitchFamily="34" charset="-122"/>
                <a:cs typeface="Calibri" pitchFamily="34" charset="-120"/>
              </a:rPr>
              <a:t>Every transformation records its rationale, its mechanism assumption, and how to undo it. That log is the deliverable a reviewer audits.</a:t>
            </a:r>
            <a:endParaRPr lang="en-US" sz="1500" dirty="0"/>
          </a:p>
        </p:txBody>
      </p:sp>
      <p:sp>
        <p:nvSpPr>
          <p:cNvPr id="16" name="Text 14"/>
          <p:cNvSpPr/>
          <p:nvPr/>
        </p:nvSpPr>
        <p:spPr>
          <a:xfrm>
            <a:off x="640080" y="6382512"/>
            <a:ext cx="10972800" cy="274320"/>
          </a:xfrm>
          <a:prstGeom prst="rect">
            <a:avLst/>
          </a:prstGeom>
          <a:noFill/>
          <a:ln/>
        </p:spPr>
        <p:txBody>
          <a:bodyPr wrap="square" lIns="0" tIns="0" rIns="0" bIns="0" rtlCol="0" anchor="ctr"/>
          <a:lstStyle/>
          <a:p>
            <a:pPr indent="0" marL="0">
              <a:buNone/>
            </a:pPr>
            <a:r>
              <a:rPr lang="en-US" sz="1000" dirty="0">
                <a:solidFill>
                  <a:srgbClr val="6D635F"/>
                </a:solidFill>
                <a:latin typeface="Calibri" pitchFamily="34" charset="0"/>
                <a:ea typeface="Calibri" pitchFamily="34" charset="-122"/>
                <a:cs typeface="Calibri" pitchFamily="34" charset="-120"/>
              </a:rPr>
              <a:t>Advanced Data Science  ·  Module 2  ·  CC BY-NC-SA 4.0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292608"/>
          </a:xfrm>
          <a:prstGeom prst="rect">
            <a:avLst/>
          </a:prstGeom>
          <a:noFill/>
          <a:ln/>
        </p:spPr>
        <p:txBody>
          <a:bodyPr wrap="square" lIns="0" tIns="0" rIns="0" bIns="0" rtlCol="0" anchor="ctr"/>
          <a:lstStyle/>
          <a:p>
            <a:pPr indent="0" marL="0">
              <a:buNone/>
            </a:pPr>
            <a:r>
              <a:rPr lang="en-US" sz="1200" b="1" spc="150" kern="0" dirty="0">
                <a:solidFill>
                  <a:srgbClr val="7A5080"/>
                </a:solidFill>
                <a:latin typeface="Calibri" pitchFamily="34" charset="0"/>
                <a:ea typeface="Calibri" pitchFamily="34" charset="-122"/>
                <a:cs typeface="Calibri" pitchFamily="34" charset="-120"/>
              </a:rPr>
              <a:t>MODULE 2 · PART 1</a:t>
            </a:r>
            <a:endParaRPr lang="en-US" sz="12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indent="0" marL="0">
              <a:lnSpc>
                <a:spcPct val="100000"/>
              </a:lnSpc>
              <a:buNone/>
            </a:pPr>
            <a:r>
              <a:rPr lang="en-US" sz="2800" b="1" dirty="0">
                <a:solidFill>
                  <a:srgbClr val="26221F"/>
                </a:solidFill>
                <a:latin typeface="Cambria" pitchFamily="34" charset="0"/>
                <a:ea typeface="Cambria" pitchFamily="34" charset="-122"/>
                <a:cs typeface="Cambria" pitchFamily="34" charset="-120"/>
              </a:rPr>
              <a:t>Outliers are not all the same</a:t>
            </a:r>
            <a:endParaRPr lang="en-US" sz="2800" dirty="0"/>
          </a:p>
        </p:txBody>
      </p:sp>
      <p:sp>
        <p:nvSpPr>
          <p:cNvPr id="4" name="Shape 2"/>
          <p:cNvSpPr/>
          <p:nvPr/>
        </p:nvSpPr>
        <p:spPr>
          <a:xfrm>
            <a:off x="685800" y="1965960"/>
            <a:ext cx="5212080" cy="1691640"/>
          </a:xfrm>
          <a:prstGeom prst="roundRect">
            <a:avLst>
              <a:gd name="adj" fmla="val 3243"/>
            </a:avLst>
          </a:prstGeom>
          <a:solidFill>
            <a:srgbClr val="FBFAFC"/>
          </a:solidFill>
          <a:ln w="19050">
            <a:solidFill>
              <a:srgbClr val="94395A"/>
            </a:solidFill>
            <a:prstDash val="solid"/>
          </a:ln>
        </p:spPr>
      </p:sp>
      <p:sp>
        <p:nvSpPr>
          <p:cNvPr id="5" name="Text 3"/>
          <p:cNvSpPr/>
          <p:nvPr/>
        </p:nvSpPr>
        <p:spPr>
          <a:xfrm>
            <a:off x="960120" y="2167128"/>
            <a:ext cx="4663440" cy="457200"/>
          </a:xfrm>
          <a:prstGeom prst="rect">
            <a:avLst/>
          </a:prstGeom>
          <a:noFill/>
          <a:ln/>
        </p:spPr>
        <p:txBody>
          <a:bodyPr wrap="square" lIns="0" tIns="0" rIns="0" bIns="0" rtlCol="0" anchor="ctr"/>
          <a:lstStyle/>
          <a:p>
            <a:pPr indent="0" marL="0">
              <a:buNone/>
            </a:pPr>
            <a:r>
              <a:rPr lang="en-US" sz="1800" b="1" dirty="0">
                <a:solidFill>
                  <a:srgbClr val="94395A"/>
                </a:solidFill>
                <a:latin typeface="Cambria" pitchFamily="34" charset="0"/>
                <a:ea typeface="Cambria" pitchFamily="34" charset="-122"/>
                <a:cs typeface="Cambria" pitchFamily="34" charset="-120"/>
              </a:rPr>
              <a:t>Data-entry error</a:t>
            </a:r>
            <a:endParaRPr lang="en-US" sz="1800" dirty="0"/>
          </a:p>
        </p:txBody>
      </p:sp>
      <p:sp>
        <p:nvSpPr>
          <p:cNvPr id="6" name="Text 4"/>
          <p:cNvSpPr/>
          <p:nvPr/>
        </p:nvSpPr>
        <p:spPr>
          <a:xfrm>
            <a:off x="960120" y="2743200"/>
            <a:ext cx="4663440" cy="777240"/>
          </a:xfrm>
          <a:prstGeom prst="rect">
            <a:avLst/>
          </a:prstGeom>
          <a:noFill/>
          <a:ln/>
        </p:spPr>
        <p:txBody>
          <a:bodyPr wrap="square" lIns="0" tIns="0" rIns="0" bIns="0" rtlCol="0" anchor="ctr"/>
          <a:lstStyle/>
          <a:p>
            <a:pPr indent="0" marL="0">
              <a:lnSpc>
                <a:spcPct val="108000"/>
              </a:lnSpc>
              <a:buNone/>
            </a:pPr>
            <a:r>
              <a:rPr lang="en-US" sz="1350" dirty="0">
                <a:solidFill>
                  <a:srgbClr val="26221F"/>
                </a:solidFill>
                <a:latin typeface="Calibri" pitchFamily="34" charset="0"/>
                <a:ea typeface="Calibri" pitchFamily="34" charset="-122"/>
                <a:cs typeface="Calibri" pitchFamily="34" charset="-120"/>
              </a:rPr>
              <a:t>A physically impossible value, a negative age, a mis-keyed unit. Correct or remove it, and record why.</a:t>
            </a:r>
            <a:endParaRPr lang="en-US" sz="1350" dirty="0"/>
          </a:p>
        </p:txBody>
      </p:sp>
      <p:sp>
        <p:nvSpPr>
          <p:cNvPr id="7" name="Shape 5"/>
          <p:cNvSpPr/>
          <p:nvPr/>
        </p:nvSpPr>
        <p:spPr>
          <a:xfrm>
            <a:off x="6126480" y="1965960"/>
            <a:ext cx="5212080" cy="1691640"/>
          </a:xfrm>
          <a:prstGeom prst="roundRect">
            <a:avLst>
              <a:gd name="adj" fmla="val 3243"/>
            </a:avLst>
          </a:prstGeom>
          <a:solidFill>
            <a:srgbClr val="FBFAFC"/>
          </a:solidFill>
          <a:ln w="19050">
            <a:solidFill>
              <a:srgbClr val="456546"/>
            </a:solidFill>
            <a:prstDash val="solid"/>
          </a:ln>
        </p:spPr>
      </p:sp>
      <p:sp>
        <p:nvSpPr>
          <p:cNvPr id="8" name="Text 6"/>
          <p:cNvSpPr/>
          <p:nvPr/>
        </p:nvSpPr>
        <p:spPr>
          <a:xfrm>
            <a:off x="6400800" y="2167128"/>
            <a:ext cx="4663440" cy="457200"/>
          </a:xfrm>
          <a:prstGeom prst="rect">
            <a:avLst/>
          </a:prstGeom>
          <a:noFill/>
          <a:ln/>
        </p:spPr>
        <p:txBody>
          <a:bodyPr wrap="square" lIns="0" tIns="0" rIns="0" bIns="0" rtlCol="0" anchor="ctr"/>
          <a:lstStyle/>
          <a:p>
            <a:pPr indent="0" marL="0">
              <a:buNone/>
            </a:pPr>
            <a:r>
              <a:rPr lang="en-US" sz="1800" b="1" dirty="0">
                <a:solidFill>
                  <a:srgbClr val="456546"/>
                </a:solidFill>
                <a:latin typeface="Cambria" pitchFamily="34" charset="0"/>
                <a:ea typeface="Cambria" pitchFamily="34" charset="-122"/>
                <a:cs typeface="Cambria" pitchFamily="34" charset="-120"/>
              </a:rPr>
              <a:t>Genuine extreme</a:t>
            </a:r>
            <a:endParaRPr lang="en-US" sz="1800" dirty="0"/>
          </a:p>
        </p:txBody>
      </p:sp>
      <p:sp>
        <p:nvSpPr>
          <p:cNvPr id="9" name="Text 7"/>
          <p:cNvSpPr/>
          <p:nvPr/>
        </p:nvSpPr>
        <p:spPr>
          <a:xfrm>
            <a:off x="6400800" y="2743200"/>
            <a:ext cx="4663440" cy="777240"/>
          </a:xfrm>
          <a:prstGeom prst="rect">
            <a:avLst/>
          </a:prstGeom>
          <a:noFill/>
          <a:ln/>
        </p:spPr>
        <p:txBody>
          <a:bodyPr wrap="square" lIns="0" tIns="0" rIns="0" bIns="0" rtlCol="0" anchor="ctr"/>
          <a:lstStyle/>
          <a:p>
            <a:pPr indent="0" marL="0">
              <a:lnSpc>
                <a:spcPct val="108000"/>
              </a:lnSpc>
              <a:buNone/>
            </a:pPr>
            <a:r>
              <a:rPr lang="en-US" sz="1350" dirty="0">
                <a:solidFill>
                  <a:srgbClr val="26221F"/>
                </a:solidFill>
                <a:latin typeface="Calibri" pitchFamily="34" charset="0"/>
                <a:ea typeface="Calibri" pitchFamily="34" charset="-122"/>
                <a:cs typeface="Calibri" pitchFamily="34" charset="-120"/>
              </a:rPr>
              <a:t>A rare but real observation, a true high earner. Keep it; deleting it biases the result.</a:t>
            </a:r>
            <a:endParaRPr lang="en-US" sz="1350" dirty="0"/>
          </a:p>
        </p:txBody>
      </p:sp>
      <p:sp>
        <p:nvSpPr>
          <p:cNvPr id="10" name="Shape 8"/>
          <p:cNvSpPr/>
          <p:nvPr/>
        </p:nvSpPr>
        <p:spPr>
          <a:xfrm>
            <a:off x="685800" y="3840480"/>
            <a:ext cx="5212080" cy="1691640"/>
          </a:xfrm>
          <a:prstGeom prst="roundRect">
            <a:avLst>
              <a:gd name="adj" fmla="val 3243"/>
            </a:avLst>
          </a:prstGeom>
          <a:solidFill>
            <a:srgbClr val="FBFAFC"/>
          </a:solidFill>
          <a:ln w="19050">
            <a:solidFill>
              <a:srgbClr val="2A6F97"/>
            </a:solidFill>
            <a:prstDash val="solid"/>
          </a:ln>
        </p:spPr>
      </p:sp>
      <p:sp>
        <p:nvSpPr>
          <p:cNvPr id="11" name="Text 9"/>
          <p:cNvSpPr/>
          <p:nvPr/>
        </p:nvSpPr>
        <p:spPr>
          <a:xfrm>
            <a:off x="960120" y="4041648"/>
            <a:ext cx="4663440" cy="457200"/>
          </a:xfrm>
          <a:prstGeom prst="rect">
            <a:avLst/>
          </a:prstGeom>
          <a:noFill/>
          <a:ln/>
        </p:spPr>
        <p:txBody>
          <a:bodyPr wrap="square" lIns="0" tIns="0" rIns="0" bIns="0" rtlCol="0" anchor="ctr"/>
          <a:lstStyle/>
          <a:p>
            <a:pPr indent="0" marL="0">
              <a:buNone/>
            </a:pPr>
            <a:r>
              <a:rPr lang="en-US" sz="1800" b="1" dirty="0">
                <a:solidFill>
                  <a:srgbClr val="2A6F97"/>
                </a:solidFill>
                <a:latin typeface="Cambria" pitchFamily="34" charset="0"/>
                <a:ea typeface="Cambria" pitchFamily="34" charset="-122"/>
                <a:cs typeface="Cambria" pitchFamily="34" charset="-120"/>
              </a:rPr>
              <a:t>The test only flags</a:t>
            </a:r>
            <a:endParaRPr lang="en-US" sz="1800" dirty="0"/>
          </a:p>
        </p:txBody>
      </p:sp>
      <p:sp>
        <p:nvSpPr>
          <p:cNvPr id="12" name="Text 10"/>
          <p:cNvSpPr/>
          <p:nvPr/>
        </p:nvSpPr>
        <p:spPr>
          <a:xfrm>
            <a:off x="960120" y="4617720"/>
            <a:ext cx="4663440" cy="777240"/>
          </a:xfrm>
          <a:prstGeom prst="rect">
            <a:avLst/>
          </a:prstGeom>
          <a:noFill/>
          <a:ln/>
        </p:spPr>
        <p:txBody>
          <a:bodyPr wrap="square" lIns="0" tIns="0" rIns="0" bIns="0" rtlCol="0" anchor="ctr"/>
          <a:lstStyle/>
          <a:p>
            <a:pPr indent="0" marL="0">
              <a:lnSpc>
                <a:spcPct val="108000"/>
              </a:lnSpc>
              <a:buNone/>
            </a:pPr>
            <a:r>
              <a:rPr lang="en-US" sz="1350" dirty="0">
                <a:solidFill>
                  <a:srgbClr val="26221F"/>
                </a:solidFill>
                <a:latin typeface="Calibri" pitchFamily="34" charset="0"/>
                <a:ea typeface="Calibri" pitchFamily="34" charset="-122"/>
                <a:cs typeface="Calibri" pitchFamily="34" charset="-120"/>
              </a:rPr>
              <a:t>Grubbs or the generalized ESD marks a candidate for investigation, not an automatic deletion.</a:t>
            </a:r>
            <a:endParaRPr lang="en-US" sz="1350" dirty="0"/>
          </a:p>
        </p:txBody>
      </p:sp>
      <p:sp>
        <p:nvSpPr>
          <p:cNvPr id="13" name="Shape 11"/>
          <p:cNvSpPr/>
          <p:nvPr/>
        </p:nvSpPr>
        <p:spPr>
          <a:xfrm>
            <a:off x="6126480" y="3840480"/>
            <a:ext cx="5212080" cy="1691640"/>
          </a:xfrm>
          <a:prstGeom prst="roundRect">
            <a:avLst>
              <a:gd name="adj" fmla="val 3243"/>
            </a:avLst>
          </a:prstGeom>
          <a:solidFill>
            <a:srgbClr val="FBFAFC"/>
          </a:solidFill>
          <a:ln w="19050">
            <a:solidFill>
              <a:srgbClr val="9A6B1F"/>
            </a:solidFill>
            <a:prstDash val="solid"/>
          </a:ln>
        </p:spPr>
      </p:sp>
      <p:sp>
        <p:nvSpPr>
          <p:cNvPr id="14" name="Text 12"/>
          <p:cNvSpPr/>
          <p:nvPr/>
        </p:nvSpPr>
        <p:spPr>
          <a:xfrm>
            <a:off x="6400800" y="4041648"/>
            <a:ext cx="4663440" cy="457200"/>
          </a:xfrm>
          <a:prstGeom prst="rect">
            <a:avLst/>
          </a:prstGeom>
          <a:noFill/>
          <a:ln/>
        </p:spPr>
        <p:txBody>
          <a:bodyPr wrap="square" lIns="0" tIns="0" rIns="0" bIns="0" rtlCol="0" anchor="ctr"/>
          <a:lstStyle/>
          <a:p>
            <a:pPr indent="0" marL="0">
              <a:buNone/>
            </a:pPr>
            <a:r>
              <a:rPr lang="en-US" sz="1800" b="1" dirty="0">
                <a:solidFill>
                  <a:srgbClr val="9A6B1F"/>
                </a:solidFill>
                <a:latin typeface="Cambria" pitchFamily="34" charset="0"/>
                <a:ea typeface="Cambria" pitchFamily="34" charset="-122"/>
                <a:cs typeface="Cambria" pitchFamily="34" charset="-120"/>
              </a:rPr>
              <a:t>State a rule</a:t>
            </a:r>
            <a:endParaRPr lang="en-US" sz="1800" dirty="0"/>
          </a:p>
        </p:txBody>
      </p:sp>
      <p:sp>
        <p:nvSpPr>
          <p:cNvPr id="15" name="Text 13"/>
          <p:cNvSpPr/>
          <p:nvPr/>
        </p:nvSpPr>
        <p:spPr>
          <a:xfrm>
            <a:off x="6400800" y="4617720"/>
            <a:ext cx="4663440" cy="777240"/>
          </a:xfrm>
          <a:prstGeom prst="rect">
            <a:avLst/>
          </a:prstGeom>
          <a:noFill/>
          <a:ln/>
        </p:spPr>
        <p:txBody>
          <a:bodyPr wrap="square" lIns="0" tIns="0" rIns="0" bIns="0" rtlCol="0" anchor="ctr"/>
          <a:lstStyle/>
          <a:p>
            <a:pPr indent="0" marL="0">
              <a:lnSpc>
                <a:spcPct val="108000"/>
              </a:lnSpc>
              <a:buNone/>
            </a:pPr>
            <a:r>
              <a:rPr lang="en-US" sz="1350" dirty="0">
                <a:solidFill>
                  <a:srgbClr val="26221F"/>
                </a:solidFill>
                <a:latin typeface="Calibri" pitchFamily="34" charset="0"/>
                <a:ea typeface="Calibri" pitchFamily="34" charset="-122"/>
                <a:cs typeface="Calibri" pitchFamily="34" charset="-120"/>
              </a:rPr>
              <a:t>Decide the treatment by a stated, reproducible criterion, not by eyeballing and reflex.</a:t>
            </a:r>
            <a:endParaRPr lang="en-US" sz="1350" dirty="0"/>
          </a:p>
        </p:txBody>
      </p:sp>
      <p:sp>
        <p:nvSpPr>
          <p:cNvPr id="16" name="Text 14"/>
          <p:cNvSpPr/>
          <p:nvPr/>
        </p:nvSpPr>
        <p:spPr>
          <a:xfrm>
            <a:off x="640080" y="6382512"/>
            <a:ext cx="10972800" cy="274320"/>
          </a:xfrm>
          <a:prstGeom prst="rect">
            <a:avLst/>
          </a:prstGeom>
          <a:noFill/>
          <a:ln/>
        </p:spPr>
        <p:txBody>
          <a:bodyPr wrap="square" lIns="0" tIns="0" rIns="0" bIns="0" rtlCol="0" anchor="ctr"/>
          <a:lstStyle/>
          <a:p>
            <a:pPr indent="0" marL="0">
              <a:buNone/>
            </a:pPr>
            <a:r>
              <a:rPr lang="en-US" sz="1000" dirty="0">
                <a:solidFill>
                  <a:srgbClr val="6D635F"/>
                </a:solidFill>
                <a:latin typeface="Calibri" pitchFamily="34" charset="0"/>
                <a:ea typeface="Calibri" pitchFamily="34" charset="-122"/>
                <a:cs typeface="Calibri" pitchFamily="34" charset="-120"/>
              </a:rPr>
              <a:t>Advanced Data Science  ·  Module 2  ·  CC BY-NC-SA 4.0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A6F97"/>
        </a:solidFill>
      </p:bgPr>
    </p:bg>
    <p:spTree>
      <p:nvGrpSpPr>
        <p:cNvPr id="1" name=""/>
        <p:cNvGrpSpPr/>
        <p:nvPr/>
      </p:nvGrpSpPr>
      <p:grpSpPr>
        <a:xfrm>
          <a:off x="0" y="0"/>
          <a:ext cx="0" cy="0"/>
          <a:chOff x="0" y="0"/>
          <a:chExt cx="0" cy="0"/>
        </a:xfrm>
      </p:grpSpPr>
      <p:sp>
        <p:nvSpPr>
          <p:cNvPr id="2" name="Text 0"/>
          <p:cNvSpPr/>
          <p:nvPr/>
        </p:nvSpPr>
        <p:spPr>
          <a:xfrm>
            <a:off x="822960" y="1280160"/>
            <a:ext cx="10058400" cy="365760"/>
          </a:xfrm>
          <a:prstGeom prst="rect">
            <a:avLst/>
          </a:prstGeom>
          <a:noFill/>
          <a:ln/>
        </p:spPr>
        <p:txBody>
          <a:bodyPr wrap="square" lIns="0" tIns="0" rIns="0" bIns="0" rtlCol="0" anchor="ctr"/>
          <a:lstStyle/>
          <a:p>
            <a:pPr indent="0" marL="0">
              <a:buNone/>
            </a:pPr>
            <a:r>
              <a:rPr lang="en-US" sz="1500" b="1" spc="250" kern="0" dirty="0">
                <a:solidFill>
                  <a:srgbClr val="BFE0F0"/>
                </a:solidFill>
                <a:latin typeface="Calibri" pitchFamily="34" charset="0"/>
                <a:ea typeface="Calibri" pitchFamily="34" charset="-122"/>
                <a:cs typeface="Calibri" pitchFamily="34" charset="-120"/>
              </a:rPr>
              <a:t>NOW TRY IT</a:t>
            </a:r>
            <a:endParaRPr lang="en-US" sz="1500" dirty="0"/>
          </a:p>
        </p:txBody>
      </p:sp>
      <p:sp>
        <p:nvSpPr>
          <p:cNvPr id="3" name="Text 1"/>
          <p:cNvSpPr/>
          <p:nvPr/>
        </p:nvSpPr>
        <p:spPr>
          <a:xfrm>
            <a:off x="822960" y="1783080"/>
            <a:ext cx="10424160" cy="1005840"/>
          </a:xfrm>
          <a:prstGeom prst="rect">
            <a:avLst/>
          </a:prstGeom>
          <a:noFill/>
          <a:ln/>
        </p:spPr>
        <p:txBody>
          <a:bodyPr wrap="square" lIns="0" tIns="0" rIns="0" bIns="0" rtlCol="0" anchor="ctr"/>
          <a:lstStyle/>
          <a:p>
            <a:pPr indent="0" marL="0">
              <a:lnSpc>
                <a:spcPct val="100000"/>
              </a:lnSpc>
              <a:buNone/>
            </a:pPr>
            <a:r>
              <a:rPr lang="en-US" sz="3100" b="1" dirty="0">
                <a:solidFill>
                  <a:srgbClr val="FFFFFF"/>
                </a:solidFill>
                <a:latin typeface="Cambria" pitchFamily="34" charset="0"/>
                <a:ea typeface="Cambria" pitchFamily="34" charset="-122"/>
                <a:cs typeface="Cambria" pitchFamily="34" charset="-120"/>
              </a:rPr>
              <a:t>Kaggle Learn: Data Cleaning + Feature Engineering</a:t>
            </a:r>
            <a:endParaRPr lang="en-US" sz="3100" dirty="0"/>
          </a:p>
        </p:txBody>
      </p:sp>
      <p:sp>
        <p:nvSpPr>
          <p:cNvPr id="4" name="Text 2"/>
          <p:cNvSpPr/>
          <p:nvPr/>
        </p:nvSpPr>
        <p:spPr>
          <a:xfrm>
            <a:off x="868680" y="3063240"/>
            <a:ext cx="10241280" cy="2194560"/>
          </a:xfrm>
          <a:prstGeom prst="rect">
            <a:avLst/>
          </a:prstGeom>
          <a:noFill/>
          <a:ln/>
        </p:spPr>
        <p:txBody>
          <a:bodyPr wrap="square" lIns="0" tIns="0" rIns="0" bIns="0" rtlCol="0" anchor="ctr"/>
          <a:lstStyle/>
          <a:p>
            <a:pPr marL="203200" indent="-203200">
              <a:lnSpc>
                <a:spcPct val="110000"/>
              </a:lnSpc>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Complete the Data Cleaning micro-course: missing values, scaling, dates, encodings, inconsistent entries.</a:t>
            </a:r>
            <a:endParaRPr lang="en-US" sz="1600" dirty="0"/>
          </a:p>
          <a:p>
            <a:pPr marL="203200" indent="-203200">
              <a:lnSpc>
                <a:spcPct val="110000"/>
              </a:lnSpc>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Complete the Feature Engineering micro-course, watching for features that leak the target.</a:t>
            </a:r>
            <a:endParaRPr lang="en-US" sz="1600" dirty="0"/>
          </a:p>
        </p:txBody>
      </p:sp>
      <p:sp>
        <p:nvSpPr>
          <p:cNvPr id="5" name="Text 3"/>
          <p:cNvSpPr/>
          <p:nvPr/>
        </p:nvSpPr>
        <p:spPr>
          <a:xfrm>
            <a:off x="822960" y="5532120"/>
            <a:ext cx="10424160" cy="457200"/>
          </a:xfrm>
          <a:prstGeom prst="rect">
            <a:avLst/>
          </a:prstGeom>
          <a:noFill/>
          <a:ln/>
        </p:spPr>
        <p:txBody>
          <a:bodyPr wrap="square" lIns="0" tIns="0" rIns="0" bIns="0" rtlCol="0" anchor="ctr"/>
          <a:lstStyle/>
          <a:p>
            <a:pPr indent="0" marL="0">
              <a:buNone/>
            </a:pPr>
            <a:r>
              <a:rPr lang="en-US" sz="1300" i="1" dirty="0">
                <a:solidFill>
                  <a:srgbClr val="CFE6F2"/>
                </a:solidFill>
                <a:latin typeface="Calibri" pitchFamily="34" charset="0"/>
                <a:ea typeface="Calibri" pitchFamily="34" charset="-122"/>
                <a:cs typeface="Calibri" pitchFamily="34" charset="-120"/>
              </a:rPr>
              <a:t>About 45 minutes total, auto-graded, then come back for Part 2.</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5F3D64"/>
        </a:solidFill>
      </p:bgPr>
    </p:bg>
    <p:spTree>
      <p:nvGrpSpPr>
        <p:cNvPr id="1" name=""/>
        <p:cNvGrpSpPr/>
        <p:nvPr/>
      </p:nvGrpSpPr>
      <p:grpSpPr>
        <a:xfrm>
          <a:off x="0" y="0"/>
          <a:ext cx="0" cy="0"/>
          <a:chOff x="0" y="0"/>
          <a:chExt cx="0" cy="0"/>
        </a:xfrm>
      </p:grpSpPr>
      <p:sp>
        <p:nvSpPr>
          <p:cNvPr id="2" name="Text 0"/>
          <p:cNvSpPr/>
          <p:nvPr/>
        </p:nvSpPr>
        <p:spPr>
          <a:xfrm>
            <a:off x="822960" y="2286000"/>
            <a:ext cx="10058400" cy="365760"/>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PART 2 OF 2</a:t>
            </a:r>
            <a:endParaRPr lang="en-US" sz="1500" dirty="0"/>
          </a:p>
        </p:txBody>
      </p:sp>
      <p:sp>
        <p:nvSpPr>
          <p:cNvPr id="3" name="Text 1"/>
          <p:cNvSpPr/>
          <p:nvPr/>
        </p:nvSpPr>
        <p:spPr>
          <a:xfrm>
            <a:off x="822960" y="2743200"/>
            <a:ext cx="10424160" cy="1188720"/>
          </a:xfrm>
          <a:prstGeom prst="rect">
            <a:avLst/>
          </a:prstGeom>
          <a:noFill/>
          <a:ln/>
        </p:spPr>
        <p:txBody>
          <a:bodyPr wrap="square" lIns="0" tIns="0" rIns="0" bIns="0" rtlCol="0" anchor="ctr"/>
          <a:lstStyle/>
          <a:p>
            <a:pPr indent="0" marL="0">
              <a:lnSpc>
                <a:spcPct val="100000"/>
              </a:lnSpc>
              <a:buNone/>
            </a:pPr>
            <a:r>
              <a:rPr lang="en-US" sz="3200" b="1" dirty="0">
                <a:solidFill>
                  <a:srgbClr val="FFFFFF"/>
                </a:solidFill>
                <a:latin typeface="Cambria" pitchFamily="34" charset="0"/>
                <a:ea typeface="Cambria" pitchFamily="34" charset="-122"/>
                <a:cs typeface="Cambria" pitchFamily="34" charset="-120"/>
              </a:rPr>
              <a:t>Missing-data mechanisms and leakage</a:t>
            </a:r>
            <a:endParaRPr lang="en-US" sz="3200" dirty="0"/>
          </a:p>
        </p:txBody>
      </p:sp>
      <p:sp>
        <p:nvSpPr>
          <p:cNvPr id="4" name="Text 2"/>
          <p:cNvSpPr/>
          <p:nvPr/>
        </p:nvSpPr>
        <p:spPr>
          <a:xfrm>
            <a:off x="822960" y="4023360"/>
            <a:ext cx="10058400" cy="365760"/>
          </a:xfrm>
          <a:prstGeom prst="rect">
            <a:avLst/>
          </a:prstGeom>
          <a:noFill/>
          <a:ln/>
        </p:spPr>
        <p:txBody>
          <a:bodyPr wrap="square" lIns="0" tIns="0" rIns="0" bIns="0" rtlCol="0" anchor="ctr"/>
          <a:lstStyle/>
          <a:p>
            <a:pPr indent="0" marL="0">
              <a:buNone/>
            </a:pPr>
            <a:r>
              <a:rPr lang="en-US" sz="1600" i="1" dirty="0">
                <a:solidFill>
                  <a:srgbClr val="E9E1EE"/>
                </a:solidFill>
                <a:latin typeface="Calibri" pitchFamily="34" charset="0"/>
                <a:ea typeface="Calibri" pitchFamily="34" charset="-122"/>
                <a:cs typeface="Calibri" pitchFamily="34" charset="-120"/>
              </a:rPr>
              <a:t>About 13 minutes on camera</a:t>
            </a:r>
            <a:endParaRPr lang="en-US" sz="1600" dirty="0"/>
          </a:p>
        </p:txBody>
      </p:sp>
      <p:sp>
        <p:nvSpPr>
          <p:cNvPr id="5" name="Text 3"/>
          <p:cNvSpPr/>
          <p:nvPr/>
        </p:nvSpPr>
        <p:spPr>
          <a:xfrm>
            <a:off x="640080" y="6382512"/>
            <a:ext cx="10972800" cy="274320"/>
          </a:xfrm>
          <a:prstGeom prst="rect">
            <a:avLst/>
          </a:prstGeom>
          <a:noFill/>
          <a:ln/>
        </p:spPr>
        <p:txBody>
          <a:bodyPr wrap="square" lIns="0" tIns="0" rIns="0" bIns="0" rtlCol="0" anchor="ctr"/>
          <a:lstStyle/>
          <a:p>
            <a:pPr indent="0" marL="0">
              <a:buNone/>
            </a:pPr>
            <a:r>
              <a:rPr lang="en-US" sz="1000" dirty="0">
                <a:solidFill>
                  <a:srgbClr val="6D635F"/>
                </a:solidFill>
                <a:latin typeface="Calibri" pitchFamily="34" charset="0"/>
                <a:ea typeface="Calibri" pitchFamily="34" charset="-122"/>
                <a:cs typeface="Calibri" pitchFamily="34" charset="-120"/>
              </a:rPr>
              <a:t>Advanced Data Science  ·  Module 2  ·  CC BY-NC-SA 4.0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292608"/>
          </a:xfrm>
          <a:prstGeom prst="rect">
            <a:avLst/>
          </a:prstGeom>
          <a:noFill/>
          <a:ln/>
        </p:spPr>
        <p:txBody>
          <a:bodyPr wrap="square" lIns="0" tIns="0" rIns="0" bIns="0" rtlCol="0" anchor="ctr"/>
          <a:lstStyle/>
          <a:p>
            <a:pPr indent="0" marL="0">
              <a:buNone/>
            </a:pPr>
            <a:r>
              <a:rPr lang="en-US" sz="1200" b="1" spc="150" kern="0" dirty="0">
                <a:solidFill>
                  <a:srgbClr val="7A5080"/>
                </a:solidFill>
                <a:latin typeface="Calibri" pitchFamily="34" charset="0"/>
                <a:ea typeface="Calibri" pitchFamily="34" charset="-122"/>
                <a:cs typeface="Calibri" pitchFamily="34" charset="-120"/>
              </a:rPr>
              <a:t>MODULE 2 · PART 2</a:t>
            </a:r>
            <a:endParaRPr lang="en-US" sz="12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indent="0" marL="0">
              <a:lnSpc>
                <a:spcPct val="100000"/>
              </a:lnSpc>
              <a:buNone/>
            </a:pPr>
            <a:r>
              <a:rPr lang="en-US" sz="2800" b="1" dirty="0">
                <a:solidFill>
                  <a:srgbClr val="26221F"/>
                </a:solidFill>
                <a:latin typeface="Cambria" pitchFamily="34" charset="0"/>
                <a:ea typeface="Cambria" pitchFamily="34" charset="-122"/>
                <a:cs typeface="Cambria" pitchFamily="34" charset="-120"/>
              </a:rPr>
              <a:t>Diagnose the mechanism first</a:t>
            </a:r>
            <a:endParaRPr lang="en-US" sz="2800" dirty="0"/>
          </a:p>
        </p:txBody>
      </p:sp>
      <p:sp>
        <p:nvSpPr>
          <p:cNvPr id="4" name="Shape 2"/>
          <p:cNvSpPr/>
          <p:nvPr/>
        </p:nvSpPr>
        <p:spPr>
          <a:xfrm>
            <a:off x="685800" y="1965960"/>
            <a:ext cx="10698480" cy="786384"/>
          </a:xfrm>
          <a:prstGeom prst="roundRect">
            <a:avLst>
              <a:gd name="adj" fmla="val 6977"/>
            </a:avLst>
          </a:prstGeom>
          <a:solidFill>
            <a:srgbClr val="FBFAFC"/>
          </a:solidFill>
          <a:ln w="19050">
            <a:solidFill>
              <a:srgbClr val="456546"/>
            </a:solidFill>
            <a:prstDash val="solid"/>
          </a:ln>
        </p:spPr>
      </p:sp>
      <p:sp>
        <p:nvSpPr>
          <p:cNvPr id="5" name="Text 3"/>
          <p:cNvSpPr/>
          <p:nvPr/>
        </p:nvSpPr>
        <p:spPr>
          <a:xfrm>
            <a:off x="960120" y="1965960"/>
            <a:ext cx="10149840" cy="786384"/>
          </a:xfrm>
          <a:prstGeom prst="rect">
            <a:avLst/>
          </a:prstGeom>
          <a:noFill/>
          <a:ln/>
        </p:spPr>
        <p:txBody>
          <a:bodyPr wrap="square" lIns="0" tIns="0" rIns="0" bIns="0" rtlCol="0" anchor="ctr"/>
          <a:lstStyle/>
          <a:p>
            <a:pPr indent="0" marL="0">
              <a:lnSpc>
                <a:spcPct val="105000"/>
              </a:lnSpc>
              <a:buNone/>
            </a:pPr>
            <a:r>
              <a:rPr lang="en-US" sz="1550" b="1" dirty="0">
                <a:solidFill>
                  <a:srgbClr val="456546"/>
                </a:solidFill>
                <a:latin typeface="Calibri" pitchFamily="34" charset="0"/>
                <a:ea typeface="Calibri" pitchFamily="34" charset="-122"/>
                <a:cs typeface="Calibri" pitchFamily="34" charset="-120"/>
              </a:rPr>
              <a:t>MCAR.  </a:t>
            </a:r>
            <a:pPr indent="0" marL="0">
              <a:lnSpc>
                <a:spcPct val="105000"/>
              </a:lnSpc>
              <a:buNone/>
            </a:pPr>
            <a:r>
              <a:rPr lang="en-US" sz="1550" dirty="0">
                <a:solidFill>
                  <a:srgbClr val="26221F"/>
                </a:solidFill>
                <a:latin typeface="Calibri" pitchFamily="34" charset="0"/>
                <a:ea typeface="Calibri" pitchFamily="34" charset="-122"/>
                <a:cs typeface="Calibri" pitchFamily="34" charset="-120"/>
              </a:rPr>
              <a:t>missing completely at random, the hole is unrelated to any value, so deletion is unbiased but wasteful</a:t>
            </a:r>
            <a:endParaRPr lang="en-US" sz="1550" dirty="0"/>
          </a:p>
        </p:txBody>
      </p:sp>
      <p:sp>
        <p:nvSpPr>
          <p:cNvPr id="6" name="Shape 4"/>
          <p:cNvSpPr/>
          <p:nvPr/>
        </p:nvSpPr>
        <p:spPr>
          <a:xfrm>
            <a:off x="685800" y="2898648"/>
            <a:ext cx="10698480" cy="786384"/>
          </a:xfrm>
          <a:prstGeom prst="roundRect">
            <a:avLst>
              <a:gd name="adj" fmla="val 6977"/>
            </a:avLst>
          </a:prstGeom>
          <a:solidFill>
            <a:srgbClr val="FBFAFC"/>
          </a:solidFill>
          <a:ln w="19050">
            <a:solidFill>
              <a:srgbClr val="2A6F97"/>
            </a:solidFill>
            <a:prstDash val="solid"/>
          </a:ln>
        </p:spPr>
      </p:sp>
      <p:sp>
        <p:nvSpPr>
          <p:cNvPr id="7" name="Text 5"/>
          <p:cNvSpPr/>
          <p:nvPr/>
        </p:nvSpPr>
        <p:spPr>
          <a:xfrm>
            <a:off x="960120" y="2898648"/>
            <a:ext cx="10149840" cy="786384"/>
          </a:xfrm>
          <a:prstGeom prst="rect">
            <a:avLst/>
          </a:prstGeom>
          <a:noFill/>
          <a:ln/>
        </p:spPr>
        <p:txBody>
          <a:bodyPr wrap="square" lIns="0" tIns="0" rIns="0" bIns="0" rtlCol="0" anchor="ctr"/>
          <a:lstStyle/>
          <a:p>
            <a:pPr indent="0" marL="0">
              <a:lnSpc>
                <a:spcPct val="105000"/>
              </a:lnSpc>
              <a:buNone/>
            </a:pPr>
            <a:r>
              <a:rPr lang="en-US" sz="1550" b="1" dirty="0">
                <a:solidFill>
                  <a:srgbClr val="2A6F97"/>
                </a:solidFill>
                <a:latin typeface="Calibri" pitchFamily="34" charset="0"/>
                <a:ea typeface="Calibri" pitchFamily="34" charset="-122"/>
                <a:cs typeface="Calibri" pitchFamily="34" charset="-120"/>
              </a:rPr>
              <a:t>MAR.  </a:t>
            </a:r>
            <a:pPr indent="0" marL="0">
              <a:lnSpc>
                <a:spcPct val="105000"/>
              </a:lnSpc>
              <a:buNone/>
            </a:pPr>
            <a:r>
              <a:rPr lang="en-US" sz="1550" dirty="0">
                <a:solidFill>
                  <a:srgbClr val="26221F"/>
                </a:solidFill>
                <a:latin typeface="Calibri" pitchFamily="34" charset="0"/>
                <a:ea typeface="Calibri" pitchFamily="34" charset="-122"/>
                <a:cs typeface="Calibri" pitchFamily="34" charset="-120"/>
              </a:rPr>
              <a:t>missing at random given observed variables, so a model using those variables can impute honestly</a:t>
            </a:r>
            <a:endParaRPr lang="en-US" sz="1550" dirty="0"/>
          </a:p>
        </p:txBody>
      </p:sp>
      <p:sp>
        <p:nvSpPr>
          <p:cNvPr id="8" name="Shape 6"/>
          <p:cNvSpPr/>
          <p:nvPr/>
        </p:nvSpPr>
        <p:spPr>
          <a:xfrm>
            <a:off x="685800" y="3831336"/>
            <a:ext cx="10698480" cy="786384"/>
          </a:xfrm>
          <a:prstGeom prst="roundRect">
            <a:avLst>
              <a:gd name="adj" fmla="val 6977"/>
            </a:avLst>
          </a:prstGeom>
          <a:solidFill>
            <a:srgbClr val="FBFAFC"/>
          </a:solidFill>
          <a:ln w="19050">
            <a:solidFill>
              <a:srgbClr val="94395A"/>
            </a:solidFill>
            <a:prstDash val="solid"/>
          </a:ln>
        </p:spPr>
      </p:sp>
      <p:sp>
        <p:nvSpPr>
          <p:cNvPr id="9" name="Text 7"/>
          <p:cNvSpPr/>
          <p:nvPr/>
        </p:nvSpPr>
        <p:spPr>
          <a:xfrm>
            <a:off x="960120" y="3831336"/>
            <a:ext cx="10149840" cy="786384"/>
          </a:xfrm>
          <a:prstGeom prst="rect">
            <a:avLst/>
          </a:prstGeom>
          <a:noFill/>
          <a:ln/>
        </p:spPr>
        <p:txBody>
          <a:bodyPr wrap="square" lIns="0" tIns="0" rIns="0" bIns="0" rtlCol="0" anchor="ctr"/>
          <a:lstStyle/>
          <a:p>
            <a:pPr indent="0" marL="0">
              <a:lnSpc>
                <a:spcPct val="105000"/>
              </a:lnSpc>
              <a:buNone/>
            </a:pPr>
            <a:r>
              <a:rPr lang="en-US" sz="1550" b="1" dirty="0">
                <a:solidFill>
                  <a:srgbClr val="94395A"/>
                </a:solidFill>
                <a:latin typeface="Calibri" pitchFamily="34" charset="0"/>
                <a:ea typeface="Calibri" pitchFamily="34" charset="-122"/>
                <a:cs typeface="Calibri" pitchFamily="34" charset="-120"/>
              </a:rPr>
              <a:t>MNAR.  </a:t>
            </a:r>
            <a:pPr indent="0" marL="0">
              <a:lnSpc>
                <a:spcPct val="105000"/>
              </a:lnSpc>
              <a:buNone/>
            </a:pPr>
            <a:r>
              <a:rPr lang="en-US" sz="1550" dirty="0">
                <a:solidFill>
                  <a:srgbClr val="26221F"/>
                </a:solidFill>
                <a:latin typeface="Calibri" pitchFamily="34" charset="0"/>
                <a:ea typeface="Calibri" pitchFamily="34" charset="-122"/>
                <a:cs typeface="Calibri" pitchFamily="34" charset="-120"/>
              </a:rPr>
              <a:t>missing depends on the withheld value itself, so naive deletion or mean-fill biases your estimates</a:t>
            </a:r>
            <a:endParaRPr lang="en-US" sz="1550" dirty="0"/>
          </a:p>
        </p:txBody>
      </p:sp>
      <p:sp>
        <p:nvSpPr>
          <p:cNvPr id="10" name="Shape 8"/>
          <p:cNvSpPr/>
          <p:nvPr/>
        </p:nvSpPr>
        <p:spPr>
          <a:xfrm>
            <a:off x="685800" y="4764024"/>
            <a:ext cx="10698480" cy="786384"/>
          </a:xfrm>
          <a:prstGeom prst="roundRect">
            <a:avLst>
              <a:gd name="adj" fmla="val 6977"/>
            </a:avLst>
          </a:prstGeom>
          <a:solidFill>
            <a:srgbClr val="FBFAFC"/>
          </a:solidFill>
          <a:ln w="19050">
            <a:solidFill>
              <a:srgbClr val="9A6B1F"/>
            </a:solidFill>
            <a:prstDash val="solid"/>
          </a:ln>
        </p:spPr>
      </p:sp>
      <p:sp>
        <p:nvSpPr>
          <p:cNvPr id="11" name="Text 9"/>
          <p:cNvSpPr/>
          <p:nvPr/>
        </p:nvSpPr>
        <p:spPr>
          <a:xfrm>
            <a:off x="960120" y="4764024"/>
            <a:ext cx="10149840" cy="786384"/>
          </a:xfrm>
          <a:prstGeom prst="rect">
            <a:avLst/>
          </a:prstGeom>
          <a:noFill/>
          <a:ln/>
        </p:spPr>
        <p:txBody>
          <a:bodyPr wrap="square" lIns="0" tIns="0" rIns="0" bIns="0" rtlCol="0" anchor="ctr"/>
          <a:lstStyle/>
          <a:p>
            <a:pPr indent="0" marL="0">
              <a:lnSpc>
                <a:spcPct val="105000"/>
              </a:lnSpc>
              <a:buNone/>
            </a:pPr>
            <a:r>
              <a:rPr lang="en-US" sz="1550" b="1" dirty="0">
                <a:solidFill>
                  <a:srgbClr val="9A6B1F"/>
                </a:solidFill>
                <a:latin typeface="Calibri" pitchFamily="34" charset="0"/>
                <a:ea typeface="Calibri" pitchFamily="34" charset="-122"/>
                <a:cs typeface="Calibri" pitchFamily="34" charset="-120"/>
              </a:rPr>
              <a:t>The rule.  </a:t>
            </a:r>
            <a:pPr indent="0" marL="0">
              <a:lnSpc>
                <a:spcPct val="105000"/>
              </a:lnSpc>
              <a:buNone/>
            </a:pPr>
            <a:r>
              <a:rPr lang="en-US" sz="1550" dirty="0">
                <a:solidFill>
                  <a:srgbClr val="26221F"/>
                </a:solidFill>
                <a:latin typeface="Calibri" pitchFamily="34" charset="0"/>
                <a:ea typeface="Calibri" pitchFamily="34" charset="-122"/>
                <a:cs typeface="Calibri" pitchFamily="34" charset="-120"/>
              </a:rPr>
              <a:t>the mechanism, not the appearance of the hole, dictates which fix is honest</a:t>
            </a:r>
            <a:endParaRPr lang="en-US" sz="1550" dirty="0"/>
          </a:p>
        </p:txBody>
      </p:sp>
      <p:sp>
        <p:nvSpPr>
          <p:cNvPr id="12" name="Text 10"/>
          <p:cNvSpPr/>
          <p:nvPr/>
        </p:nvSpPr>
        <p:spPr>
          <a:xfrm>
            <a:off x="640080" y="6382512"/>
            <a:ext cx="10972800" cy="274320"/>
          </a:xfrm>
          <a:prstGeom prst="rect">
            <a:avLst/>
          </a:prstGeom>
          <a:noFill/>
          <a:ln/>
        </p:spPr>
        <p:txBody>
          <a:bodyPr wrap="square" lIns="0" tIns="0" rIns="0" bIns="0" rtlCol="0" anchor="ctr"/>
          <a:lstStyle/>
          <a:p>
            <a:pPr indent="0" marL="0">
              <a:buNone/>
            </a:pPr>
            <a:r>
              <a:rPr lang="en-US" sz="1000" dirty="0">
                <a:solidFill>
                  <a:srgbClr val="6D635F"/>
                </a:solidFill>
                <a:latin typeface="Calibri" pitchFamily="34" charset="0"/>
                <a:ea typeface="Calibri" pitchFamily="34" charset="-122"/>
                <a:cs typeface="Calibri" pitchFamily="34" charset="-120"/>
              </a:rPr>
              <a:t>Advanced Data Science  ·  Module 2  ·  CC BY-NC-SA 4.0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292608"/>
          </a:xfrm>
          <a:prstGeom prst="rect">
            <a:avLst/>
          </a:prstGeom>
          <a:noFill/>
          <a:ln/>
        </p:spPr>
        <p:txBody>
          <a:bodyPr wrap="square" lIns="0" tIns="0" rIns="0" bIns="0" rtlCol="0" anchor="ctr"/>
          <a:lstStyle/>
          <a:p>
            <a:pPr indent="0" marL="0">
              <a:buNone/>
            </a:pPr>
            <a:r>
              <a:rPr lang="en-US" sz="1200" b="1" spc="150" kern="0" dirty="0">
                <a:solidFill>
                  <a:srgbClr val="7A5080"/>
                </a:solidFill>
                <a:latin typeface="Calibri" pitchFamily="34" charset="0"/>
                <a:ea typeface="Calibri" pitchFamily="34" charset="-122"/>
                <a:cs typeface="Calibri" pitchFamily="34" charset="-120"/>
              </a:rPr>
              <a:t>MODULE 2 · PART 2</a:t>
            </a:r>
            <a:endParaRPr lang="en-US" sz="12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indent="0" marL="0">
              <a:lnSpc>
                <a:spcPct val="100000"/>
              </a:lnSpc>
              <a:buNone/>
            </a:pPr>
            <a:r>
              <a:rPr lang="en-US" sz="2800" b="1" dirty="0">
                <a:solidFill>
                  <a:srgbClr val="26221F"/>
                </a:solidFill>
                <a:latin typeface="Cambria" pitchFamily="34" charset="0"/>
                <a:ea typeface="Cambria" pitchFamily="34" charset="-122"/>
                <a:cs typeface="Cambria" pitchFamily="34" charset="-120"/>
              </a:rPr>
              <a:t>Leakage-safe feature engineering</a:t>
            </a:r>
            <a:endParaRPr lang="en-US" sz="2800" dirty="0"/>
          </a:p>
        </p:txBody>
      </p:sp>
      <p:sp>
        <p:nvSpPr>
          <p:cNvPr id="4" name="Shape 2"/>
          <p:cNvSpPr/>
          <p:nvPr/>
        </p:nvSpPr>
        <p:spPr>
          <a:xfrm>
            <a:off x="640080" y="2651760"/>
            <a:ext cx="2377440" cy="1188720"/>
          </a:xfrm>
          <a:prstGeom prst="roundRect">
            <a:avLst>
              <a:gd name="adj" fmla="val 6923"/>
            </a:avLst>
          </a:prstGeom>
          <a:solidFill>
            <a:srgbClr val="456546"/>
          </a:solidFill>
          <a:ln/>
        </p:spPr>
      </p:sp>
      <p:sp>
        <p:nvSpPr>
          <p:cNvPr id="5" name="Text 3"/>
          <p:cNvSpPr/>
          <p:nvPr/>
        </p:nvSpPr>
        <p:spPr>
          <a:xfrm>
            <a:off x="640080" y="2651760"/>
            <a:ext cx="2377440" cy="1188720"/>
          </a:xfrm>
          <a:prstGeom prst="rect">
            <a:avLst/>
          </a:prstGeom>
          <a:noFill/>
          <a:ln/>
        </p:spPr>
        <p:txBody>
          <a:bodyPr wrap="square" lIns="76200" tIns="76200" rIns="76200" bIns="7620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Split</a:t>
            </a:r>
            <a:endParaRPr lang="en-US" sz="1400" dirty="0"/>
          </a:p>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first</a:t>
            </a:r>
            <a:endParaRPr lang="en-US" sz="1400" dirty="0"/>
          </a:p>
        </p:txBody>
      </p:sp>
      <p:sp>
        <p:nvSpPr>
          <p:cNvPr id="6" name="Shape 4"/>
          <p:cNvSpPr/>
          <p:nvPr/>
        </p:nvSpPr>
        <p:spPr>
          <a:xfrm>
            <a:off x="3044952" y="3108960"/>
            <a:ext cx="274320" cy="256032"/>
          </a:xfrm>
          <a:prstGeom prst="rightArrow">
            <a:avLst/>
          </a:prstGeom>
          <a:solidFill>
            <a:srgbClr val="6D635F"/>
          </a:solidFill>
          <a:ln/>
        </p:spPr>
      </p:sp>
      <p:sp>
        <p:nvSpPr>
          <p:cNvPr id="7" name="Shape 5"/>
          <p:cNvSpPr/>
          <p:nvPr/>
        </p:nvSpPr>
        <p:spPr>
          <a:xfrm>
            <a:off x="3383280" y="2651760"/>
            <a:ext cx="2377440" cy="1188720"/>
          </a:xfrm>
          <a:prstGeom prst="roundRect">
            <a:avLst>
              <a:gd name="adj" fmla="val 6923"/>
            </a:avLst>
          </a:prstGeom>
          <a:solidFill>
            <a:srgbClr val="2A6F97"/>
          </a:solidFill>
          <a:ln/>
        </p:spPr>
      </p:sp>
      <p:sp>
        <p:nvSpPr>
          <p:cNvPr id="8" name="Text 6"/>
          <p:cNvSpPr/>
          <p:nvPr/>
        </p:nvSpPr>
        <p:spPr>
          <a:xfrm>
            <a:off x="3383280" y="2651760"/>
            <a:ext cx="2377440" cy="1188720"/>
          </a:xfrm>
          <a:prstGeom prst="rect">
            <a:avLst/>
          </a:prstGeom>
          <a:noFill/>
          <a:ln/>
        </p:spPr>
        <p:txBody>
          <a:bodyPr wrap="square" lIns="76200" tIns="76200" rIns="76200" bIns="7620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Fit scaler / imputer /</a:t>
            </a:r>
            <a:endParaRPr lang="en-US" sz="1400" dirty="0"/>
          </a:p>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encoder on TRAIN only</a:t>
            </a:r>
            <a:endParaRPr lang="en-US" sz="1400" dirty="0"/>
          </a:p>
        </p:txBody>
      </p:sp>
      <p:sp>
        <p:nvSpPr>
          <p:cNvPr id="9" name="Shape 7"/>
          <p:cNvSpPr/>
          <p:nvPr/>
        </p:nvSpPr>
        <p:spPr>
          <a:xfrm>
            <a:off x="5788152" y="3108960"/>
            <a:ext cx="274320" cy="256032"/>
          </a:xfrm>
          <a:prstGeom prst="rightArrow">
            <a:avLst/>
          </a:prstGeom>
          <a:solidFill>
            <a:srgbClr val="6D635F"/>
          </a:solidFill>
          <a:ln/>
        </p:spPr>
      </p:sp>
      <p:sp>
        <p:nvSpPr>
          <p:cNvPr id="10" name="Shape 8"/>
          <p:cNvSpPr/>
          <p:nvPr/>
        </p:nvSpPr>
        <p:spPr>
          <a:xfrm>
            <a:off x="6126480" y="2651760"/>
            <a:ext cx="2377440" cy="1188720"/>
          </a:xfrm>
          <a:prstGeom prst="roundRect">
            <a:avLst>
              <a:gd name="adj" fmla="val 6923"/>
            </a:avLst>
          </a:prstGeom>
          <a:solidFill>
            <a:srgbClr val="9A6B1F"/>
          </a:solidFill>
          <a:ln/>
        </p:spPr>
      </p:sp>
      <p:sp>
        <p:nvSpPr>
          <p:cNvPr id="11" name="Text 9"/>
          <p:cNvSpPr/>
          <p:nvPr/>
        </p:nvSpPr>
        <p:spPr>
          <a:xfrm>
            <a:off x="6126480" y="2651760"/>
            <a:ext cx="2377440" cy="1188720"/>
          </a:xfrm>
          <a:prstGeom prst="rect">
            <a:avLst/>
          </a:prstGeom>
          <a:noFill/>
          <a:ln/>
        </p:spPr>
        <p:txBody>
          <a:bodyPr wrap="square" lIns="76200" tIns="76200" rIns="76200" bIns="7620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Apply to</a:t>
            </a:r>
            <a:endParaRPr lang="en-US" sz="1400" dirty="0"/>
          </a:p>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held-out data</a:t>
            </a:r>
            <a:endParaRPr lang="en-US" sz="1400" dirty="0"/>
          </a:p>
        </p:txBody>
      </p:sp>
      <p:sp>
        <p:nvSpPr>
          <p:cNvPr id="12" name="Shape 10"/>
          <p:cNvSpPr/>
          <p:nvPr/>
        </p:nvSpPr>
        <p:spPr>
          <a:xfrm>
            <a:off x="8531352" y="3108960"/>
            <a:ext cx="274320" cy="256032"/>
          </a:xfrm>
          <a:prstGeom prst="rightArrow">
            <a:avLst/>
          </a:prstGeom>
          <a:solidFill>
            <a:srgbClr val="6D635F"/>
          </a:solidFill>
          <a:ln/>
        </p:spPr>
      </p:sp>
      <p:sp>
        <p:nvSpPr>
          <p:cNvPr id="13" name="Shape 11"/>
          <p:cNvSpPr/>
          <p:nvPr/>
        </p:nvSpPr>
        <p:spPr>
          <a:xfrm>
            <a:off x="8869680" y="2651760"/>
            <a:ext cx="2377440" cy="1188720"/>
          </a:xfrm>
          <a:prstGeom prst="roundRect">
            <a:avLst>
              <a:gd name="adj" fmla="val 6923"/>
            </a:avLst>
          </a:prstGeom>
          <a:solidFill>
            <a:srgbClr val="7A5080"/>
          </a:solidFill>
          <a:ln/>
        </p:spPr>
      </p:sp>
      <p:sp>
        <p:nvSpPr>
          <p:cNvPr id="14" name="Text 12"/>
          <p:cNvSpPr/>
          <p:nvPr/>
        </p:nvSpPr>
        <p:spPr>
          <a:xfrm>
            <a:off x="8869680" y="2651760"/>
            <a:ext cx="2377440" cy="1188720"/>
          </a:xfrm>
          <a:prstGeom prst="rect">
            <a:avLst/>
          </a:prstGeom>
          <a:noFill/>
          <a:ln/>
        </p:spPr>
        <p:txBody>
          <a:bodyPr wrap="square" lIns="76200" tIns="76200" rIns="76200" bIns="7620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One reproducible</a:t>
            </a:r>
            <a:endParaRPr lang="en-US" sz="1400" dirty="0"/>
          </a:p>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pipeline object</a:t>
            </a:r>
            <a:endParaRPr lang="en-US" sz="1400" dirty="0"/>
          </a:p>
        </p:txBody>
      </p:sp>
      <p:sp>
        <p:nvSpPr>
          <p:cNvPr id="15" name="Text 13"/>
          <p:cNvSpPr/>
          <p:nvPr/>
        </p:nvSpPr>
        <p:spPr>
          <a:xfrm>
            <a:off x="685800" y="4206240"/>
            <a:ext cx="10607040" cy="822960"/>
          </a:xfrm>
          <a:prstGeom prst="rect">
            <a:avLst/>
          </a:prstGeom>
          <a:noFill/>
          <a:ln/>
        </p:spPr>
        <p:txBody>
          <a:bodyPr wrap="square" lIns="0" tIns="0" rIns="0" bIns="0" rtlCol="0" anchor="ctr"/>
          <a:lstStyle/>
          <a:p>
            <a:pPr indent="0" marL="0">
              <a:lnSpc>
                <a:spcPct val="110000"/>
              </a:lnSpc>
              <a:buNone/>
            </a:pPr>
            <a:r>
              <a:rPr lang="en-US" sz="1500" i="1" dirty="0">
                <a:solidFill>
                  <a:srgbClr val="6D635F"/>
                </a:solidFill>
                <a:latin typeface="Calibri" pitchFamily="34" charset="0"/>
                <a:ea typeface="Calibri" pitchFamily="34" charset="-122"/>
                <a:cs typeface="Calibri" pitchFamily="34" charset="-120"/>
              </a:rPr>
              <a:t>The classic mistake is imputing or standardizing before the split, which leaks held-out information into training and inflates every score.</a:t>
            </a:r>
            <a:endParaRPr lang="en-US" sz="1500" dirty="0"/>
          </a:p>
        </p:txBody>
      </p:sp>
      <p:sp>
        <p:nvSpPr>
          <p:cNvPr id="16" name="Text 14"/>
          <p:cNvSpPr/>
          <p:nvPr/>
        </p:nvSpPr>
        <p:spPr>
          <a:xfrm>
            <a:off x="640080" y="6382512"/>
            <a:ext cx="10972800" cy="274320"/>
          </a:xfrm>
          <a:prstGeom prst="rect">
            <a:avLst/>
          </a:prstGeom>
          <a:noFill/>
          <a:ln/>
        </p:spPr>
        <p:txBody>
          <a:bodyPr wrap="square" lIns="0" tIns="0" rIns="0" bIns="0" rtlCol="0" anchor="ctr"/>
          <a:lstStyle/>
          <a:p>
            <a:pPr indent="0" marL="0">
              <a:buNone/>
            </a:pPr>
            <a:r>
              <a:rPr lang="en-US" sz="1000" dirty="0">
                <a:solidFill>
                  <a:srgbClr val="6D635F"/>
                </a:solidFill>
                <a:latin typeface="Calibri" pitchFamily="34" charset="0"/>
                <a:ea typeface="Calibri" pitchFamily="34" charset="-122"/>
                <a:cs typeface="Calibri" pitchFamily="34" charset="-120"/>
              </a:rPr>
              <a:t>Advanced Data Science  ·  Module 2  ·  CC BY-NC-SA 4.0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A6F97"/>
        </a:solidFill>
      </p:bgPr>
    </p:bg>
    <p:spTree>
      <p:nvGrpSpPr>
        <p:cNvPr id="1" name=""/>
        <p:cNvGrpSpPr/>
        <p:nvPr/>
      </p:nvGrpSpPr>
      <p:grpSpPr>
        <a:xfrm>
          <a:off x="0" y="0"/>
          <a:ext cx="0" cy="0"/>
          <a:chOff x="0" y="0"/>
          <a:chExt cx="0" cy="0"/>
        </a:xfrm>
      </p:grpSpPr>
      <p:sp>
        <p:nvSpPr>
          <p:cNvPr id="2" name="Text 0"/>
          <p:cNvSpPr/>
          <p:nvPr/>
        </p:nvSpPr>
        <p:spPr>
          <a:xfrm>
            <a:off x="822960" y="1280160"/>
            <a:ext cx="10058400" cy="365760"/>
          </a:xfrm>
          <a:prstGeom prst="rect">
            <a:avLst/>
          </a:prstGeom>
          <a:noFill/>
          <a:ln/>
        </p:spPr>
        <p:txBody>
          <a:bodyPr wrap="square" lIns="0" tIns="0" rIns="0" bIns="0" rtlCol="0" anchor="ctr"/>
          <a:lstStyle/>
          <a:p>
            <a:pPr indent="0" marL="0">
              <a:buNone/>
            </a:pPr>
            <a:r>
              <a:rPr lang="en-US" sz="1500" b="1" spc="250" kern="0" dirty="0">
                <a:solidFill>
                  <a:srgbClr val="BFE0F0"/>
                </a:solidFill>
                <a:latin typeface="Calibri" pitchFamily="34" charset="0"/>
                <a:ea typeface="Calibri" pitchFamily="34" charset="-122"/>
                <a:cs typeface="Calibri" pitchFamily="34" charset="-120"/>
              </a:rPr>
              <a:t>NOW TRY IT</a:t>
            </a:r>
            <a:endParaRPr lang="en-US" sz="1500" dirty="0"/>
          </a:p>
        </p:txBody>
      </p:sp>
      <p:sp>
        <p:nvSpPr>
          <p:cNvPr id="3" name="Text 1"/>
          <p:cNvSpPr/>
          <p:nvPr/>
        </p:nvSpPr>
        <p:spPr>
          <a:xfrm>
            <a:off x="822960" y="1783080"/>
            <a:ext cx="10424160" cy="1005840"/>
          </a:xfrm>
          <a:prstGeom prst="rect">
            <a:avLst/>
          </a:prstGeom>
          <a:noFill/>
          <a:ln/>
        </p:spPr>
        <p:txBody>
          <a:bodyPr wrap="square" lIns="0" tIns="0" rIns="0" bIns="0" rtlCol="0" anchor="ctr"/>
          <a:lstStyle/>
          <a:p>
            <a:pPr indent="0" marL="0">
              <a:lnSpc>
                <a:spcPct val="100000"/>
              </a:lnSpc>
              <a:buNone/>
            </a:pPr>
            <a:r>
              <a:rPr lang="en-US" sz="3100" b="1" dirty="0">
                <a:solidFill>
                  <a:srgbClr val="FFFFFF"/>
                </a:solidFill>
                <a:latin typeface="Cambria" pitchFamily="34" charset="0"/>
                <a:ea typeface="Cambria" pitchFamily="34" charset="-122"/>
                <a:cs typeface="Cambria" pitchFamily="34" charset="-120"/>
              </a:rPr>
              <a:t>missingno: see the shape of what is absent</a:t>
            </a:r>
            <a:endParaRPr lang="en-US" sz="3100" dirty="0"/>
          </a:p>
        </p:txBody>
      </p:sp>
      <p:sp>
        <p:nvSpPr>
          <p:cNvPr id="4" name="Text 2"/>
          <p:cNvSpPr/>
          <p:nvPr/>
        </p:nvSpPr>
        <p:spPr>
          <a:xfrm>
            <a:off x="868680" y="3063240"/>
            <a:ext cx="10241280" cy="2194560"/>
          </a:xfrm>
          <a:prstGeom prst="rect">
            <a:avLst/>
          </a:prstGeom>
          <a:noFill/>
          <a:ln/>
        </p:spPr>
        <p:txBody>
          <a:bodyPr wrap="square" lIns="0" tIns="0" rIns="0" bIns="0" rtlCol="0" anchor="ctr"/>
          <a:lstStyle/>
          <a:p>
            <a:pPr marL="203200" indent="-203200">
              <a:lnSpc>
                <a:spcPct val="110000"/>
              </a:lnSpc>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Load a small messy dataset and generate the matrix, bar, and heatmap or dendrogram views.</a:t>
            </a:r>
            <a:endParaRPr lang="en-US" sz="1600" dirty="0"/>
          </a:p>
          <a:p>
            <a:pPr marL="203200" indent="-203200">
              <a:lnSpc>
                <a:spcPct val="110000"/>
              </a:lnSpc>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Read the correlation of the nulls: columns whose missingness co-occurs point away from MCAR, toward MAR or MNAR.</a:t>
            </a:r>
            <a:endParaRPr lang="en-US" sz="1600" dirty="0"/>
          </a:p>
        </p:txBody>
      </p:sp>
      <p:sp>
        <p:nvSpPr>
          <p:cNvPr id="5" name="Text 3"/>
          <p:cNvSpPr/>
          <p:nvPr/>
        </p:nvSpPr>
        <p:spPr>
          <a:xfrm>
            <a:off x="822960" y="5532120"/>
            <a:ext cx="10424160" cy="457200"/>
          </a:xfrm>
          <a:prstGeom prst="rect">
            <a:avLst/>
          </a:prstGeom>
          <a:noFill/>
          <a:ln/>
        </p:spPr>
        <p:txBody>
          <a:bodyPr wrap="square" lIns="0" tIns="0" rIns="0" bIns="0" rtlCol="0" anchor="ctr"/>
          <a:lstStyle/>
          <a:p>
            <a:pPr indent="0" marL="0">
              <a:buNone/>
            </a:pPr>
            <a:r>
              <a:rPr lang="en-US" sz="1300" i="1" dirty="0">
                <a:solidFill>
                  <a:srgbClr val="CFE6F2"/>
                </a:solidFill>
                <a:latin typeface="Calibri" pitchFamily="34" charset="0"/>
                <a:ea typeface="Calibri" pitchFamily="34" charset="-122"/>
                <a:cs typeface="Calibri" pitchFamily="34" charset="-120"/>
              </a:rPr>
              <a:t>About 15 minutes, then produce the formative cleaning log.</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292608"/>
          </a:xfrm>
          <a:prstGeom prst="rect">
            <a:avLst/>
          </a:prstGeom>
          <a:noFill/>
          <a:ln/>
        </p:spPr>
        <p:txBody>
          <a:bodyPr wrap="square" lIns="0" tIns="0" rIns="0" bIns="0" rtlCol="0" anchor="ctr"/>
          <a:lstStyle/>
          <a:p>
            <a:pPr indent="0" marL="0">
              <a:buNone/>
            </a:pPr>
            <a:r>
              <a:rPr lang="en-US" sz="1200" b="1" spc="150" kern="0" dirty="0">
                <a:solidFill>
                  <a:srgbClr val="456546"/>
                </a:solidFill>
                <a:latin typeface="Calibri" pitchFamily="34" charset="0"/>
                <a:ea typeface="Calibri" pitchFamily="34" charset="-122"/>
                <a:cs typeface="Calibri" pitchFamily="34" charset="-120"/>
              </a:rPr>
              <a:t>MODULE 2 · PUT IT TOGETHER</a:t>
            </a:r>
            <a:endParaRPr lang="en-US" sz="12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indent="0" marL="0">
              <a:lnSpc>
                <a:spcPct val="100000"/>
              </a:lnSpc>
              <a:buNone/>
            </a:pPr>
            <a:r>
              <a:rPr lang="en-US" sz="2800" b="1" dirty="0">
                <a:solidFill>
                  <a:srgbClr val="26221F"/>
                </a:solidFill>
                <a:latin typeface="Cambria" pitchFamily="34" charset="0"/>
                <a:ea typeface="Cambria" pitchFamily="34" charset="-122"/>
                <a:cs typeface="Cambria" pitchFamily="34" charset="-120"/>
              </a:rPr>
              <a:t>Formative deliverable (completion points)</a:t>
            </a:r>
            <a:endParaRPr lang="en-US" sz="2800" dirty="0"/>
          </a:p>
        </p:txBody>
      </p:sp>
      <p:sp>
        <p:nvSpPr>
          <p:cNvPr id="4" name="Text 2"/>
          <p:cNvSpPr/>
          <p:nvPr/>
        </p:nvSpPr>
        <p:spPr>
          <a:xfrm>
            <a:off x="685800" y="1965960"/>
            <a:ext cx="10607040" cy="3931920"/>
          </a:xfrm>
          <a:prstGeom prst="rect">
            <a:avLst/>
          </a:prstGeom>
          <a:noFill/>
          <a:ln/>
        </p:spPr>
        <p:txBody>
          <a:bodyPr wrap="square" lIns="0" tIns="0" rIns="0" bIns="0" rtlCol="0" anchor="t"/>
          <a:lstStyle/>
          <a:p>
            <a:pPr marL="203200" indent="-203200">
              <a:lnSpc>
                <a:spcPct val="110000"/>
              </a:lnSpc>
              <a:spcAft>
                <a:spcPts val="1000"/>
              </a:spcAft>
              <a:buSzPct val="100000"/>
              <a:buChar char="•"/>
            </a:pPr>
            <a:r>
              <a:rPr lang="en-US" sz="1600" dirty="0">
                <a:solidFill>
                  <a:srgbClr val="26221F"/>
                </a:solidFill>
                <a:latin typeface="Calibri" pitchFamily="34" charset="0"/>
                <a:ea typeface="Calibri" pitchFamily="34" charset="-122"/>
                <a:cs typeface="Calibri" pitchFamily="34" charset="-120"/>
              </a:rPr>
              <a:t>Submit a cleaning log for a small messy dataset of your choosing.</a:t>
            </a:r>
            <a:endParaRPr lang="en-US" sz="1600" dirty="0"/>
          </a:p>
          <a:p>
            <a:pPr marL="203200" indent="-203200">
              <a:lnSpc>
                <a:spcPct val="110000"/>
              </a:lnSpc>
              <a:spcAft>
                <a:spcPts val="1000"/>
              </a:spcAft>
              <a:buSzPct val="100000"/>
              <a:buChar char="•"/>
            </a:pPr>
            <a:r>
              <a:rPr lang="en-US" sz="1600" dirty="0">
                <a:solidFill>
                  <a:srgbClr val="26221F"/>
                </a:solidFill>
                <a:latin typeface="Calibri" pitchFamily="34" charset="0"/>
                <a:ea typeface="Calibri" pitchFamily="34" charset="-122"/>
                <a:cs typeface="Calibri" pitchFamily="34" charset="-120"/>
              </a:rPr>
              <a:t>For each decision record three things: the action, the mechanism assumption behind it (which of MCAR / MAR / MNAR and what evidence), and how the step is reversible.</a:t>
            </a:r>
            <a:endParaRPr lang="en-US" sz="1600" dirty="0"/>
          </a:p>
          <a:p>
            <a:pPr marL="203200" indent="-203200">
              <a:lnSpc>
                <a:spcPct val="110000"/>
              </a:lnSpc>
              <a:spcAft>
                <a:spcPts val="1000"/>
              </a:spcAft>
              <a:buSzPct val="100000"/>
              <a:buChar char="•"/>
            </a:pPr>
            <a:r>
              <a:rPr lang="en-US" sz="1600" dirty="0">
                <a:solidFill>
                  <a:srgbClr val="26221F"/>
                </a:solidFill>
                <a:latin typeface="Calibri" pitchFamily="34" charset="0"/>
                <a:ea typeface="Calibri" pitchFamily="34" charset="-122"/>
                <a:cs typeface="Calibri" pitchFamily="34" charset="-120"/>
              </a:rPr>
              <a:t>State how you checked each decision, for example comparing distributions before and after, or confirming row counts reconcile after a join.</a:t>
            </a:r>
            <a:endParaRPr lang="en-US" sz="1600" dirty="0"/>
          </a:p>
        </p:txBody>
      </p:sp>
      <p:sp>
        <p:nvSpPr>
          <p:cNvPr id="5" name="Shape 3"/>
          <p:cNvSpPr/>
          <p:nvPr/>
        </p:nvSpPr>
        <p:spPr>
          <a:xfrm>
            <a:off x="685800" y="5074920"/>
            <a:ext cx="10698480" cy="868680"/>
          </a:xfrm>
          <a:prstGeom prst="roundRect">
            <a:avLst>
              <a:gd name="adj" fmla="val 6316"/>
            </a:avLst>
          </a:prstGeom>
          <a:solidFill>
            <a:srgbClr val="EAF0EA"/>
          </a:solidFill>
          <a:ln w="12700">
            <a:solidFill>
              <a:srgbClr val="6B8F6E"/>
            </a:solidFill>
            <a:prstDash val="solid"/>
          </a:ln>
        </p:spPr>
      </p:sp>
      <p:sp>
        <p:nvSpPr>
          <p:cNvPr id="6" name="Text 4"/>
          <p:cNvSpPr/>
          <p:nvPr/>
        </p:nvSpPr>
        <p:spPr>
          <a:xfrm>
            <a:off x="960120" y="5074920"/>
            <a:ext cx="10149840" cy="868680"/>
          </a:xfrm>
          <a:prstGeom prst="rect">
            <a:avLst/>
          </a:prstGeom>
          <a:noFill/>
          <a:ln/>
        </p:spPr>
        <p:txBody>
          <a:bodyPr wrap="square" lIns="0" tIns="0" rIns="0" bIns="0" rtlCol="0" anchor="ctr"/>
          <a:lstStyle/>
          <a:p>
            <a:pPr indent="0" marL="0">
              <a:lnSpc>
                <a:spcPct val="105000"/>
              </a:lnSpc>
              <a:buNone/>
            </a:pPr>
            <a:r>
              <a:rPr lang="en-US" sz="1400" b="1" dirty="0">
                <a:solidFill>
                  <a:srgbClr val="456546"/>
                </a:solidFill>
                <a:latin typeface="Calibri" pitchFamily="34" charset="0"/>
                <a:ea typeface="Calibri" pitchFamily="34" charset="-122"/>
                <a:cs typeface="Calibri" pitchFamily="34" charset="-120"/>
              </a:rPr>
              <a:t>How it counts.  </a:t>
            </a:r>
            <a:pPr indent="0" marL="0">
              <a:lnSpc>
                <a:spcPct val="105000"/>
              </a:lnSpc>
              <a:buNone/>
            </a:pPr>
            <a:r>
              <a:rPr lang="en-US" sz="1400" dirty="0">
                <a:solidFill>
                  <a:srgbClr val="26221F"/>
                </a:solidFill>
                <a:latin typeface="Calibri" pitchFamily="34" charset="0"/>
                <a:ea typeface="Calibri" pitchFamily="34" charset="-122"/>
                <a:cs typeface="Calibri" pitchFamily="34" charset="-120"/>
              </a:rPr>
              <a:t>Submit the work with a short reflection or evidence you ran it. Credited on completion, not scored for correctness. This is the practice that makes the graded simulation go well.</a:t>
            </a:r>
            <a:endParaRPr lang="en-US" sz="1400" dirty="0"/>
          </a:p>
        </p:txBody>
      </p:sp>
      <p:sp>
        <p:nvSpPr>
          <p:cNvPr id="7" name="Text 5"/>
          <p:cNvSpPr/>
          <p:nvPr/>
        </p:nvSpPr>
        <p:spPr>
          <a:xfrm>
            <a:off x="640080" y="6382512"/>
            <a:ext cx="10972800" cy="274320"/>
          </a:xfrm>
          <a:prstGeom prst="rect">
            <a:avLst/>
          </a:prstGeom>
          <a:noFill/>
          <a:ln/>
        </p:spPr>
        <p:txBody>
          <a:bodyPr wrap="square" lIns="0" tIns="0" rIns="0" bIns="0" rtlCol="0" anchor="ctr"/>
          <a:lstStyle/>
          <a:p>
            <a:pPr indent="0" marL="0">
              <a:buNone/>
            </a:pPr>
            <a:r>
              <a:rPr lang="en-US" sz="1000" dirty="0">
                <a:solidFill>
                  <a:srgbClr val="6D635F"/>
                </a:solidFill>
                <a:latin typeface="Calibri" pitchFamily="34" charset="0"/>
                <a:ea typeface="Calibri" pitchFamily="34" charset="-122"/>
                <a:cs typeface="Calibri" pitchFamily="34" charset="-120"/>
              </a:rPr>
              <a:t>Advanced Data Science  ·  Module 2  ·  CC BY-NC-SA 4.0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9A6B1F"/>
        </a:solidFill>
      </p:bgPr>
    </p:bg>
    <p:spTree>
      <p:nvGrpSpPr>
        <p:cNvPr id="1" name=""/>
        <p:cNvGrpSpPr/>
        <p:nvPr/>
      </p:nvGrpSpPr>
      <p:grpSpPr>
        <a:xfrm>
          <a:off x="0" y="0"/>
          <a:ext cx="0" cy="0"/>
          <a:chOff x="0" y="0"/>
          <a:chExt cx="0" cy="0"/>
        </a:xfrm>
      </p:grpSpPr>
      <p:sp>
        <p:nvSpPr>
          <p:cNvPr id="2" name="Text 0"/>
          <p:cNvSpPr/>
          <p:nvPr/>
        </p:nvSpPr>
        <p:spPr>
          <a:xfrm>
            <a:off x="822960" y="1188720"/>
            <a:ext cx="10058400" cy="365760"/>
          </a:xfrm>
          <a:prstGeom prst="rect">
            <a:avLst/>
          </a:prstGeom>
          <a:noFill/>
          <a:ln/>
        </p:spPr>
        <p:txBody>
          <a:bodyPr wrap="square" lIns="0" tIns="0" rIns="0" bIns="0" rtlCol="0" anchor="ctr"/>
          <a:lstStyle/>
          <a:p>
            <a:pPr indent="0" marL="0">
              <a:buNone/>
            </a:pPr>
            <a:r>
              <a:rPr lang="en-US" sz="1500" b="1" spc="200" kern="0" dirty="0">
                <a:solidFill>
                  <a:srgbClr val="F2E4C8"/>
                </a:solidFill>
                <a:latin typeface="Calibri" pitchFamily="34" charset="0"/>
                <a:ea typeface="Calibri" pitchFamily="34" charset="-122"/>
                <a:cs typeface="Calibri" pitchFamily="34" charset="-120"/>
              </a:rPr>
              <a:t>GRADED ASSESSMENT</a:t>
            </a:r>
            <a:endParaRPr lang="en-US" sz="1500" dirty="0"/>
          </a:p>
        </p:txBody>
      </p:sp>
      <p:sp>
        <p:nvSpPr>
          <p:cNvPr id="3" name="Text 1"/>
          <p:cNvSpPr/>
          <p:nvPr/>
        </p:nvSpPr>
        <p:spPr>
          <a:xfrm>
            <a:off x="822960" y="1691640"/>
            <a:ext cx="10424160" cy="1005840"/>
          </a:xfrm>
          <a:prstGeom prst="rect">
            <a:avLst/>
          </a:prstGeom>
          <a:noFill/>
          <a:ln/>
        </p:spPr>
        <p:txBody>
          <a:bodyPr wrap="square" lIns="0" tIns="0" rIns="0" bIns="0" rtlCol="0" anchor="ctr"/>
          <a:lstStyle/>
          <a:p>
            <a:pPr indent="0" marL="0">
              <a:lnSpc>
                <a:spcPct val="100000"/>
              </a:lnSpc>
              <a:buNone/>
            </a:pPr>
            <a:r>
              <a:rPr lang="en-US" sz="3100" b="1" dirty="0">
                <a:solidFill>
                  <a:srgbClr val="FFFFFF"/>
                </a:solidFill>
                <a:latin typeface="Cambria" pitchFamily="34" charset="0"/>
                <a:ea typeface="Cambria" pitchFamily="34" charset="-122"/>
                <a:cs typeface="Cambria" pitchFamily="34" charset="-120"/>
              </a:rPr>
              <a:t>Recover the Signal</a:t>
            </a:r>
            <a:endParaRPr lang="en-US" sz="3100" dirty="0"/>
          </a:p>
        </p:txBody>
      </p:sp>
      <p:sp>
        <p:nvSpPr>
          <p:cNvPr id="4" name="Text 2"/>
          <p:cNvSpPr/>
          <p:nvPr/>
        </p:nvSpPr>
        <p:spPr>
          <a:xfrm>
            <a:off x="868680" y="2880360"/>
            <a:ext cx="10241280" cy="2103120"/>
          </a:xfrm>
          <a:prstGeom prst="rect">
            <a:avLst/>
          </a:prstGeom>
          <a:noFill/>
          <a:ln/>
        </p:spPr>
        <p:txBody>
          <a:bodyPr wrap="square" lIns="0" tIns="0" rIns="0" bIns="0" rtlCol="0" anchor="ctr"/>
          <a:lstStyle/>
          <a:p>
            <a:pPr marL="203200" indent="-203200">
              <a:lnSpc>
                <a:spcPct val="112000"/>
              </a:lnSpc>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You receive a per-student-seeded messy dataset with MNAR missingness, unlabeled unit inconsistencies, duplicates, and outliers of a known distribution.</a:t>
            </a:r>
            <a:endParaRPr lang="en-US" sz="1600" dirty="0"/>
          </a:p>
          <a:p>
            <a:pPr marL="203200" indent="-203200">
              <a:lnSpc>
                <a:spcPct val="112000"/>
              </a:lnSpc>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Recover the underlying signal; your recovered statistics are scored against a hidden truth only the instructor holds.</a:t>
            </a:r>
            <a:endParaRPr lang="en-US" sz="1600" dirty="0"/>
          </a:p>
          <a:p>
            <a:pPr marL="203200" indent="-203200">
              <a:lnSpc>
                <a:spcPct val="112000"/>
              </a:lnSpc>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The truth is private and unique to your seed, so a borrowed solution cannot match it. The grade rewards a principled, defended process.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2026-08-06T18:16:52Z</dcterms:created>
  <dcterms:modified xsi:type="dcterms:W3CDTF">2026-08-06T18:16:52Z</dcterms:modified>
</cp:coreProperties>
</file>