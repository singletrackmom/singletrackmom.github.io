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5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 and the reproducible workflow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recorded segments with a hands-on exercise between each, so nothing runs long and you stay active.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Michelle Blomberg  ·  CC BY-NC-SA 4.0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HOW IT FLOWS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a little, then do a little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1298448" cy="914400"/>
          </a:xfrm>
          <a:prstGeom prst="roundRect">
            <a:avLst>
              <a:gd name="adj" fmla="val 9000"/>
            </a:avLst>
          </a:prstGeom>
          <a:solidFill>
            <a:srgbClr val="7A508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73936" y="3090672"/>
            <a:ext cx="256032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7" name="Shape 5"/>
          <p:cNvSpPr/>
          <p:nvPr/>
        </p:nvSpPr>
        <p:spPr>
          <a:xfrm>
            <a:off x="2066544" y="2743200"/>
            <a:ext cx="1298448" cy="914400"/>
          </a:xfrm>
          <a:prstGeom prst="roundRect">
            <a:avLst>
              <a:gd name="adj" fmla="val 9000"/>
            </a:avLst>
          </a:prstGeom>
          <a:solidFill>
            <a:srgbClr val="2A6F97"/>
          </a:solidFill>
          <a:ln/>
        </p:spPr>
      </p:sp>
      <p:sp>
        <p:nvSpPr>
          <p:cNvPr id="8" name="Text 6"/>
          <p:cNvSpPr/>
          <p:nvPr/>
        </p:nvSpPr>
        <p:spPr>
          <a:xfrm>
            <a:off x="2066544" y="274320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notebook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3090672"/>
            <a:ext cx="256032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0" name="Shape 8"/>
          <p:cNvSpPr/>
          <p:nvPr/>
        </p:nvSpPr>
        <p:spPr>
          <a:xfrm>
            <a:off x="3675888" y="2743200"/>
            <a:ext cx="1298448" cy="914400"/>
          </a:xfrm>
          <a:prstGeom prst="roundRect">
            <a:avLst>
              <a:gd name="adj" fmla="val 9000"/>
            </a:avLst>
          </a:prstGeom>
          <a:solidFill>
            <a:srgbClr val="7A5080"/>
          </a:solidFill>
          <a:ln/>
        </p:spPr>
      </p:sp>
      <p:sp>
        <p:nvSpPr>
          <p:cNvPr id="11" name="Text 9"/>
          <p:cNvSpPr/>
          <p:nvPr/>
        </p:nvSpPr>
        <p:spPr>
          <a:xfrm>
            <a:off x="3675888" y="274320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92624" y="3090672"/>
            <a:ext cx="256032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3" name="Shape 11"/>
          <p:cNvSpPr/>
          <p:nvPr/>
        </p:nvSpPr>
        <p:spPr>
          <a:xfrm>
            <a:off x="5285232" y="2743200"/>
            <a:ext cx="1298448" cy="914400"/>
          </a:xfrm>
          <a:prstGeom prst="roundRect">
            <a:avLst>
              <a:gd name="adj" fmla="val 9000"/>
            </a:avLst>
          </a:prstGeom>
          <a:solidFill>
            <a:srgbClr val="2A6F97"/>
          </a:solidFill>
          <a:ln/>
        </p:spPr>
      </p:sp>
      <p:sp>
        <p:nvSpPr>
          <p:cNvPr id="14" name="Text 12"/>
          <p:cNvSpPr/>
          <p:nvPr/>
        </p:nvSpPr>
        <p:spPr>
          <a:xfrm>
            <a:off x="5285232" y="274320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01968" y="3090672"/>
            <a:ext cx="256032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6" name="Shape 14"/>
          <p:cNvSpPr/>
          <p:nvPr/>
        </p:nvSpPr>
        <p:spPr>
          <a:xfrm>
            <a:off x="6894576" y="2743200"/>
            <a:ext cx="1298448" cy="914400"/>
          </a:xfrm>
          <a:prstGeom prst="roundRect">
            <a:avLst>
              <a:gd name="adj" fmla="val 9000"/>
            </a:avLst>
          </a:prstGeom>
          <a:solidFill>
            <a:srgbClr val="7A5080"/>
          </a:solidFill>
          <a:ln/>
        </p:spPr>
      </p:sp>
      <p:sp>
        <p:nvSpPr>
          <p:cNvPr id="17" name="Text 15"/>
          <p:cNvSpPr/>
          <p:nvPr/>
        </p:nvSpPr>
        <p:spPr>
          <a:xfrm>
            <a:off x="6894576" y="274320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11312" y="3090672"/>
            <a:ext cx="256032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0" y="2743200"/>
            <a:ext cx="1298448" cy="914400"/>
          </a:xfrm>
          <a:prstGeom prst="roundRect">
            <a:avLst>
              <a:gd name="adj" fmla="val 9000"/>
            </a:avLst>
          </a:prstGeom>
          <a:solidFill>
            <a:srgbClr val="2A6F97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274320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API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820656" y="3090672"/>
            <a:ext cx="256032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13264" y="2743200"/>
            <a:ext cx="1298448" cy="914400"/>
          </a:xfrm>
          <a:prstGeom prst="roundRect">
            <a:avLst>
              <a:gd name="adj" fmla="val 9000"/>
            </a:avLst>
          </a:prstGeom>
          <a:solidFill>
            <a:srgbClr val="9A6B1F"/>
          </a:solidFill>
          <a:ln/>
        </p:spPr>
      </p:sp>
      <p:sp>
        <p:nvSpPr>
          <p:cNvPr id="23" name="Text 21"/>
          <p:cNvSpPr/>
          <p:nvPr/>
        </p:nvSpPr>
        <p:spPr>
          <a:xfrm>
            <a:off x="10113264" y="274320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4114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recorded segment is short. You pause, practice the concept hands-on, then return for the next piece.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1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F3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data-science lifecycle, and provenance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7 minutes on camera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1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module sits in the lifecycle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737360" cy="868680"/>
          </a:xfrm>
          <a:prstGeom prst="chevron">
            <a:avLst/>
          </a:prstGeom>
          <a:solidFill>
            <a:srgbClr val="7A5080"/>
          </a:solidFill>
          <a:ln w="12700">
            <a:solidFill>
              <a:srgbClr val="7A5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084832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84832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29584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974336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74336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19088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63840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36576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builds the acquisition layer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getting data in from flat files, relational databases, REST APIs, and the live web. Everything downstream inherits its quality and its traceability.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1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 is a first-class artifact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6126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lineage: where each field came from, by what method, and when.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retrieval timestamps and the exact parameters of every pull.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field, do not summarize it as “pulled from the API.”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1965960"/>
            <a:ext cx="4206240" cy="3108960"/>
          </a:xfrm>
          <a:prstGeom prst="roundRect">
            <a:avLst>
              <a:gd name="adj" fmla="val 1765"/>
            </a:avLst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6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DATASHEET IDEA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 →  source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 →  endpoint / query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 →  parameters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 →  retrieval time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 →  transformations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1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6F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B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 IT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notebook on Binder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32004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small public repo on Binder and run it top to bottom.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 get identical output, this is the environment model your own work must match.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5778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 minutes, then come back for Part 2.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5F3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reproducibility stack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7 minutes on camera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1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reproducibility actually requires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10698480" cy="786384"/>
          </a:xfrm>
          <a:prstGeom prst="roundRect">
            <a:avLst>
              <a:gd name="adj" fmla="val 6977"/>
            </a:avLst>
          </a:prstGeom>
          <a:solidFill>
            <a:srgbClr val="FBFAFC"/>
          </a:solidFill>
          <a:ln w="19050">
            <a:solidFill>
              <a:srgbClr val="4565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11680"/>
            <a:ext cx="10149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56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code.  </a:t>
            </a:r>
            <a:pPr indent="0" marL="0">
              <a:buNone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recoverable and attributable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944368"/>
            <a:ext cx="10698480" cy="786384"/>
          </a:xfrm>
          <a:prstGeom prst="roundRect">
            <a:avLst>
              <a:gd name="adj" fmla="val 6977"/>
            </a:avLst>
          </a:prstGeom>
          <a:solidFill>
            <a:srgbClr val="FBFAFC"/>
          </a:solidFill>
          <a:ln w="19050">
            <a:solidFill>
              <a:srgbClr val="2A6F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944368"/>
            <a:ext cx="10149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dependencies.  </a:t>
            </a:r>
            <a:pPr indent="0" marL="0">
              <a:buNone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environment runs the same way later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3877056"/>
            <a:ext cx="10698480" cy="786384"/>
          </a:xfrm>
          <a:prstGeom prst="roundRect">
            <a:avLst>
              <a:gd name="adj" fmla="val 6977"/>
            </a:avLst>
          </a:prstGeom>
          <a:solidFill>
            <a:srgbClr val="FBFAFC"/>
          </a:solidFill>
          <a:ln w="19050">
            <a:solidFill>
              <a:srgbClr val="9A6B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77056"/>
            <a:ext cx="10149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randomness.  </a:t>
            </a:r>
            <a:pPr indent="0" marL="0">
              <a:buNone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 is repeatable, not lucky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4809744"/>
            <a:ext cx="10698480" cy="786384"/>
          </a:xfrm>
          <a:prstGeom prst="roundRect">
            <a:avLst>
              <a:gd name="adj" fmla="val 6977"/>
            </a:avLst>
          </a:prstGeom>
          <a:solidFill>
            <a:srgbClr val="FBFAFC"/>
          </a:solidFill>
          <a:ln w="19050">
            <a:solidFill>
              <a:srgbClr val="7A5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809744"/>
            <a:ext cx="10149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committed, data and secrets never.  </a:t>
            </a:r>
            <a:pPr indent="0" marL="0">
              <a:buNone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keys and data out of the repo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1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6F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B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 IT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Star SQL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32004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 query chapters through joins and aggregation.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exact text of two queries you write, you will reuse that pattern to pull from the database source later.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5778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15 minutes, then come back for Part 3.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F3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OF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 modes and the ethics of scraping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8 minutes on camera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1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PART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data comes in, four hidden failures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4565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56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 files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7889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failure: silently truncated or wrong encoding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96596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2A6F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0" y="27889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failure: a wrong join inflates or drops rows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84048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7A5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069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5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46634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failure: un-paged or rate-limited, so truncated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384048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9A6B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069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A6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scraping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00800" y="46634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failure: the page changes under you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1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PART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moving target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6126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paginated, rate-limited API whose schema drifts will break a naive pull.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pagination, back off on a 429, and retry idempotently so you neither lose nor duplicate records.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the response schema on every page, so a mid-collection change is caught the moment it appears.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1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6F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B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 IT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Hoppscotch: paging a real API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32004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GET to JSONPlaceholder /posts, then /posts?userId=1, and read the status and headers.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through /comments with _page and _limit, and record how many records you retrieve versus how many exist.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5778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 minutes, then finish Part 3.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PART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ethics of scraping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6126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honor robots.txt; respect rate limits and crawl-delay.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of Service carry weight: technically reachable is not the same as permitted.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 public API over scraping the rendered page when one exists.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1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6F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B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 IT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scraping sandbox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32004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quotes.toscrape.com, read robots.txt first.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quotes and authors from the first two pages only, with a polite delay and a descriptive user-agent.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5778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 minutes.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56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PUT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Formative deliverable (completion points)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6126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short reproducible notebook that pulls the same small dataset three ways: a flat file, a SQL query, and an API call.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pull, record source, retrieval time, and parameters in a provenance cell.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reproducibility and whether the three pulls reconcile. Feedback before the graded work opens.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074920"/>
            <a:ext cx="10698480" cy="868680"/>
          </a:xfrm>
          <a:prstGeom prst="roundRect">
            <a:avLst>
              <a:gd name="adj" fmla="val 6316"/>
            </a:avLst>
          </a:prstGeom>
          <a:solidFill>
            <a:srgbClr val="EAF0EA"/>
          </a:solidFill>
          <a:ln w="12700">
            <a:solidFill>
              <a:srgbClr val="6B8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07492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56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counts.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notebook with a short reflection or evidence you ran it. Credited on completion, not scored for correctness. This is the practice that makes the graded simulation go well.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1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9A6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ASSESSMENT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Provenance Incident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292608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four sources into one weekly table for a board deck, and prove where every number came from.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 change fires mid-collection with no warning, so you must detect it and keep the numbers trustworthy.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separate item in this module, seeded per student, so the answer has to be your own reasoning.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2026-08-06T18:14:54Z</dcterms:created>
  <dcterms:modified xsi:type="dcterms:W3CDTF">2026-08-06T18:14:54Z</dcterms:modified>
</cp:coreProperties>
</file>