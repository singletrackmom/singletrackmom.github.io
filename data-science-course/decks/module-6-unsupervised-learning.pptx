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6. State the objective in one sentence: Apply clustering and dimensionality reduction and defend the choices. Then tell them the week's arc: we explore the idea in an interactive model, practice on a low-stakes slice, and apply it to your own project in How Many Segments, Really?. Remind them the deliverable feeds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 from the student's perspective, then walk the three-part arc. Emphasize that the graded work, How Many Segments, Really?, is a professional simulation, not a quiz, and that the interactive comes first so intuition precedes formalism.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points in order; each is a decision students must defend, not a fact to memorize. Tie every one back to the objective and to what How Many Segments, Really? will ask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interactive live if you can, and narrate what to notice. The practice task is ungraded or low-stakes; its job is instant feedback before the graded simulation. Invite students to post one thing the interactive surprised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work. Read the brief, then point students to the rubric and the software guide before they begin. Stress that it is judged the way real practice judges it, and that the live defense cannot be outsourced.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exactly what to submit and when, restating the response and feedback window, and previewing how this piece connects to the capstone. End with the weekly reflection: what you saw in their posted work that was strong, and what to shore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879EC3"/>
                </a:solidFill>
                <a:latin typeface="Open Sans" pitchFamily="34" charset="0"/>
                <a:ea typeface="Open Sans" pitchFamily="34" charset="-122"/>
                <a:cs typeface="Open Sans" pitchFamily="34" charset="-120"/>
              </a:rPr>
              <a:t>MODULE 6</a:t>
            </a:r>
            <a:endParaRPr lang="en-US" sz="1600" dirty="0"/>
          </a:p>
        </p:txBody>
      </p:sp>
      <p:sp>
        <p:nvSpPr>
          <p:cNvPr id="3" name="Text 1"/>
          <p:cNvSpPr/>
          <p:nvPr/>
        </p:nvSpPr>
        <p:spPr>
          <a:xfrm>
            <a:off x="822960" y="2011680"/>
            <a:ext cx="10515600" cy="1828800"/>
          </a:xfrm>
          <a:prstGeom prst="rect">
            <a:avLst/>
          </a:prstGeom>
          <a:noFill/>
          <a:ln/>
        </p:spPr>
        <p:txBody>
          <a:bodyPr wrap="square" rtlCol="0" anchor="ctr"/>
          <a:lstStyle/>
          <a:p>
            <a:pPr indent="0" marL="0">
              <a:lnSpc>
                <a:spcPct val="102000"/>
              </a:lnSpc>
              <a:buNone/>
            </a:pPr>
            <a:r>
              <a:rPr lang="en-US" sz="4000" b="1" dirty="0">
                <a:solidFill>
                  <a:srgbClr val="FFFFFF"/>
                </a:solidFill>
                <a:latin typeface="Montserrat" pitchFamily="34" charset="0"/>
                <a:ea typeface="Montserrat" pitchFamily="34" charset="-122"/>
                <a:cs typeface="Montserrat" pitchFamily="34" charset="-120"/>
              </a:rPr>
              <a:t>Unsupervised learning: clustering and PCA</a:t>
            </a:r>
            <a:endParaRPr lang="en-US" sz="4000" dirty="0"/>
          </a:p>
        </p:txBody>
      </p:sp>
      <p:sp>
        <p:nvSpPr>
          <p:cNvPr id="4" name="Text 2"/>
          <p:cNvSpPr/>
          <p:nvPr/>
        </p:nvSpPr>
        <p:spPr>
          <a:xfrm>
            <a:off x="841248" y="3977640"/>
            <a:ext cx="10058400" cy="457200"/>
          </a:xfrm>
          <a:prstGeom prst="rect">
            <a:avLst/>
          </a:prstGeom>
          <a:noFill/>
          <a:ln/>
        </p:spPr>
        <p:txBody>
          <a:bodyPr wrap="square" rtlCol="0" anchor="ctr"/>
          <a:lstStyle/>
          <a:p>
            <a:pPr indent="0" marL="0">
              <a:buNone/>
            </a:pPr>
            <a:r>
              <a:rPr lang="en-US" sz="1600" dirty="0">
                <a:solidFill>
                  <a:srgbClr val="CFDCE9"/>
                </a:solidFill>
                <a:latin typeface="Open Sans" pitchFamily="34" charset="0"/>
                <a:ea typeface="Open Sans" pitchFamily="34" charset="-122"/>
                <a:cs typeface="Open Sans" pitchFamily="34" charset="-120"/>
              </a:rPr>
              <a:t>Advanced Data Science  ·  Week 11  ·  about 9 student hours</a:t>
            </a:r>
            <a:endParaRPr lang="en-US" sz="1600" dirty="0"/>
          </a:p>
        </p:txBody>
      </p:sp>
      <p:sp>
        <p:nvSpPr>
          <p:cNvPr id="5" name="Text 3"/>
          <p:cNvSpPr/>
          <p:nvPr/>
        </p:nvSpPr>
        <p:spPr>
          <a:xfrm>
            <a:off x="841248" y="6126480"/>
            <a:ext cx="10058400" cy="365760"/>
          </a:xfrm>
          <a:prstGeom prst="rect">
            <a:avLst/>
          </a:prstGeom>
          <a:noFill/>
          <a:ln/>
        </p:spPr>
        <p:txBody>
          <a:bodyPr wrap="square" rtlCol="0" anchor="ctr"/>
          <a:lstStyle/>
          <a:p>
            <a:pPr indent="0" marL="0">
              <a:buNone/>
            </a:pPr>
            <a:r>
              <a:rPr lang="en-US" sz="1200" i="1" dirty="0">
                <a:solidFill>
                  <a:srgbClr val="879EC3"/>
                </a:solidFill>
                <a:latin typeface="Open Sans" pitchFamily="34" charset="0"/>
                <a:ea typeface="Open Sans" pitchFamily="34" charset="-122"/>
                <a:cs typeface="Open Sans" pitchFamily="34" charset="-120"/>
              </a:rPr>
              <a:t>Instructor deck  ·  speaker notes carry the teaching 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This module</a:t>
            </a:r>
            <a:endParaRPr lang="en-US" sz="2600" dirty="0"/>
          </a:p>
        </p:txBody>
      </p:sp>
      <p:sp>
        <p:nvSpPr>
          <p:cNvPr id="3" name="Text 1"/>
          <p:cNvSpPr/>
          <p:nvPr/>
        </p:nvSpPr>
        <p:spPr>
          <a:xfrm>
            <a:off x="822960" y="1051560"/>
            <a:ext cx="10058400" cy="320040"/>
          </a:xfrm>
          <a:prstGeom prst="rect">
            <a:avLst/>
          </a:prstGeom>
          <a:noFill/>
          <a:ln/>
        </p:spPr>
        <p:txBody>
          <a:bodyPr wrap="square" rtlCol="0" anchor="ctr"/>
          <a:lstStyle/>
          <a:p>
            <a:pPr indent="0" marL="0">
              <a:buNone/>
            </a:pPr>
            <a:r>
              <a:rPr lang="en-US" sz="1300" b="1" dirty="0">
                <a:solidFill>
                  <a:srgbClr val="09396C"/>
                </a:solidFill>
                <a:latin typeface="Open Sans" pitchFamily="34" charset="0"/>
                <a:ea typeface="Open Sans" pitchFamily="34" charset="-122"/>
                <a:cs typeface="Open Sans" pitchFamily="34" charset="-120"/>
              </a:rPr>
              <a:t>RSI: direct instruction · discussion · feedback</a:t>
            </a:r>
            <a:endParaRPr lang="en-US" sz="1300" dirty="0"/>
          </a:p>
        </p:txBody>
      </p:sp>
      <p:sp>
        <p:nvSpPr>
          <p:cNvPr id="4" name="Text 2"/>
          <p:cNvSpPr/>
          <p:nvPr/>
        </p:nvSpPr>
        <p:spPr>
          <a:xfrm>
            <a:off x="822960" y="1554480"/>
            <a:ext cx="10515600" cy="1188720"/>
          </a:xfrm>
          <a:prstGeom prst="rect">
            <a:avLst/>
          </a:prstGeom>
          <a:noFill/>
          <a:ln/>
        </p:spPr>
        <p:txBody>
          <a:bodyPr wrap="square" rtlCol="0" anchor="ctr"/>
          <a:lstStyle/>
          <a:p>
            <a:pPr indent="0" marL="0">
              <a:lnSpc>
                <a:spcPct val="105000"/>
              </a:lnSpc>
              <a:buNone/>
            </a:pPr>
            <a:r>
              <a:rPr lang="en-US" sz="2200" i="1" dirty="0">
                <a:solidFill>
                  <a:srgbClr val="21314D"/>
                </a:solidFill>
                <a:latin typeface="Montserrat" pitchFamily="34" charset="0"/>
                <a:ea typeface="Montserrat" pitchFamily="34" charset="-122"/>
                <a:cs typeface="Montserrat" pitchFamily="34" charset="-120"/>
              </a:rPr>
              <a:t>Apply clustering and dimensionality reduction and defend the choices.</a:t>
            </a:r>
            <a:endParaRPr lang="en-US" sz="2200" dirty="0"/>
          </a:p>
        </p:txBody>
      </p:sp>
      <p:sp>
        <p:nvSpPr>
          <p:cNvPr id="5" name="Shape 3"/>
          <p:cNvSpPr/>
          <p:nvPr/>
        </p:nvSpPr>
        <p:spPr>
          <a:xfrm>
            <a:off x="822960" y="3200400"/>
            <a:ext cx="3383280" cy="2651760"/>
          </a:xfrm>
          <a:prstGeom prst="roundRect">
            <a:avLst>
              <a:gd name="adj" fmla="val 3103"/>
            </a:avLst>
          </a:prstGeom>
          <a:solidFill>
            <a:srgbClr val="CFDCE9"/>
          </a:solidFill>
          <a:ln w="12700">
            <a:solidFill>
              <a:srgbClr val="879EC3"/>
            </a:solidFill>
            <a:prstDash val="solid"/>
          </a:ln>
        </p:spPr>
      </p:sp>
      <p:sp>
        <p:nvSpPr>
          <p:cNvPr id="6" name="Shape 4"/>
          <p:cNvSpPr/>
          <p:nvPr/>
        </p:nvSpPr>
        <p:spPr>
          <a:xfrm>
            <a:off x="1097280" y="3474720"/>
            <a:ext cx="384048" cy="384048"/>
          </a:xfrm>
          <a:prstGeom prst="ellipse">
            <a:avLst/>
          </a:prstGeom>
          <a:solidFill>
            <a:srgbClr val="09396C"/>
          </a:solidFill>
          <a:ln/>
        </p:spPr>
      </p:sp>
      <p:sp>
        <p:nvSpPr>
          <p:cNvPr id="7" name="Text 5"/>
          <p:cNvSpPr/>
          <p:nvPr/>
        </p:nvSpPr>
        <p:spPr>
          <a:xfrm>
            <a:off x="109728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p:nvPr/>
        </p:nvSpPr>
        <p:spPr>
          <a:xfrm>
            <a:off x="160020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Explore</a:t>
            </a:r>
            <a:endParaRPr lang="en-US" sz="1900" dirty="0"/>
          </a:p>
        </p:txBody>
      </p:sp>
      <p:sp>
        <p:nvSpPr>
          <p:cNvPr id="9" name="Text 7"/>
          <p:cNvSpPr/>
          <p:nvPr/>
        </p:nvSpPr>
        <p:spPr>
          <a:xfrm>
            <a:off x="109728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An interactive model you manipulate before you read about it.</a:t>
            </a:r>
            <a:endParaRPr lang="en-US" sz="1400" dirty="0"/>
          </a:p>
        </p:txBody>
      </p:sp>
      <p:sp>
        <p:nvSpPr>
          <p:cNvPr id="10" name="Shape 8"/>
          <p:cNvSpPr/>
          <p:nvPr/>
        </p:nvSpPr>
        <p:spPr>
          <a:xfrm>
            <a:off x="4434840" y="3200400"/>
            <a:ext cx="3383280" cy="2651760"/>
          </a:xfrm>
          <a:prstGeom prst="roundRect">
            <a:avLst>
              <a:gd name="adj" fmla="val 3103"/>
            </a:avLst>
          </a:prstGeom>
          <a:solidFill>
            <a:srgbClr val="CFDCE9"/>
          </a:solidFill>
          <a:ln w="12700">
            <a:solidFill>
              <a:srgbClr val="879EC3"/>
            </a:solidFill>
            <a:prstDash val="solid"/>
          </a:ln>
        </p:spPr>
      </p:sp>
      <p:sp>
        <p:nvSpPr>
          <p:cNvPr id="11" name="Shape 9"/>
          <p:cNvSpPr/>
          <p:nvPr/>
        </p:nvSpPr>
        <p:spPr>
          <a:xfrm>
            <a:off x="4709160" y="3474720"/>
            <a:ext cx="384048" cy="384048"/>
          </a:xfrm>
          <a:prstGeom prst="ellipse">
            <a:avLst/>
          </a:prstGeom>
          <a:solidFill>
            <a:srgbClr val="09396C"/>
          </a:solidFill>
          <a:ln/>
        </p:spPr>
      </p:sp>
      <p:sp>
        <p:nvSpPr>
          <p:cNvPr id="12" name="Text 10"/>
          <p:cNvSpPr/>
          <p:nvPr/>
        </p:nvSpPr>
        <p:spPr>
          <a:xfrm>
            <a:off x="470916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3" name="Text 11"/>
          <p:cNvSpPr/>
          <p:nvPr/>
        </p:nvSpPr>
        <p:spPr>
          <a:xfrm>
            <a:off x="521208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Practice</a:t>
            </a:r>
            <a:endParaRPr lang="en-US" sz="1900" dirty="0"/>
          </a:p>
        </p:txBody>
      </p:sp>
      <p:sp>
        <p:nvSpPr>
          <p:cNvPr id="14" name="Text 12"/>
          <p:cNvSpPr/>
          <p:nvPr/>
        </p:nvSpPr>
        <p:spPr>
          <a:xfrm>
            <a:off x="470916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 low-stakes exercise on a throwaway slice, instant feedback.</a:t>
            </a:r>
            <a:endParaRPr lang="en-US" sz="1400" dirty="0"/>
          </a:p>
        </p:txBody>
      </p:sp>
      <p:sp>
        <p:nvSpPr>
          <p:cNvPr id="15" name="Shape 13"/>
          <p:cNvSpPr/>
          <p:nvPr/>
        </p:nvSpPr>
        <p:spPr>
          <a:xfrm>
            <a:off x="8046720" y="3200400"/>
            <a:ext cx="3383280" cy="2651760"/>
          </a:xfrm>
          <a:prstGeom prst="roundRect">
            <a:avLst>
              <a:gd name="adj" fmla="val 3103"/>
            </a:avLst>
          </a:prstGeom>
          <a:solidFill>
            <a:srgbClr val="CFDCE9"/>
          </a:solidFill>
          <a:ln w="12700">
            <a:solidFill>
              <a:srgbClr val="879EC3"/>
            </a:solidFill>
            <a:prstDash val="solid"/>
          </a:ln>
        </p:spPr>
      </p:sp>
      <p:sp>
        <p:nvSpPr>
          <p:cNvPr id="16" name="Shape 14"/>
          <p:cNvSpPr/>
          <p:nvPr/>
        </p:nvSpPr>
        <p:spPr>
          <a:xfrm>
            <a:off x="8321040" y="3474720"/>
            <a:ext cx="384048" cy="384048"/>
          </a:xfrm>
          <a:prstGeom prst="ellipse">
            <a:avLst/>
          </a:prstGeom>
          <a:solidFill>
            <a:srgbClr val="09396C"/>
          </a:solidFill>
          <a:ln/>
        </p:spPr>
      </p:sp>
      <p:sp>
        <p:nvSpPr>
          <p:cNvPr id="17" name="Text 15"/>
          <p:cNvSpPr/>
          <p:nvPr/>
        </p:nvSpPr>
        <p:spPr>
          <a:xfrm>
            <a:off x="832104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8" name="Text 16"/>
          <p:cNvSpPr/>
          <p:nvPr/>
        </p:nvSpPr>
        <p:spPr>
          <a:xfrm>
            <a:off x="882396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Apply</a:t>
            </a:r>
            <a:endParaRPr lang="en-US" sz="1900" dirty="0"/>
          </a:p>
        </p:txBody>
      </p:sp>
      <p:sp>
        <p:nvSpPr>
          <p:cNvPr id="19" name="Text 17"/>
          <p:cNvSpPr/>
          <p:nvPr/>
        </p:nvSpPr>
        <p:spPr>
          <a:xfrm>
            <a:off x="832104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How Many Segments, Really?: the graded simulation on your own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Key concepts</a:t>
            </a:r>
            <a:endParaRPr lang="en-US" sz="2600" dirty="0"/>
          </a:p>
        </p:txBody>
      </p:sp>
      <p:sp>
        <p:nvSpPr>
          <p:cNvPr id="3" name="Shape 1"/>
          <p:cNvSpPr/>
          <p:nvPr/>
        </p:nvSpPr>
        <p:spPr>
          <a:xfrm>
            <a:off x="822960" y="1463040"/>
            <a:ext cx="384048" cy="384048"/>
          </a:xfrm>
          <a:prstGeom prst="ellipse">
            <a:avLst/>
          </a:prstGeom>
          <a:solidFill>
            <a:srgbClr val="21314D"/>
          </a:solidFill>
          <a:ln/>
        </p:spPr>
      </p:sp>
      <p:sp>
        <p:nvSpPr>
          <p:cNvPr id="4" name="Text 2"/>
          <p:cNvSpPr/>
          <p:nvPr/>
        </p:nvSpPr>
        <p:spPr>
          <a:xfrm>
            <a:off x="82296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5" name="Text 3"/>
          <p:cNvSpPr/>
          <p:nvPr/>
        </p:nvSpPr>
        <p:spPr>
          <a:xfrm>
            <a:off x="1417320" y="14173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Structure without labels</a:t>
            </a:r>
            <a:endParaRPr lang="en-US" sz="1900" dirty="0"/>
          </a:p>
        </p:txBody>
      </p:sp>
      <p:sp>
        <p:nvSpPr>
          <p:cNvPr id="6" name="Text 4"/>
          <p:cNvSpPr/>
          <p:nvPr/>
        </p:nvSpPr>
        <p:spPr>
          <a:xfrm>
            <a:off x="1417320" y="18745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Clustering and PCA find shape, not truth. The interpretation is the work, not the algorithm.</a:t>
            </a:r>
            <a:endParaRPr lang="en-US" sz="1500" dirty="0"/>
          </a:p>
        </p:txBody>
      </p:sp>
      <p:sp>
        <p:nvSpPr>
          <p:cNvPr id="7" name="Shape 5"/>
          <p:cNvSpPr/>
          <p:nvPr/>
        </p:nvSpPr>
        <p:spPr>
          <a:xfrm>
            <a:off x="822960" y="3063240"/>
            <a:ext cx="384048" cy="384048"/>
          </a:xfrm>
          <a:prstGeom prst="ellipse">
            <a:avLst/>
          </a:prstGeom>
          <a:solidFill>
            <a:srgbClr val="09396C"/>
          </a:solidFill>
          <a:ln/>
        </p:spPr>
      </p:sp>
      <p:sp>
        <p:nvSpPr>
          <p:cNvPr id="8" name="Text 6"/>
          <p:cNvSpPr/>
          <p:nvPr/>
        </p:nvSpPr>
        <p:spPr>
          <a:xfrm>
            <a:off x="822960" y="30632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9" name="Text 7"/>
          <p:cNvSpPr/>
          <p:nvPr/>
        </p:nvSpPr>
        <p:spPr>
          <a:xfrm>
            <a:off x="1417320" y="30175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Argue for the number of clusters</a:t>
            </a:r>
            <a:endParaRPr lang="en-US" sz="1900" dirty="0"/>
          </a:p>
        </p:txBody>
      </p:sp>
      <p:sp>
        <p:nvSpPr>
          <p:cNvPr id="10" name="Text 8"/>
          <p:cNvSpPr/>
          <p:nvPr/>
        </p:nvSpPr>
        <p:spPr>
          <a:xfrm>
            <a:off x="1417320" y="34747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Stability, interpretability, and business fit, not eyeballing an elbow plot.</a:t>
            </a:r>
            <a:endParaRPr lang="en-US" sz="1500" dirty="0"/>
          </a:p>
        </p:txBody>
      </p:sp>
      <p:sp>
        <p:nvSpPr>
          <p:cNvPr id="11" name="Shape 9"/>
          <p:cNvSpPr/>
          <p:nvPr/>
        </p:nvSpPr>
        <p:spPr>
          <a:xfrm>
            <a:off x="822960" y="4663440"/>
            <a:ext cx="384048" cy="384048"/>
          </a:xfrm>
          <a:prstGeom prst="ellipse">
            <a:avLst/>
          </a:prstGeom>
          <a:solidFill>
            <a:srgbClr val="0272DE"/>
          </a:solidFill>
          <a:ln/>
        </p:spPr>
      </p:sp>
      <p:sp>
        <p:nvSpPr>
          <p:cNvPr id="12" name="Text 10"/>
          <p:cNvSpPr/>
          <p:nvPr/>
        </p:nvSpPr>
        <p:spPr>
          <a:xfrm>
            <a:off x="822960" y="4663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3" name="Text 11"/>
          <p:cNvSpPr/>
          <p:nvPr/>
        </p:nvSpPr>
        <p:spPr>
          <a:xfrm>
            <a:off x="1417320" y="46177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Reduce to see</a:t>
            </a:r>
            <a:endParaRPr lang="en-US" sz="1900" dirty="0"/>
          </a:p>
        </p:txBody>
      </p:sp>
      <p:sp>
        <p:nvSpPr>
          <p:cNvPr id="14" name="Text 12"/>
          <p:cNvSpPr/>
          <p:nvPr/>
        </p:nvSpPr>
        <p:spPr>
          <a:xfrm>
            <a:off x="1417320" y="50749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PCA and t-SNE build intuition; mind the pitfalls, such as t-SNE perplexity distorting apparent cluster size.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Explore it, then practice</a:t>
            </a:r>
            <a:endParaRPr lang="en-US" sz="2600" dirty="0"/>
          </a:p>
        </p:txBody>
      </p:sp>
      <p:sp>
        <p:nvSpPr>
          <p:cNvPr id="3" name="Shape 1"/>
          <p:cNvSpPr/>
          <p:nvPr/>
        </p:nvSpPr>
        <p:spPr>
          <a:xfrm>
            <a:off x="822960" y="1371600"/>
            <a:ext cx="5212080" cy="4297680"/>
          </a:xfrm>
          <a:prstGeom prst="roundRect">
            <a:avLst>
              <a:gd name="adj" fmla="val 1915"/>
            </a:avLst>
          </a:prstGeom>
          <a:solidFill>
            <a:srgbClr val="CFDCE9"/>
          </a:solidFill>
          <a:ln w="12700">
            <a:solidFill>
              <a:srgbClr val="879EC3"/>
            </a:solidFill>
            <a:prstDash val="solid"/>
          </a:ln>
        </p:spPr>
      </p:sp>
      <p:sp>
        <p:nvSpPr>
          <p:cNvPr id="4" name="Text 2"/>
          <p:cNvSpPr/>
          <p:nvPr/>
        </p:nvSpPr>
        <p:spPr>
          <a:xfrm>
            <a:off x="1097280" y="1600200"/>
            <a:ext cx="466344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Explore  (interactive)</a:t>
            </a:r>
            <a:endParaRPr lang="en-US" sz="1300" dirty="0"/>
          </a:p>
        </p:txBody>
      </p:sp>
      <p:sp>
        <p:nvSpPr>
          <p:cNvPr id="5" name="Text 3"/>
          <p:cNvSpPr/>
          <p:nvPr/>
        </p:nvSpPr>
        <p:spPr>
          <a:xfrm>
            <a:off x="1097280" y="1965960"/>
            <a:ext cx="4663440" cy="822960"/>
          </a:xfrm>
          <a:prstGeom prst="rect">
            <a:avLst/>
          </a:prstGeom>
          <a:noFill/>
          <a:ln/>
        </p:spPr>
        <p:txBody>
          <a:bodyPr wrap="square" rtlCol="0" anchor="ctr"/>
          <a:lstStyle/>
          <a:p>
            <a:pPr indent="0" marL="0">
              <a:buNone/>
            </a:pPr>
            <a:r>
              <a:rPr lang="en-US" sz="1800" b="1" dirty="0">
                <a:solidFill>
                  <a:srgbClr val="21314D"/>
                </a:solidFill>
                <a:latin typeface="Montserrat" pitchFamily="34" charset="0"/>
                <a:ea typeface="Montserrat" pitchFamily="34" charset="-122"/>
                <a:cs typeface="Montserrat" pitchFamily="34" charset="-120"/>
              </a:rPr>
              <a:t>Setosa PCA, Visualizing K-Means, Distill t-SNE</a:t>
            </a:r>
            <a:endParaRPr lang="en-US" sz="1800" dirty="0"/>
          </a:p>
        </p:txBody>
      </p:sp>
      <p:sp>
        <p:nvSpPr>
          <p:cNvPr id="6" name="Text 4"/>
          <p:cNvSpPr/>
          <p:nvPr/>
        </p:nvSpPr>
        <p:spPr>
          <a:xfrm>
            <a:off x="1097280" y="2880360"/>
            <a:ext cx="4663440" cy="2560320"/>
          </a:xfrm>
          <a:prstGeom prst="rect">
            <a:avLst/>
          </a:prstGeom>
          <a:noFill/>
          <a:ln/>
        </p:spPr>
        <p:txBody>
          <a:bodyPr wrap="square" rtlCol="0" anchor="t"/>
          <a:lstStyle/>
          <a:p>
            <a:pPr indent="0" marL="0">
              <a:buNone/>
            </a:pPr>
            <a:r>
              <a:rPr lang="en-US" sz="1500" dirty="0">
                <a:solidFill>
                  <a:srgbClr val="21314D"/>
                </a:solidFill>
                <a:latin typeface="Open Sans" pitchFamily="34" charset="0"/>
                <a:ea typeface="Open Sans" pitchFamily="34" charset="-122"/>
                <a:cs typeface="Open Sans" pitchFamily="34" charset="-120"/>
              </a:rPr>
              <a:t>Drag points and watch components rotate; step through Lloyd's algorithm; vary perplexity and watch the map change.</a:t>
            </a:r>
            <a:endParaRPr lang="en-US" sz="1500" dirty="0"/>
          </a:p>
        </p:txBody>
      </p:sp>
      <p:sp>
        <p:nvSpPr>
          <p:cNvPr id="7" name="Shape 5"/>
          <p:cNvSpPr/>
          <p:nvPr/>
        </p:nvSpPr>
        <p:spPr>
          <a:xfrm>
            <a:off x="6309360" y="1371600"/>
            <a:ext cx="5029200" cy="4297680"/>
          </a:xfrm>
          <a:prstGeom prst="roundRect">
            <a:avLst>
              <a:gd name="adj" fmla="val 1915"/>
            </a:avLst>
          </a:prstGeom>
          <a:solidFill>
            <a:srgbClr val="FFFFFF"/>
          </a:solidFill>
          <a:ln w="12700">
            <a:solidFill>
              <a:srgbClr val="879EC3"/>
            </a:solidFill>
            <a:prstDash val="solid"/>
          </a:ln>
        </p:spPr>
      </p:sp>
      <p:sp>
        <p:nvSpPr>
          <p:cNvPr id="8" name="Text 6"/>
          <p:cNvSpPr/>
          <p:nvPr/>
        </p:nvSpPr>
        <p:spPr>
          <a:xfrm>
            <a:off x="6583680" y="1600200"/>
            <a:ext cx="457200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Practice  (formative, low-stakes)</a:t>
            </a:r>
            <a:endParaRPr lang="en-US" sz="1300" dirty="0"/>
          </a:p>
        </p:txBody>
      </p:sp>
      <p:sp>
        <p:nvSpPr>
          <p:cNvPr id="9" name="Text 7"/>
          <p:cNvSpPr/>
          <p:nvPr/>
        </p:nvSpPr>
        <p:spPr>
          <a:xfrm>
            <a:off x="6583680" y="2057400"/>
            <a:ext cx="4480560" cy="3291840"/>
          </a:xfrm>
          <a:prstGeom prst="rect">
            <a:avLst/>
          </a:prstGeom>
          <a:noFill/>
          <a:ln/>
        </p:spPr>
        <p:txBody>
          <a:bodyPr wrap="square" rtlCol="0" anchor="t"/>
          <a:lstStyle/>
          <a:p>
            <a:pPr indent="0" marL="0">
              <a:buNone/>
            </a:pPr>
            <a:r>
              <a:rPr lang="en-US" sz="1600" dirty="0">
                <a:solidFill>
                  <a:srgbClr val="21314D"/>
                </a:solidFill>
                <a:latin typeface="Open Sans" pitchFamily="34" charset="0"/>
                <a:ea typeface="Open Sans" pitchFamily="34" charset="-122"/>
                <a:cs typeface="Open Sans" pitchFamily="34" charset="-120"/>
              </a:rPr>
              <a:t>Cluster your data two ways and assess stability with a bootstrap.</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Apply it</a:t>
            </a:r>
            <a:endParaRPr lang="en-US" sz="2600" dirty="0"/>
          </a:p>
        </p:txBody>
      </p:sp>
      <p:sp>
        <p:nvSpPr>
          <p:cNvPr id="3" name="Text 1"/>
          <p:cNvSpPr/>
          <p:nvPr/>
        </p:nvSpPr>
        <p:spPr>
          <a:xfrm>
            <a:off x="822960" y="1024128"/>
            <a:ext cx="10058400" cy="32004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Authentic assessment · simulation</a:t>
            </a:r>
            <a:endParaRPr lang="en-US" sz="1300" dirty="0"/>
          </a:p>
        </p:txBody>
      </p:sp>
      <p:sp>
        <p:nvSpPr>
          <p:cNvPr id="4" name="Shape 2"/>
          <p:cNvSpPr/>
          <p:nvPr/>
        </p:nvSpPr>
        <p:spPr>
          <a:xfrm>
            <a:off x="822960" y="1463040"/>
            <a:ext cx="10515600" cy="1783080"/>
          </a:xfrm>
          <a:prstGeom prst="roundRect">
            <a:avLst>
              <a:gd name="adj" fmla="val 4615"/>
            </a:avLst>
          </a:prstGeom>
          <a:solidFill>
            <a:srgbClr val="CFDCE9"/>
          </a:solidFill>
          <a:ln w="12700">
            <a:solidFill>
              <a:srgbClr val="879EC3"/>
            </a:solidFill>
            <a:prstDash val="solid"/>
          </a:ln>
        </p:spPr>
      </p:sp>
      <p:sp>
        <p:nvSpPr>
          <p:cNvPr id="5" name="Text 3"/>
          <p:cNvSpPr/>
          <p:nvPr/>
        </p:nvSpPr>
        <p:spPr>
          <a:xfrm>
            <a:off x="1097280" y="1627632"/>
            <a:ext cx="10058400" cy="457200"/>
          </a:xfrm>
          <a:prstGeom prst="rect">
            <a:avLst/>
          </a:prstGeom>
          <a:noFill/>
          <a:ln/>
        </p:spPr>
        <p:txBody>
          <a:bodyPr wrap="square" lIns="0" tIns="0" rIns="0" bIns="0" rtlCol="0" anchor="ctr"/>
          <a:lstStyle/>
          <a:p>
            <a:pPr indent="0" marL="0">
              <a:buNone/>
            </a:pPr>
            <a:r>
              <a:rPr lang="en-US" sz="2000" b="1" dirty="0">
                <a:solidFill>
                  <a:srgbClr val="21314D"/>
                </a:solidFill>
                <a:latin typeface="Montserrat" pitchFamily="34" charset="0"/>
                <a:ea typeface="Montserrat" pitchFamily="34" charset="-122"/>
                <a:cs typeface="Montserrat" pitchFamily="34" charset="-120"/>
              </a:rPr>
              <a:t>How Many Segments, Really?</a:t>
            </a:r>
            <a:endParaRPr lang="en-US" sz="2000" dirty="0"/>
          </a:p>
        </p:txBody>
      </p:sp>
      <p:sp>
        <p:nvSpPr>
          <p:cNvPr id="6" name="Text 4"/>
          <p:cNvSpPr/>
          <p:nvPr/>
        </p:nvSpPr>
        <p:spPr>
          <a:xfrm>
            <a:off x="1097280" y="2121408"/>
            <a:ext cx="10058400" cy="1005840"/>
          </a:xfrm>
          <a:prstGeom prst="rect">
            <a:avLst/>
          </a:prstGeom>
          <a:noFill/>
          <a:ln/>
        </p:spPr>
        <p:txBody>
          <a:bodyPr wrap="square" lIns="0" tIns="0" rIns="0" bIns="0" rtlCol="0" anchor="t"/>
          <a:lstStyle/>
          <a:p>
            <a:pPr indent="0" marL="0">
              <a:buNone/>
            </a:pPr>
            <a:r>
              <a:rPr lang="en-US" sz="1450" dirty="0">
                <a:solidFill>
                  <a:srgbClr val="21314D"/>
                </a:solidFill>
                <a:latin typeface="Open Sans" pitchFamily="34" charset="0"/>
                <a:ea typeface="Open Sans" pitchFamily="34" charset="-122"/>
                <a:cs typeface="Open Sans" pitchFamily="34" charset="-120"/>
              </a:rPr>
              <a:t>Marketing asks how many distinct groups exist and how to describe them. Judged on cluster stability, interpretability, and a written argument for why this number serves the decision, since a real client has no ground-truth number of clusters.</a:t>
            </a:r>
            <a:endParaRPr lang="en-US" sz="1450" dirty="0"/>
          </a:p>
        </p:txBody>
      </p:sp>
      <p:sp>
        <p:nvSpPr>
          <p:cNvPr id="7" name="Text 5"/>
          <p:cNvSpPr/>
          <p:nvPr/>
        </p:nvSpPr>
        <p:spPr>
          <a:xfrm>
            <a:off x="822960" y="352044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What is assessed.  </a:t>
            </a:r>
            <a:pPr indent="0" marL="0">
              <a:buNone/>
            </a:pPr>
            <a:r>
              <a:rPr lang="en-US" sz="1450" dirty="0">
                <a:solidFill>
                  <a:srgbClr val="21314D"/>
                </a:solidFill>
                <a:latin typeface="Open Sans" pitchFamily="34" charset="0"/>
                <a:ea typeface="Open Sans" pitchFamily="34" charset="-122"/>
                <a:cs typeface="Open Sans" pitchFamily="34" charset="-120"/>
              </a:rPr>
              <a:t>Cluster stability, interpretability, and the strength of the cluster-count argument.</a:t>
            </a:r>
            <a:endParaRPr lang="en-US" sz="1450" dirty="0"/>
          </a:p>
        </p:txBody>
      </p:sp>
      <p:sp>
        <p:nvSpPr>
          <p:cNvPr id="8" name="Text 6"/>
          <p:cNvSpPr/>
          <p:nvPr/>
        </p:nvSpPr>
        <p:spPr>
          <a:xfrm>
            <a:off x="822960" y="434340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Software you will need.  </a:t>
            </a:r>
            <a:pPr indent="0" marL="0">
              <a:buNone/>
            </a:pPr>
            <a:r>
              <a:rPr lang="en-US" sz="1450" dirty="0">
                <a:solidFill>
                  <a:srgbClr val="21314D"/>
                </a:solidFill>
                <a:latin typeface="Open Sans" pitchFamily="34" charset="0"/>
                <a:ea typeface="Open Sans" pitchFamily="34" charset="-122"/>
                <a:cs typeface="Open Sans" pitchFamily="34" charset="-120"/>
              </a:rPr>
              <a:t>Same toolchain.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Submit, and what comes next</a:t>
            </a:r>
            <a:endParaRPr lang="en-US" sz="2600" dirty="0"/>
          </a:p>
        </p:txBody>
      </p:sp>
      <p:sp>
        <p:nvSpPr>
          <p:cNvPr id="3" name="Text 1"/>
          <p:cNvSpPr/>
          <p:nvPr/>
        </p:nvSpPr>
        <p:spPr>
          <a:xfrm>
            <a:off x="822960" y="173736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What to submit</a:t>
            </a:r>
            <a:endParaRPr lang="en-US" sz="1400" dirty="0"/>
          </a:p>
        </p:txBody>
      </p:sp>
      <p:sp>
        <p:nvSpPr>
          <p:cNvPr id="4" name="Text 2"/>
          <p:cNvSpPr/>
          <p:nvPr/>
        </p:nvSpPr>
        <p:spPr>
          <a:xfrm>
            <a:off x="822960" y="2148840"/>
            <a:ext cx="10332720" cy="1005840"/>
          </a:xfrm>
          <a:prstGeom prst="rect">
            <a:avLst/>
          </a:prstGeom>
          <a:noFill/>
          <a:ln/>
        </p:spPr>
        <p:txBody>
          <a:bodyPr wrap="square" rtlCol="0" anchor="t"/>
          <a:lstStyle/>
          <a:p>
            <a:pPr indent="0" marL="0">
              <a:buNone/>
            </a:pPr>
            <a:r>
              <a:rPr lang="en-US" sz="2200" dirty="0">
                <a:solidFill>
                  <a:srgbClr val="FFFFFF"/>
                </a:solidFill>
                <a:latin typeface="Montserrat" pitchFamily="34" charset="0"/>
                <a:ea typeface="Montserrat" pitchFamily="34" charset="-122"/>
                <a:cs typeface="Montserrat" pitchFamily="34" charset="-120"/>
              </a:rPr>
              <a:t>A segmentation, a stability analysis, and clear segment descriptions.</a:t>
            </a:r>
            <a:endParaRPr lang="en-US" sz="2200" dirty="0"/>
          </a:p>
        </p:txBody>
      </p:sp>
      <p:sp>
        <p:nvSpPr>
          <p:cNvPr id="5" name="Text 3"/>
          <p:cNvSpPr/>
          <p:nvPr/>
        </p:nvSpPr>
        <p:spPr>
          <a:xfrm>
            <a:off x="822960" y="384048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How this feeds the whole</a:t>
            </a:r>
            <a:endParaRPr lang="en-US" sz="1400" dirty="0"/>
          </a:p>
        </p:txBody>
      </p:sp>
      <p:sp>
        <p:nvSpPr>
          <p:cNvPr id="6" name="Text 4"/>
          <p:cNvSpPr/>
          <p:nvPr/>
        </p:nvSpPr>
        <p:spPr>
          <a:xfrm>
            <a:off x="822960" y="4251960"/>
            <a:ext cx="10332720" cy="1280160"/>
          </a:xfrm>
          <a:prstGeom prst="rect">
            <a:avLst/>
          </a:prstGeom>
          <a:noFill/>
          <a:ln/>
        </p:spPr>
        <p:txBody>
          <a:bodyPr wrap="square" rtlCol="0" anchor="t"/>
          <a:lstStyle/>
          <a:p>
            <a:pPr indent="0" marL="0">
              <a:buNone/>
            </a:pPr>
            <a:r>
              <a:rPr lang="en-US" sz="1600" dirty="0">
                <a:solidFill>
                  <a:srgbClr val="CFDCE9"/>
                </a:solidFill>
                <a:latin typeface="Open Sans" pitchFamily="34" charset="0"/>
                <a:ea typeface="Open Sans" pitchFamily="34" charset="-122"/>
                <a:cs typeface="Open Sans" pitchFamily="34" charset="-120"/>
              </a:rPr>
              <a:t>This deliverable becomes one stage of the continuous capstone project, assembled across the term, not written at the end.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2026-07-21T12:30:00Z</dcterms:created>
  <dcterms:modified xsi:type="dcterms:W3CDTF">2026-07-21T12:30:00Z</dcterms:modified>
</cp:coreProperties>
</file>