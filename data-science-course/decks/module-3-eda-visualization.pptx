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61520" cy="6858000"/>
  <p:notesSz cx="6858000" cy="1216152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Module 3. State the objective in one sentence: Explore data and communicate a defensible, honest narrative to a non-technical decision-maker. Then tell them the week's arc: we explore the idea in an interactive model, practice on a low-stakes slice, and apply it to your own project in The 10-Minute Executive Brief. Remind them the deliverable feeds the capstone.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objective from the student's perspective, then walk the three-part arc. Emphasize that the graded work, The 10-Minute Executive Brief, is a professional simulation, not a quiz, and that the interactive comes first so intuition precedes formalism.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these three points in order; each is a decision students must defend, not a fact to memorize. Tie every one back to the objective and to what The 10-Minute Executive Brief will ask them to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the interactive live if you can, and narrate what to notice. The practice task is ungraded or low-stakes; its job is instant feedback before the graded simulation. Invite students to post one thing the interactive surprised them with.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graded work. Read the brief, then point students to the rubric and the software guide before they begin. Stress that it is judged the way real practice judges it, and that the live defense cannot be outsourced.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naming exactly what to submit and when, restating the response and feedback window, and previewing how this piece connects to the capstone. End with the weekly reflection: what you saw in their posted work that was strong, and what to shore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314D"/>
        </a:solidFill>
      </p:bgPr>
    </p:bg>
    <p:spTree>
      <p:nvGrpSpPr>
        <p:cNvPr id="1" name=""/>
        <p:cNvGrpSpPr/>
        <p:nvPr/>
      </p:nvGrpSpPr>
      <p:grpSpPr>
        <a:xfrm>
          <a:off x="0" y="0"/>
          <a:ext cx="0" cy="0"/>
          <a:chOff x="0" y="0"/>
          <a:chExt cx="0" cy="0"/>
        </a:xfrm>
      </p:grpSpPr>
      <p:sp>
        <p:nvSpPr>
          <p:cNvPr id="2" name="Text 0"/>
          <p:cNvSpPr/>
          <p:nvPr/>
        </p:nvSpPr>
        <p:spPr>
          <a:xfrm>
            <a:off x="822960" y="1554480"/>
            <a:ext cx="10058400" cy="457200"/>
          </a:xfrm>
          <a:prstGeom prst="rect">
            <a:avLst/>
          </a:prstGeom>
          <a:noFill/>
          <a:ln/>
        </p:spPr>
        <p:txBody>
          <a:bodyPr wrap="square" rtlCol="0" anchor="ctr"/>
          <a:lstStyle/>
          <a:p>
            <a:pPr indent="0" marL="0">
              <a:buNone/>
            </a:pPr>
            <a:r>
              <a:rPr lang="en-US" sz="1600" b="1" spc="300" kern="0" dirty="0">
                <a:solidFill>
                  <a:srgbClr val="879EC3"/>
                </a:solidFill>
                <a:latin typeface="Open Sans" pitchFamily="34" charset="0"/>
                <a:ea typeface="Open Sans" pitchFamily="34" charset="-122"/>
                <a:cs typeface="Open Sans" pitchFamily="34" charset="-120"/>
              </a:rPr>
              <a:t>MODULE 3</a:t>
            </a:r>
            <a:endParaRPr lang="en-US" sz="1600" dirty="0"/>
          </a:p>
        </p:txBody>
      </p:sp>
      <p:sp>
        <p:nvSpPr>
          <p:cNvPr id="3" name="Text 1"/>
          <p:cNvSpPr/>
          <p:nvPr/>
        </p:nvSpPr>
        <p:spPr>
          <a:xfrm>
            <a:off x="822960" y="2011680"/>
            <a:ext cx="10515600" cy="1828800"/>
          </a:xfrm>
          <a:prstGeom prst="rect">
            <a:avLst/>
          </a:prstGeom>
          <a:noFill/>
          <a:ln/>
        </p:spPr>
        <p:txBody>
          <a:bodyPr wrap="square" rtlCol="0" anchor="ctr"/>
          <a:lstStyle/>
          <a:p>
            <a:pPr indent="0" marL="0">
              <a:lnSpc>
                <a:spcPct val="102000"/>
              </a:lnSpc>
              <a:buNone/>
            </a:pPr>
            <a:r>
              <a:rPr lang="en-US" sz="4000" b="1" dirty="0">
                <a:solidFill>
                  <a:srgbClr val="FFFFFF"/>
                </a:solidFill>
                <a:latin typeface="Montserrat" pitchFamily="34" charset="0"/>
                <a:ea typeface="Montserrat" pitchFamily="34" charset="-122"/>
                <a:cs typeface="Montserrat" pitchFamily="34" charset="-120"/>
              </a:rPr>
              <a:t>EDA, visualization, and the stakeholder story</a:t>
            </a:r>
            <a:endParaRPr lang="en-US" sz="4000" dirty="0"/>
          </a:p>
        </p:txBody>
      </p:sp>
      <p:sp>
        <p:nvSpPr>
          <p:cNvPr id="4" name="Text 2"/>
          <p:cNvSpPr/>
          <p:nvPr/>
        </p:nvSpPr>
        <p:spPr>
          <a:xfrm>
            <a:off x="841248" y="3977640"/>
            <a:ext cx="10058400" cy="457200"/>
          </a:xfrm>
          <a:prstGeom prst="rect">
            <a:avLst/>
          </a:prstGeom>
          <a:noFill/>
          <a:ln/>
        </p:spPr>
        <p:txBody>
          <a:bodyPr wrap="square" rtlCol="0" anchor="ctr"/>
          <a:lstStyle/>
          <a:p>
            <a:pPr indent="0" marL="0">
              <a:buNone/>
            </a:pPr>
            <a:r>
              <a:rPr lang="en-US" sz="1600" dirty="0">
                <a:solidFill>
                  <a:srgbClr val="CFDCE9"/>
                </a:solidFill>
                <a:latin typeface="Open Sans" pitchFamily="34" charset="0"/>
                <a:ea typeface="Open Sans" pitchFamily="34" charset="-122"/>
                <a:cs typeface="Open Sans" pitchFamily="34" charset="-120"/>
              </a:rPr>
              <a:t>Advanced Data Science  ·  Weeks 5–6  ·  about 18 student hours</a:t>
            </a:r>
            <a:endParaRPr lang="en-US" sz="1600" dirty="0"/>
          </a:p>
        </p:txBody>
      </p:sp>
      <p:sp>
        <p:nvSpPr>
          <p:cNvPr id="5" name="Text 3"/>
          <p:cNvSpPr/>
          <p:nvPr/>
        </p:nvSpPr>
        <p:spPr>
          <a:xfrm>
            <a:off x="841248" y="6126480"/>
            <a:ext cx="10058400" cy="365760"/>
          </a:xfrm>
          <a:prstGeom prst="rect">
            <a:avLst/>
          </a:prstGeom>
          <a:noFill/>
          <a:ln/>
        </p:spPr>
        <p:txBody>
          <a:bodyPr wrap="square" rtlCol="0" anchor="ctr"/>
          <a:lstStyle/>
          <a:p>
            <a:pPr indent="0" marL="0">
              <a:buNone/>
            </a:pPr>
            <a:r>
              <a:rPr lang="en-US" sz="1200" i="1" dirty="0">
                <a:solidFill>
                  <a:srgbClr val="879EC3"/>
                </a:solidFill>
                <a:latin typeface="Open Sans" pitchFamily="34" charset="0"/>
                <a:ea typeface="Open Sans" pitchFamily="34" charset="-122"/>
                <a:cs typeface="Open Sans" pitchFamily="34" charset="-120"/>
              </a:rPr>
              <a:t>Instructor deck  ·  speaker notes carry the teaching script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02920"/>
            <a:ext cx="10058400" cy="457200"/>
          </a:xfrm>
          <a:prstGeom prst="rect">
            <a:avLst/>
          </a:prstGeom>
          <a:noFill/>
          <a:ln/>
        </p:spPr>
        <p:txBody>
          <a:bodyPr wrap="square" rtlCol="0" anchor="ctr"/>
          <a:lstStyle/>
          <a:p>
            <a:pPr indent="0" marL="0">
              <a:buNone/>
            </a:pPr>
            <a:r>
              <a:rPr lang="en-US" sz="2600" b="1" dirty="0">
                <a:solidFill>
                  <a:srgbClr val="21314D"/>
                </a:solidFill>
                <a:latin typeface="Montserrat" pitchFamily="34" charset="0"/>
                <a:ea typeface="Montserrat" pitchFamily="34" charset="-122"/>
                <a:cs typeface="Montserrat" pitchFamily="34" charset="-120"/>
              </a:rPr>
              <a:t>This module</a:t>
            </a:r>
            <a:endParaRPr lang="en-US" sz="2600" dirty="0"/>
          </a:p>
        </p:txBody>
      </p:sp>
      <p:sp>
        <p:nvSpPr>
          <p:cNvPr id="3" name="Text 1"/>
          <p:cNvSpPr/>
          <p:nvPr/>
        </p:nvSpPr>
        <p:spPr>
          <a:xfrm>
            <a:off x="822960" y="1051560"/>
            <a:ext cx="10058400" cy="320040"/>
          </a:xfrm>
          <a:prstGeom prst="rect">
            <a:avLst/>
          </a:prstGeom>
          <a:noFill/>
          <a:ln/>
        </p:spPr>
        <p:txBody>
          <a:bodyPr wrap="square" rtlCol="0" anchor="ctr"/>
          <a:lstStyle/>
          <a:p>
            <a:pPr indent="0" marL="0">
              <a:buNone/>
            </a:pPr>
            <a:r>
              <a:rPr lang="en-US" sz="1300" b="1" dirty="0">
                <a:solidFill>
                  <a:srgbClr val="09396C"/>
                </a:solidFill>
                <a:latin typeface="Open Sans" pitchFamily="34" charset="0"/>
                <a:ea typeface="Open Sans" pitchFamily="34" charset="-122"/>
                <a:cs typeface="Open Sans" pitchFamily="34" charset="-120"/>
              </a:rPr>
              <a:t>RSI: direct instruction · discussion · feedback</a:t>
            </a:r>
            <a:endParaRPr lang="en-US" sz="1300" dirty="0"/>
          </a:p>
        </p:txBody>
      </p:sp>
      <p:sp>
        <p:nvSpPr>
          <p:cNvPr id="4" name="Text 2"/>
          <p:cNvSpPr/>
          <p:nvPr/>
        </p:nvSpPr>
        <p:spPr>
          <a:xfrm>
            <a:off x="822960" y="1554480"/>
            <a:ext cx="10515600" cy="1188720"/>
          </a:xfrm>
          <a:prstGeom prst="rect">
            <a:avLst/>
          </a:prstGeom>
          <a:noFill/>
          <a:ln/>
        </p:spPr>
        <p:txBody>
          <a:bodyPr wrap="square" rtlCol="0" anchor="ctr"/>
          <a:lstStyle/>
          <a:p>
            <a:pPr indent="0" marL="0">
              <a:lnSpc>
                <a:spcPct val="105000"/>
              </a:lnSpc>
              <a:buNone/>
            </a:pPr>
            <a:r>
              <a:rPr lang="en-US" sz="2200" i="1" dirty="0">
                <a:solidFill>
                  <a:srgbClr val="21314D"/>
                </a:solidFill>
                <a:latin typeface="Montserrat" pitchFamily="34" charset="0"/>
                <a:ea typeface="Montserrat" pitchFamily="34" charset="-122"/>
                <a:cs typeface="Montserrat" pitchFamily="34" charset="-120"/>
              </a:rPr>
              <a:t>Explore data and communicate a defensible, honest narrative to a non-technical decision-maker.</a:t>
            </a:r>
            <a:endParaRPr lang="en-US" sz="2200" dirty="0"/>
          </a:p>
        </p:txBody>
      </p:sp>
      <p:sp>
        <p:nvSpPr>
          <p:cNvPr id="5" name="Shape 3"/>
          <p:cNvSpPr/>
          <p:nvPr/>
        </p:nvSpPr>
        <p:spPr>
          <a:xfrm>
            <a:off x="822960" y="3200400"/>
            <a:ext cx="3383280" cy="2651760"/>
          </a:xfrm>
          <a:prstGeom prst="roundRect">
            <a:avLst>
              <a:gd name="adj" fmla="val 3103"/>
            </a:avLst>
          </a:prstGeom>
          <a:solidFill>
            <a:srgbClr val="CFDCE9"/>
          </a:solidFill>
          <a:ln w="12700">
            <a:solidFill>
              <a:srgbClr val="879EC3"/>
            </a:solidFill>
            <a:prstDash val="solid"/>
          </a:ln>
        </p:spPr>
      </p:sp>
      <p:sp>
        <p:nvSpPr>
          <p:cNvPr id="6" name="Shape 4"/>
          <p:cNvSpPr/>
          <p:nvPr/>
        </p:nvSpPr>
        <p:spPr>
          <a:xfrm>
            <a:off x="1097280" y="3474720"/>
            <a:ext cx="384048" cy="384048"/>
          </a:xfrm>
          <a:prstGeom prst="ellipse">
            <a:avLst/>
          </a:prstGeom>
          <a:solidFill>
            <a:srgbClr val="09396C"/>
          </a:solidFill>
          <a:ln/>
        </p:spPr>
      </p:sp>
      <p:sp>
        <p:nvSpPr>
          <p:cNvPr id="7" name="Text 5"/>
          <p:cNvSpPr/>
          <p:nvPr/>
        </p:nvSpPr>
        <p:spPr>
          <a:xfrm>
            <a:off x="1097280" y="347472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Montserrat" pitchFamily="34" charset="0"/>
                <a:ea typeface="Montserrat" pitchFamily="34" charset="-122"/>
                <a:cs typeface="Montserrat" pitchFamily="34" charset="-120"/>
              </a:rPr>
              <a:t>1</a:t>
            </a:r>
            <a:endParaRPr lang="en-US" sz="1600" dirty="0"/>
          </a:p>
        </p:txBody>
      </p:sp>
      <p:sp>
        <p:nvSpPr>
          <p:cNvPr id="8" name="Text 6"/>
          <p:cNvSpPr/>
          <p:nvPr/>
        </p:nvSpPr>
        <p:spPr>
          <a:xfrm>
            <a:off x="1600200" y="3493008"/>
            <a:ext cx="2468880" cy="457200"/>
          </a:xfrm>
          <a:prstGeom prst="rect">
            <a:avLst/>
          </a:prstGeom>
          <a:noFill/>
          <a:ln/>
        </p:spPr>
        <p:txBody>
          <a:bodyPr wrap="square" lIns="0" tIns="0" rIns="0" bIns="0" rtlCol="0" anchor="ctr"/>
          <a:lstStyle/>
          <a:p>
            <a:pPr indent="0" marL="0">
              <a:buNone/>
            </a:pPr>
            <a:r>
              <a:rPr lang="en-US" sz="1900" b="1" dirty="0">
                <a:solidFill>
                  <a:srgbClr val="21314D"/>
                </a:solidFill>
                <a:latin typeface="Montserrat" pitchFamily="34" charset="0"/>
                <a:ea typeface="Montserrat" pitchFamily="34" charset="-122"/>
                <a:cs typeface="Montserrat" pitchFamily="34" charset="-120"/>
              </a:rPr>
              <a:t>Explore</a:t>
            </a:r>
            <a:endParaRPr lang="en-US" sz="1900" dirty="0"/>
          </a:p>
        </p:txBody>
      </p:sp>
      <p:sp>
        <p:nvSpPr>
          <p:cNvPr id="9" name="Text 7"/>
          <p:cNvSpPr/>
          <p:nvPr/>
        </p:nvSpPr>
        <p:spPr>
          <a:xfrm>
            <a:off x="1097280" y="4114800"/>
            <a:ext cx="2834640" cy="1554480"/>
          </a:xfrm>
          <a:prstGeom prst="rect">
            <a:avLst/>
          </a:prstGeom>
          <a:noFill/>
          <a:ln/>
        </p:spPr>
        <p:txBody>
          <a:bodyPr wrap="square" rtlCol="0" anchor="t"/>
          <a:lstStyle/>
          <a:p>
            <a:pPr indent="0" marL="0">
              <a:buNone/>
            </a:pPr>
            <a:r>
              <a:rPr lang="en-US" sz="1400" dirty="0">
                <a:solidFill>
                  <a:srgbClr val="21314D"/>
                </a:solidFill>
                <a:latin typeface="Open Sans" pitchFamily="34" charset="0"/>
                <a:ea typeface="Open Sans" pitchFamily="34" charset="-122"/>
                <a:cs typeface="Open Sans" pitchFamily="34" charset="-120"/>
              </a:rPr>
              <a:t>An interactive model you manipulate before you read about it.</a:t>
            </a:r>
            <a:endParaRPr lang="en-US" sz="1400" dirty="0"/>
          </a:p>
        </p:txBody>
      </p:sp>
      <p:sp>
        <p:nvSpPr>
          <p:cNvPr id="10" name="Shape 8"/>
          <p:cNvSpPr/>
          <p:nvPr/>
        </p:nvSpPr>
        <p:spPr>
          <a:xfrm>
            <a:off x="4434840" y="3200400"/>
            <a:ext cx="3383280" cy="2651760"/>
          </a:xfrm>
          <a:prstGeom prst="roundRect">
            <a:avLst>
              <a:gd name="adj" fmla="val 3103"/>
            </a:avLst>
          </a:prstGeom>
          <a:solidFill>
            <a:srgbClr val="CFDCE9"/>
          </a:solidFill>
          <a:ln w="12700">
            <a:solidFill>
              <a:srgbClr val="879EC3"/>
            </a:solidFill>
            <a:prstDash val="solid"/>
          </a:ln>
        </p:spPr>
      </p:sp>
      <p:sp>
        <p:nvSpPr>
          <p:cNvPr id="11" name="Shape 9"/>
          <p:cNvSpPr/>
          <p:nvPr/>
        </p:nvSpPr>
        <p:spPr>
          <a:xfrm>
            <a:off x="4709160" y="3474720"/>
            <a:ext cx="384048" cy="384048"/>
          </a:xfrm>
          <a:prstGeom prst="ellipse">
            <a:avLst/>
          </a:prstGeom>
          <a:solidFill>
            <a:srgbClr val="09396C"/>
          </a:solidFill>
          <a:ln/>
        </p:spPr>
      </p:sp>
      <p:sp>
        <p:nvSpPr>
          <p:cNvPr id="12" name="Text 10"/>
          <p:cNvSpPr/>
          <p:nvPr/>
        </p:nvSpPr>
        <p:spPr>
          <a:xfrm>
            <a:off x="4709160" y="347472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Montserrat" pitchFamily="34" charset="0"/>
                <a:ea typeface="Montserrat" pitchFamily="34" charset="-122"/>
                <a:cs typeface="Montserrat" pitchFamily="34" charset="-120"/>
              </a:rPr>
              <a:t>2</a:t>
            </a:r>
            <a:endParaRPr lang="en-US" sz="1600" dirty="0"/>
          </a:p>
        </p:txBody>
      </p:sp>
      <p:sp>
        <p:nvSpPr>
          <p:cNvPr id="13" name="Text 11"/>
          <p:cNvSpPr/>
          <p:nvPr/>
        </p:nvSpPr>
        <p:spPr>
          <a:xfrm>
            <a:off x="5212080" y="3493008"/>
            <a:ext cx="2468880" cy="457200"/>
          </a:xfrm>
          <a:prstGeom prst="rect">
            <a:avLst/>
          </a:prstGeom>
          <a:noFill/>
          <a:ln/>
        </p:spPr>
        <p:txBody>
          <a:bodyPr wrap="square" lIns="0" tIns="0" rIns="0" bIns="0" rtlCol="0" anchor="ctr"/>
          <a:lstStyle/>
          <a:p>
            <a:pPr indent="0" marL="0">
              <a:buNone/>
            </a:pPr>
            <a:r>
              <a:rPr lang="en-US" sz="1900" b="1" dirty="0">
                <a:solidFill>
                  <a:srgbClr val="21314D"/>
                </a:solidFill>
                <a:latin typeface="Montserrat" pitchFamily="34" charset="0"/>
                <a:ea typeface="Montserrat" pitchFamily="34" charset="-122"/>
                <a:cs typeface="Montserrat" pitchFamily="34" charset="-120"/>
              </a:rPr>
              <a:t>Practice</a:t>
            </a:r>
            <a:endParaRPr lang="en-US" sz="1900" dirty="0"/>
          </a:p>
        </p:txBody>
      </p:sp>
      <p:sp>
        <p:nvSpPr>
          <p:cNvPr id="14" name="Text 12"/>
          <p:cNvSpPr/>
          <p:nvPr/>
        </p:nvSpPr>
        <p:spPr>
          <a:xfrm>
            <a:off x="4709160" y="4114800"/>
            <a:ext cx="2834640" cy="1554480"/>
          </a:xfrm>
          <a:prstGeom prst="rect">
            <a:avLst/>
          </a:prstGeom>
          <a:noFill/>
          <a:ln/>
        </p:spPr>
        <p:txBody>
          <a:bodyPr wrap="square" rtlCol="0" anchor="t"/>
          <a:lstStyle/>
          <a:p>
            <a:pPr indent="0" marL="0">
              <a:buNone/>
            </a:pPr>
            <a:r>
              <a:rPr lang="en-US" sz="1400" dirty="0">
                <a:solidFill>
                  <a:srgbClr val="21314D"/>
                </a:solidFill>
                <a:latin typeface="Open Sans" pitchFamily="34" charset="0"/>
                <a:ea typeface="Open Sans" pitchFamily="34" charset="-122"/>
                <a:cs typeface="Open Sans" pitchFamily="34" charset="-120"/>
              </a:rPr>
              <a:t>A low-stakes exercise on a throwaway slice, instant feedback.</a:t>
            </a:r>
            <a:endParaRPr lang="en-US" sz="1400" dirty="0"/>
          </a:p>
        </p:txBody>
      </p:sp>
      <p:sp>
        <p:nvSpPr>
          <p:cNvPr id="15" name="Shape 13"/>
          <p:cNvSpPr/>
          <p:nvPr/>
        </p:nvSpPr>
        <p:spPr>
          <a:xfrm>
            <a:off x="8046720" y="3200400"/>
            <a:ext cx="3383280" cy="2651760"/>
          </a:xfrm>
          <a:prstGeom prst="roundRect">
            <a:avLst>
              <a:gd name="adj" fmla="val 3103"/>
            </a:avLst>
          </a:prstGeom>
          <a:solidFill>
            <a:srgbClr val="CFDCE9"/>
          </a:solidFill>
          <a:ln w="12700">
            <a:solidFill>
              <a:srgbClr val="879EC3"/>
            </a:solidFill>
            <a:prstDash val="solid"/>
          </a:ln>
        </p:spPr>
      </p:sp>
      <p:sp>
        <p:nvSpPr>
          <p:cNvPr id="16" name="Shape 14"/>
          <p:cNvSpPr/>
          <p:nvPr/>
        </p:nvSpPr>
        <p:spPr>
          <a:xfrm>
            <a:off x="8321040" y="3474720"/>
            <a:ext cx="384048" cy="384048"/>
          </a:xfrm>
          <a:prstGeom prst="ellipse">
            <a:avLst/>
          </a:prstGeom>
          <a:solidFill>
            <a:srgbClr val="09396C"/>
          </a:solidFill>
          <a:ln/>
        </p:spPr>
      </p:sp>
      <p:sp>
        <p:nvSpPr>
          <p:cNvPr id="17" name="Text 15"/>
          <p:cNvSpPr/>
          <p:nvPr/>
        </p:nvSpPr>
        <p:spPr>
          <a:xfrm>
            <a:off x="8321040" y="347472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Montserrat" pitchFamily="34" charset="0"/>
                <a:ea typeface="Montserrat" pitchFamily="34" charset="-122"/>
                <a:cs typeface="Montserrat" pitchFamily="34" charset="-120"/>
              </a:rPr>
              <a:t>3</a:t>
            </a:r>
            <a:endParaRPr lang="en-US" sz="1600" dirty="0"/>
          </a:p>
        </p:txBody>
      </p:sp>
      <p:sp>
        <p:nvSpPr>
          <p:cNvPr id="18" name="Text 16"/>
          <p:cNvSpPr/>
          <p:nvPr/>
        </p:nvSpPr>
        <p:spPr>
          <a:xfrm>
            <a:off x="8823960" y="3493008"/>
            <a:ext cx="2468880" cy="457200"/>
          </a:xfrm>
          <a:prstGeom prst="rect">
            <a:avLst/>
          </a:prstGeom>
          <a:noFill/>
          <a:ln/>
        </p:spPr>
        <p:txBody>
          <a:bodyPr wrap="square" lIns="0" tIns="0" rIns="0" bIns="0" rtlCol="0" anchor="ctr"/>
          <a:lstStyle/>
          <a:p>
            <a:pPr indent="0" marL="0">
              <a:buNone/>
            </a:pPr>
            <a:r>
              <a:rPr lang="en-US" sz="1900" b="1" dirty="0">
                <a:solidFill>
                  <a:srgbClr val="21314D"/>
                </a:solidFill>
                <a:latin typeface="Montserrat" pitchFamily="34" charset="0"/>
                <a:ea typeface="Montserrat" pitchFamily="34" charset="-122"/>
                <a:cs typeface="Montserrat" pitchFamily="34" charset="-120"/>
              </a:rPr>
              <a:t>Apply</a:t>
            </a:r>
            <a:endParaRPr lang="en-US" sz="1900" dirty="0"/>
          </a:p>
        </p:txBody>
      </p:sp>
      <p:sp>
        <p:nvSpPr>
          <p:cNvPr id="19" name="Text 17"/>
          <p:cNvSpPr/>
          <p:nvPr/>
        </p:nvSpPr>
        <p:spPr>
          <a:xfrm>
            <a:off x="8321040" y="4114800"/>
            <a:ext cx="2834640" cy="1554480"/>
          </a:xfrm>
          <a:prstGeom prst="rect">
            <a:avLst/>
          </a:prstGeom>
          <a:noFill/>
          <a:ln/>
        </p:spPr>
        <p:txBody>
          <a:bodyPr wrap="square" rtlCol="0" anchor="t"/>
          <a:lstStyle/>
          <a:p>
            <a:pPr indent="0" marL="0">
              <a:buNone/>
            </a:pPr>
            <a:r>
              <a:rPr lang="en-US" sz="1400" dirty="0">
                <a:solidFill>
                  <a:srgbClr val="21314D"/>
                </a:solidFill>
                <a:latin typeface="Open Sans" pitchFamily="34" charset="0"/>
                <a:ea typeface="Open Sans" pitchFamily="34" charset="-122"/>
                <a:cs typeface="Open Sans" pitchFamily="34" charset="-120"/>
              </a:rPr>
              <a:t>The 10-Minute Executive Brief: the graded simulation on your own project.</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02920"/>
            <a:ext cx="10058400" cy="457200"/>
          </a:xfrm>
          <a:prstGeom prst="rect">
            <a:avLst/>
          </a:prstGeom>
          <a:noFill/>
          <a:ln/>
        </p:spPr>
        <p:txBody>
          <a:bodyPr wrap="square" rtlCol="0" anchor="ctr"/>
          <a:lstStyle/>
          <a:p>
            <a:pPr indent="0" marL="0">
              <a:buNone/>
            </a:pPr>
            <a:r>
              <a:rPr lang="en-US" sz="2600" b="1" dirty="0">
                <a:solidFill>
                  <a:srgbClr val="21314D"/>
                </a:solidFill>
                <a:latin typeface="Montserrat" pitchFamily="34" charset="0"/>
                <a:ea typeface="Montserrat" pitchFamily="34" charset="-122"/>
                <a:cs typeface="Montserrat" pitchFamily="34" charset="-120"/>
              </a:rPr>
              <a:t>Key concepts</a:t>
            </a:r>
            <a:endParaRPr lang="en-US" sz="2600" dirty="0"/>
          </a:p>
        </p:txBody>
      </p:sp>
      <p:sp>
        <p:nvSpPr>
          <p:cNvPr id="3" name="Shape 1"/>
          <p:cNvSpPr/>
          <p:nvPr/>
        </p:nvSpPr>
        <p:spPr>
          <a:xfrm>
            <a:off x="822960" y="1463040"/>
            <a:ext cx="384048" cy="384048"/>
          </a:xfrm>
          <a:prstGeom prst="ellipse">
            <a:avLst/>
          </a:prstGeom>
          <a:solidFill>
            <a:srgbClr val="21314D"/>
          </a:solidFill>
          <a:ln/>
        </p:spPr>
      </p:sp>
      <p:sp>
        <p:nvSpPr>
          <p:cNvPr id="4" name="Text 2"/>
          <p:cNvSpPr/>
          <p:nvPr/>
        </p:nvSpPr>
        <p:spPr>
          <a:xfrm>
            <a:off x="822960" y="146304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Montserrat" pitchFamily="34" charset="0"/>
                <a:ea typeface="Montserrat" pitchFamily="34" charset="-122"/>
                <a:cs typeface="Montserrat" pitchFamily="34" charset="-120"/>
              </a:rPr>
              <a:t>1</a:t>
            </a:r>
            <a:endParaRPr lang="en-US" sz="1600" dirty="0"/>
          </a:p>
        </p:txBody>
      </p:sp>
      <p:sp>
        <p:nvSpPr>
          <p:cNvPr id="5" name="Text 3"/>
          <p:cNvSpPr/>
          <p:nvPr/>
        </p:nvSpPr>
        <p:spPr>
          <a:xfrm>
            <a:off x="1417320" y="1417320"/>
            <a:ext cx="10058400" cy="457200"/>
          </a:xfrm>
          <a:prstGeom prst="rect">
            <a:avLst/>
          </a:prstGeom>
          <a:noFill/>
          <a:ln/>
        </p:spPr>
        <p:txBody>
          <a:bodyPr wrap="square" lIns="0" tIns="0" rIns="0" bIns="0" rtlCol="0" anchor="ctr"/>
          <a:lstStyle/>
          <a:p>
            <a:pPr indent="0" marL="0">
              <a:buNone/>
            </a:pPr>
            <a:r>
              <a:rPr lang="en-US" sz="1900" b="1" dirty="0">
                <a:solidFill>
                  <a:srgbClr val="21314D"/>
                </a:solidFill>
                <a:latin typeface="Montserrat" pitchFamily="34" charset="0"/>
                <a:ea typeface="Montserrat" pitchFamily="34" charset="-122"/>
                <a:cs typeface="Montserrat" pitchFamily="34" charset="-120"/>
              </a:rPr>
              <a:t>EDA is a conversation with the data</a:t>
            </a:r>
            <a:endParaRPr lang="en-US" sz="1900" dirty="0"/>
          </a:p>
        </p:txBody>
      </p:sp>
      <p:sp>
        <p:nvSpPr>
          <p:cNvPr id="6" name="Text 4"/>
          <p:cNvSpPr/>
          <p:nvPr/>
        </p:nvSpPr>
        <p:spPr>
          <a:xfrm>
            <a:off x="1417320" y="1874520"/>
            <a:ext cx="9875520" cy="960120"/>
          </a:xfrm>
          <a:prstGeom prst="rect">
            <a:avLst/>
          </a:prstGeom>
          <a:noFill/>
          <a:ln/>
        </p:spPr>
        <p:txBody>
          <a:bodyPr wrap="square" lIns="0" tIns="0" rIns="0" bIns="0" rtlCol="0" anchor="t"/>
          <a:lstStyle/>
          <a:p>
            <a:pPr indent="0" marL="0">
              <a:buNone/>
            </a:pPr>
            <a:r>
              <a:rPr lang="en-US" sz="1500" dirty="0">
                <a:solidFill>
                  <a:srgbClr val="75757D"/>
                </a:solidFill>
                <a:latin typeface="Open Sans" pitchFamily="34" charset="0"/>
                <a:ea typeface="Open Sans" pitchFamily="34" charset="-122"/>
                <a:cs typeface="Open Sans" pitchFamily="34" charset="-120"/>
              </a:rPr>
              <a:t>Distribution, relationship, anomaly. Understand the data before any model touches it.</a:t>
            </a:r>
            <a:endParaRPr lang="en-US" sz="1500" dirty="0"/>
          </a:p>
        </p:txBody>
      </p:sp>
      <p:sp>
        <p:nvSpPr>
          <p:cNvPr id="7" name="Shape 5"/>
          <p:cNvSpPr/>
          <p:nvPr/>
        </p:nvSpPr>
        <p:spPr>
          <a:xfrm>
            <a:off x="822960" y="3063240"/>
            <a:ext cx="384048" cy="384048"/>
          </a:xfrm>
          <a:prstGeom prst="ellipse">
            <a:avLst/>
          </a:prstGeom>
          <a:solidFill>
            <a:srgbClr val="09396C"/>
          </a:solidFill>
          <a:ln/>
        </p:spPr>
      </p:sp>
      <p:sp>
        <p:nvSpPr>
          <p:cNvPr id="8" name="Text 6"/>
          <p:cNvSpPr/>
          <p:nvPr/>
        </p:nvSpPr>
        <p:spPr>
          <a:xfrm>
            <a:off x="822960" y="306324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Montserrat" pitchFamily="34" charset="0"/>
                <a:ea typeface="Montserrat" pitchFamily="34" charset="-122"/>
                <a:cs typeface="Montserrat" pitchFamily="34" charset="-120"/>
              </a:rPr>
              <a:t>2</a:t>
            </a:r>
            <a:endParaRPr lang="en-US" sz="1600" dirty="0"/>
          </a:p>
        </p:txBody>
      </p:sp>
      <p:sp>
        <p:nvSpPr>
          <p:cNvPr id="9" name="Text 7"/>
          <p:cNvSpPr/>
          <p:nvPr/>
        </p:nvSpPr>
        <p:spPr>
          <a:xfrm>
            <a:off x="1417320" y="3017520"/>
            <a:ext cx="10058400" cy="457200"/>
          </a:xfrm>
          <a:prstGeom prst="rect">
            <a:avLst/>
          </a:prstGeom>
          <a:noFill/>
          <a:ln/>
        </p:spPr>
        <p:txBody>
          <a:bodyPr wrap="square" lIns="0" tIns="0" rIns="0" bIns="0" rtlCol="0" anchor="ctr"/>
          <a:lstStyle/>
          <a:p>
            <a:pPr indent="0" marL="0">
              <a:buNone/>
            </a:pPr>
            <a:r>
              <a:rPr lang="en-US" sz="1900" b="1" dirty="0">
                <a:solidFill>
                  <a:srgbClr val="21314D"/>
                </a:solidFill>
                <a:latin typeface="Montserrat" pitchFamily="34" charset="0"/>
                <a:ea typeface="Montserrat" pitchFamily="34" charset="-122"/>
                <a:cs typeface="Montserrat" pitchFamily="34" charset="-120"/>
              </a:rPr>
              <a:t>The honest figure</a:t>
            </a:r>
            <a:endParaRPr lang="en-US" sz="1900" dirty="0"/>
          </a:p>
        </p:txBody>
      </p:sp>
      <p:sp>
        <p:nvSpPr>
          <p:cNvPr id="10" name="Text 8"/>
          <p:cNvSpPr/>
          <p:nvPr/>
        </p:nvSpPr>
        <p:spPr>
          <a:xfrm>
            <a:off x="1417320" y="3474720"/>
            <a:ext cx="9875520" cy="960120"/>
          </a:xfrm>
          <a:prstGeom prst="rect">
            <a:avLst/>
          </a:prstGeom>
          <a:noFill/>
          <a:ln/>
        </p:spPr>
        <p:txBody>
          <a:bodyPr wrap="square" lIns="0" tIns="0" rIns="0" bIns="0" rtlCol="0" anchor="t"/>
          <a:lstStyle/>
          <a:p>
            <a:pPr indent="0" marL="0">
              <a:buNone/>
            </a:pPr>
            <a:r>
              <a:rPr lang="en-US" sz="1500" dirty="0">
                <a:solidFill>
                  <a:srgbClr val="75757D"/>
                </a:solidFill>
                <a:latin typeface="Open Sans" pitchFamily="34" charset="0"/>
                <a:ea typeface="Open Sans" pitchFamily="34" charset="-122"/>
                <a:cs typeface="Open Sans" pitchFamily="34" charset="-120"/>
              </a:rPr>
              <a:t>Encoding, color, and proportional ink. A chart's job is a decision, not decoration.</a:t>
            </a:r>
            <a:endParaRPr lang="en-US" sz="1500" dirty="0"/>
          </a:p>
        </p:txBody>
      </p:sp>
      <p:sp>
        <p:nvSpPr>
          <p:cNvPr id="11" name="Shape 9"/>
          <p:cNvSpPr/>
          <p:nvPr/>
        </p:nvSpPr>
        <p:spPr>
          <a:xfrm>
            <a:off x="822960" y="4663440"/>
            <a:ext cx="384048" cy="384048"/>
          </a:xfrm>
          <a:prstGeom prst="ellipse">
            <a:avLst/>
          </a:prstGeom>
          <a:solidFill>
            <a:srgbClr val="0272DE"/>
          </a:solidFill>
          <a:ln/>
        </p:spPr>
      </p:sp>
      <p:sp>
        <p:nvSpPr>
          <p:cNvPr id="12" name="Text 10"/>
          <p:cNvSpPr/>
          <p:nvPr/>
        </p:nvSpPr>
        <p:spPr>
          <a:xfrm>
            <a:off x="822960" y="466344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Montserrat" pitchFamily="34" charset="0"/>
                <a:ea typeface="Montserrat" pitchFamily="34" charset="-122"/>
                <a:cs typeface="Montserrat" pitchFamily="34" charset="-120"/>
              </a:rPr>
              <a:t>3</a:t>
            </a:r>
            <a:endParaRPr lang="en-US" sz="1600" dirty="0"/>
          </a:p>
        </p:txBody>
      </p:sp>
      <p:sp>
        <p:nvSpPr>
          <p:cNvPr id="13" name="Text 11"/>
          <p:cNvSpPr/>
          <p:nvPr/>
        </p:nvSpPr>
        <p:spPr>
          <a:xfrm>
            <a:off x="1417320" y="4617720"/>
            <a:ext cx="10058400" cy="457200"/>
          </a:xfrm>
          <a:prstGeom prst="rect">
            <a:avLst/>
          </a:prstGeom>
          <a:noFill/>
          <a:ln/>
        </p:spPr>
        <p:txBody>
          <a:bodyPr wrap="square" lIns="0" tIns="0" rIns="0" bIns="0" rtlCol="0" anchor="ctr"/>
          <a:lstStyle/>
          <a:p>
            <a:pPr indent="0" marL="0">
              <a:buNone/>
            </a:pPr>
            <a:r>
              <a:rPr lang="en-US" sz="1900" b="1" dirty="0">
                <a:solidFill>
                  <a:srgbClr val="21314D"/>
                </a:solidFill>
                <a:latin typeface="Montserrat" pitchFamily="34" charset="0"/>
                <a:ea typeface="Montserrat" pitchFamily="34" charset="-122"/>
                <a:cs typeface="Montserrat" pitchFamily="34" charset="-120"/>
              </a:rPr>
              <a:t>Brief the decision, not the analysis</a:t>
            </a:r>
            <a:endParaRPr lang="en-US" sz="1900" dirty="0"/>
          </a:p>
        </p:txBody>
      </p:sp>
      <p:sp>
        <p:nvSpPr>
          <p:cNvPr id="14" name="Text 12"/>
          <p:cNvSpPr/>
          <p:nvPr/>
        </p:nvSpPr>
        <p:spPr>
          <a:xfrm>
            <a:off x="1417320" y="5074920"/>
            <a:ext cx="9875520" cy="960120"/>
          </a:xfrm>
          <a:prstGeom prst="rect">
            <a:avLst/>
          </a:prstGeom>
          <a:noFill/>
          <a:ln/>
        </p:spPr>
        <p:txBody>
          <a:bodyPr wrap="square" lIns="0" tIns="0" rIns="0" bIns="0" rtlCol="0" anchor="t"/>
          <a:lstStyle/>
          <a:p>
            <a:pPr indent="0" marL="0">
              <a:buNone/>
            </a:pPr>
            <a:r>
              <a:rPr lang="en-US" sz="1500" dirty="0">
                <a:solidFill>
                  <a:srgbClr val="75757D"/>
                </a:solidFill>
                <a:latin typeface="Open Sans" pitchFamily="34" charset="0"/>
                <a:ea typeface="Open Sans" pitchFamily="34" charset="-122"/>
                <a:cs typeface="Open Sans" pitchFamily="34" charset="-120"/>
              </a:rPr>
              <a:t>Lead with the takeaway; state uncertainty in words a VP can act on in five minutes.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02920"/>
            <a:ext cx="10058400" cy="457200"/>
          </a:xfrm>
          <a:prstGeom prst="rect">
            <a:avLst/>
          </a:prstGeom>
          <a:noFill/>
          <a:ln/>
        </p:spPr>
        <p:txBody>
          <a:bodyPr wrap="square" rtlCol="0" anchor="ctr"/>
          <a:lstStyle/>
          <a:p>
            <a:pPr indent="0" marL="0">
              <a:buNone/>
            </a:pPr>
            <a:r>
              <a:rPr lang="en-US" sz="2600" b="1" dirty="0">
                <a:solidFill>
                  <a:srgbClr val="21314D"/>
                </a:solidFill>
                <a:latin typeface="Montserrat" pitchFamily="34" charset="0"/>
                <a:ea typeface="Montserrat" pitchFamily="34" charset="-122"/>
                <a:cs typeface="Montserrat" pitchFamily="34" charset="-120"/>
              </a:rPr>
              <a:t>Explore it, then practice</a:t>
            </a:r>
            <a:endParaRPr lang="en-US" sz="2600" dirty="0"/>
          </a:p>
        </p:txBody>
      </p:sp>
      <p:sp>
        <p:nvSpPr>
          <p:cNvPr id="3" name="Shape 1"/>
          <p:cNvSpPr/>
          <p:nvPr/>
        </p:nvSpPr>
        <p:spPr>
          <a:xfrm>
            <a:off x="822960" y="1371600"/>
            <a:ext cx="5212080" cy="4297680"/>
          </a:xfrm>
          <a:prstGeom prst="roundRect">
            <a:avLst>
              <a:gd name="adj" fmla="val 1915"/>
            </a:avLst>
          </a:prstGeom>
          <a:solidFill>
            <a:srgbClr val="CFDCE9"/>
          </a:solidFill>
          <a:ln w="12700">
            <a:solidFill>
              <a:srgbClr val="879EC3"/>
            </a:solidFill>
            <a:prstDash val="solid"/>
          </a:ln>
        </p:spPr>
      </p:sp>
      <p:sp>
        <p:nvSpPr>
          <p:cNvPr id="4" name="Text 2"/>
          <p:cNvSpPr/>
          <p:nvPr/>
        </p:nvSpPr>
        <p:spPr>
          <a:xfrm>
            <a:off x="1097280" y="1600200"/>
            <a:ext cx="4663440" cy="365760"/>
          </a:xfrm>
          <a:prstGeom prst="rect">
            <a:avLst/>
          </a:prstGeom>
          <a:noFill/>
          <a:ln/>
        </p:spPr>
        <p:txBody>
          <a:bodyPr wrap="square" rtlCol="0" anchor="ctr"/>
          <a:lstStyle/>
          <a:p>
            <a:pPr indent="0" marL="0">
              <a:buNone/>
            </a:pPr>
            <a:r>
              <a:rPr lang="en-US" sz="1300" b="1" spc="100" kern="0" dirty="0">
                <a:solidFill>
                  <a:srgbClr val="09396C"/>
                </a:solidFill>
                <a:latin typeface="Open Sans" pitchFamily="34" charset="0"/>
                <a:ea typeface="Open Sans" pitchFamily="34" charset="-122"/>
                <a:cs typeface="Open Sans" pitchFamily="34" charset="-120"/>
              </a:rPr>
              <a:t>Explore  (interactive)</a:t>
            </a:r>
            <a:endParaRPr lang="en-US" sz="1300" dirty="0"/>
          </a:p>
        </p:txBody>
      </p:sp>
      <p:sp>
        <p:nvSpPr>
          <p:cNvPr id="5" name="Text 3"/>
          <p:cNvSpPr/>
          <p:nvPr/>
        </p:nvSpPr>
        <p:spPr>
          <a:xfrm>
            <a:off x="1097280" y="1965960"/>
            <a:ext cx="4663440" cy="822960"/>
          </a:xfrm>
          <a:prstGeom prst="rect">
            <a:avLst/>
          </a:prstGeom>
          <a:noFill/>
          <a:ln/>
        </p:spPr>
        <p:txBody>
          <a:bodyPr wrap="square" rtlCol="0" anchor="ctr"/>
          <a:lstStyle/>
          <a:p>
            <a:pPr indent="0" marL="0">
              <a:buNone/>
            </a:pPr>
            <a:r>
              <a:rPr lang="en-US" sz="1800" b="1" dirty="0">
                <a:solidFill>
                  <a:srgbClr val="21314D"/>
                </a:solidFill>
                <a:latin typeface="Montserrat" pitchFamily="34" charset="0"/>
                <a:ea typeface="Montserrat" pitchFamily="34" charset="-122"/>
                <a:cs typeface="Montserrat" pitchFamily="34" charset="-120"/>
              </a:rPr>
              <a:t>Google Facets + Data-to-Viz</a:t>
            </a:r>
            <a:endParaRPr lang="en-US" sz="1800" dirty="0"/>
          </a:p>
        </p:txBody>
      </p:sp>
      <p:sp>
        <p:nvSpPr>
          <p:cNvPr id="6" name="Text 4"/>
          <p:cNvSpPr/>
          <p:nvPr/>
        </p:nvSpPr>
        <p:spPr>
          <a:xfrm>
            <a:off x="1097280" y="2880360"/>
            <a:ext cx="4663440" cy="2560320"/>
          </a:xfrm>
          <a:prstGeom prst="rect">
            <a:avLst/>
          </a:prstGeom>
          <a:noFill/>
          <a:ln/>
        </p:spPr>
        <p:txBody>
          <a:bodyPr wrap="square" rtlCol="0" anchor="t"/>
          <a:lstStyle/>
          <a:p>
            <a:pPr indent="0" marL="0">
              <a:buNone/>
            </a:pPr>
            <a:r>
              <a:rPr lang="en-US" sz="1500" dirty="0">
                <a:solidFill>
                  <a:srgbClr val="21314D"/>
                </a:solidFill>
                <a:latin typeface="Open Sans" pitchFamily="34" charset="0"/>
                <a:ea typeface="Open Sans" pitchFamily="34" charset="-122"/>
                <a:cs typeface="Open Sans" pitchFamily="34" charset="-120"/>
              </a:rPr>
              <a:t>Sort features by distribution to surface skew and missingness; choose an encoding by communicative intent.</a:t>
            </a:r>
            <a:endParaRPr lang="en-US" sz="1500" dirty="0"/>
          </a:p>
        </p:txBody>
      </p:sp>
      <p:sp>
        <p:nvSpPr>
          <p:cNvPr id="7" name="Shape 5"/>
          <p:cNvSpPr/>
          <p:nvPr/>
        </p:nvSpPr>
        <p:spPr>
          <a:xfrm>
            <a:off x="6309360" y="1371600"/>
            <a:ext cx="5029200" cy="4297680"/>
          </a:xfrm>
          <a:prstGeom prst="roundRect">
            <a:avLst>
              <a:gd name="adj" fmla="val 1915"/>
            </a:avLst>
          </a:prstGeom>
          <a:solidFill>
            <a:srgbClr val="FFFFFF"/>
          </a:solidFill>
          <a:ln w="12700">
            <a:solidFill>
              <a:srgbClr val="879EC3"/>
            </a:solidFill>
            <a:prstDash val="solid"/>
          </a:ln>
        </p:spPr>
      </p:sp>
      <p:sp>
        <p:nvSpPr>
          <p:cNvPr id="8" name="Text 6"/>
          <p:cNvSpPr/>
          <p:nvPr/>
        </p:nvSpPr>
        <p:spPr>
          <a:xfrm>
            <a:off x="6583680" y="1600200"/>
            <a:ext cx="4572000" cy="365760"/>
          </a:xfrm>
          <a:prstGeom prst="rect">
            <a:avLst/>
          </a:prstGeom>
          <a:noFill/>
          <a:ln/>
        </p:spPr>
        <p:txBody>
          <a:bodyPr wrap="square" rtlCol="0" anchor="ctr"/>
          <a:lstStyle/>
          <a:p>
            <a:pPr indent="0" marL="0">
              <a:buNone/>
            </a:pPr>
            <a:r>
              <a:rPr lang="en-US" sz="1300" b="1" spc="100" kern="0" dirty="0">
                <a:solidFill>
                  <a:srgbClr val="09396C"/>
                </a:solidFill>
                <a:latin typeface="Open Sans" pitchFamily="34" charset="0"/>
                <a:ea typeface="Open Sans" pitchFamily="34" charset="-122"/>
                <a:cs typeface="Open Sans" pitchFamily="34" charset="-120"/>
              </a:rPr>
              <a:t>Practice  (formative, low-stakes)</a:t>
            </a:r>
            <a:endParaRPr lang="en-US" sz="1300" dirty="0"/>
          </a:p>
        </p:txBody>
      </p:sp>
      <p:sp>
        <p:nvSpPr>
          <p:cNvPr id="9" name="Text 7"/>
          <p:cNvSpPr/>
          <p:nvPr/>
        </p:nvSpPr>
        <p:spPr>
          <a:xfrm>
            <a:off x="6583680" y="2057400"/>
            <a:ext cx="4480560" cy="3291840"/>
          </a:xfrm>
          <a:prstGeom prst="rect">
            <a:avLst/>
          </a:prstGeom>
          <a:noFill/>
          <a:ln/>
        </p:spPr>
        <p:txBody>
          <a:bodyPr wrap="square" rtlCol="0" anchor="t"/>
          <a:lstStyle/>
          <a:p>
            <a:pPr indent="0" marL="0">
              <a:buNone/>
            </a:pPr>
            <a:r>
              <a:rPr lang="en-US" sz="1600" dirty="0">
                <a:solidFill>
                  <a:srgbClr val="21314D"/>
                </a:solidFill>
                <a:latin typeface="Open Sans" pitchFamily="34" charset="0"/>
                <a:ea typeface="Open Sans" pitchFamily="34" charset="-122"/>
                <a:cs typeface="Open Sans" pitchFamily="34" charset="-120"/>
              </a:rPr>
              <a:t>Remake one misleading chart honestly, and write a structured critique of a live stakeholder dashboard.</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02920"/>
            <a:ext cx="7315200" cy="457200"/>
          </a:xfrm>
          <a:prstGeom prst="rect">
            <a:avLst/>
          </a:prstGeom>
          <a:noFill/>
          <a:ln/>
        </p:spPr>
        <p:txBody>
          <a:bodyPr wrap="square" rtlCol="0" anchor="ctr"/>
          <a:lstStyle/>
          <a:p>
            <a:pPr indent="0" marL="0">
              <a:buNone/>
            </a:pPr>
            <a:r>
              <a:rPr lang="en-US" sz="2600" b="1" dirty="0">
                <a:solidFill>
                  <a:srgbClr val="21314D"/>
                </a:solidFill>
                <a:latin typeface="Montserrat" pitchFamily="34" charset="0"/>
                <a:ea typeface="Montserrat" pitchFamily="34" charset="-122"/>
                <a:cs typeface="Montserrat" pitchFamily="34" charset="-120"/>
              </a:rPr>
              <a:t>Apply it</a:t>
            </a:r>
            <a:endParaRPr lang="en-US" sz="2600" dirty="0"/>
          </a:p>
        </p:txBody>
      </p:sp>
      <p:sp>
        <p:nvSpPr>
          <p:cNvPr id="3" name="Text 1"/>
          <p:cNvSpPr/>
          <p:nvPr/>
        </p:nvSpPr>
        <p:spPr>
          <a:xfrm>
            <a:off x="822960" y="1024128"/>
            <a:ext cx="10058400" cy="320040"/>
          </a:xfrm>
          <a:prstGeom prst="rect">
            <a:avLst/>
          </a:prstGeom>
          <a:noFill/>
          <a:ln/>
        </p:spPr>
        <p:txBody>
          <a:bodyPr wrap="square" rtlCol="0" anchor="ctr"/>
          <a:lstStyle/>
          <a:p>
            <a:pPr indent="0" marL="0">
              <a:buNone/>
            </a:pPr>
            <a:r>
              <a:rPr lang="en-US" sz="1300" b="1" spc="100" kern="0" dirty="0">
                <a:solidFill>
                  <a:srgbClr val="09396C"/>
                </a:solidFill>
                <a:latin typeface="Open Sans" pitchFamily="34" charset="0"/>
                <a:ea typeface="Open Sans" pitchFamily="34" charset="-122"/>
                <a:cs typeface="Open Sans" pitchFamily="34" charset="-120"/>
              </a:rPr>
              <a:t>Authentic assessment · simulation</a:t>
            </a:r>
            <a:endParaRPr lang="en-US" sz="1300" dirty="0"/>
          </a:p>
        </p:txBody>
      </p:sp>
      <p:sp>
        <p:nvSpPr>
          <p:cNvPr id="4" name="Shape 2"/>
          <p:cNvSpPr/>
          <p:nvPr/>
        </p:nvSpPr>
        <p:spPr>
          <a:xfrm>
            <a:off x="822960" y="1463040"/>
            <a:ext cx="10515600" cy="1783080"/>
          </a:xfrm>
          <a:prstGeom prst="roundRect">
            <a:avLst>
              <a:gd name="adj" fmla="val 4615"/>
            </a:avLst>
          </a:prstGeom>
          <a:solidFill>
            <a:srgbClr val="CFDCE9"/>
          </a:solidFill>
          <a:ln w="12700">
            <a:solidFill>
              <a:srgbClr val="879EC3"/>
            </a:solidFill>
            <a:prstDash val="solid"/>
          </a:ln>
        </p:spPr>
      </p:sp>
      <p:sp>
        <p:nvSpPr>
          <p:cNvPr id="5" name="Text 3"/>
          <p:cNvSpPr/>
          <p:nvPr/>
        </p:nvSpPr>
        <p:spPr>
          <a:xfrm>
            <a:off x="1097280" y="1627632"/>
            <a:ext cx="10058400" cy="457200"/>
          </a:xfrm>
          <a:prstGeom prst="rect">
            <a:avLst/>
          </a:prstGeom>
          <a:noFill/>
          <a:ln/>
        </p:spPr>
        <p:txBody>
          <a:bodyPr wrap="square" lIns="0" tIns="0" rIns="0" bIns="0" rtlCol="0" anchor="ctr"/>
          <a:lstStyle/>
          <a:p>
            <a:pPr indent="0" marL="0">
              <a:buNone/>
            </a:pPr>
            <a:r>
              <a:rPr lang="en-US" sz="2000" b="1" dirty="0">
                <a:solidFill>
                  <a:srgbClr val="21314D"/>
                </a:solidFill>
                <a:latin typeface="Montserrat" pitchFamily="34" charset="0"/>
                <a:ea typeface="Montserrat" pitchFamily="34" charset="-122"/>
                <a:cs typeface="Montserrat" pitchFamily="34" charset="-120"/>
              </a:rPr>
              <a:t>The 10-Minute Executive Brief</a:t>
            </a:r>
            <a:endParaRPr lang="en-US" sz="2000" dirty="0"/>
          </a:p>
        </p:txBody>
      </p:sp>
      <p:sp>
        <p:nvSpPr>
          <p:cNvPr id="6" name="Text 4"/>
          <p:cNvSpPr/>
          <p:nvPr/>
        </p:nvSpPr>
        <p:spPr>
          <a:xfrm>
            <a:off x="1097280" y="2121408"/>
            <a:ext cx="10058400" cy="1005840"/>
          </a:xfrm>
          <a:prstGeom prst="rect">
            <a:avLst/>
          </a:prstGeom>
          <a:noFill/>
          <a:ln/>
        </p:spPr>
        <p:txBody>
          <a:bodyPr wrap="square" lIns="0" tIns="0" rIns="0" bIns="0" rtlCol="0" anchor="t"/>
          <a:lstStyle/>
          <a:p>
            <a:pPr indent="0" marL="0">
              <a:buNone/>
            </a:pPr>
            <a:r>
              <a:rPr lang="en-US" sz="1450" dirty="0">
                <a:solidFill>
                  <a:srgbClr val="21314D"/>
                </a:solidFill>
                <a:latin typeface="Open Sans" pitchFamily="34" charset="0"/>
                <a:ea typeface="Open Sans" pitchFamily="34" charset="-122"/>
                <a:cs typeface="Open Sans" pitchFamily="34" charset="-120"/>
              </a:rPr>
              <a:t>A non-technical VP sends a real decision and five minutes. Deliver a jargon-free one-page memo and a five-minute briefing, defended live against unscripted follow-ups about this dataset.</a:t>
            </a:r>
            <a:endParaRPr lang="en-US" sz="1450" dirty="0"/>
          </a:p>
        </p:txBody>
      </p:sp>
      <p:sp>
        <p:nvSpPr>
          <p:cNvPr id="7" name="Text 5"/>
          <p:cNvSpPr/>
          <p:nvPr/>
        </p:nvSpPr>
        <p:spPr>
          <a:xfrm>
            <a:off x="822960" y="3520440"/>
            <a:ext cx="10515600" cy="822960"/>
          </a:xfrm>
          <a:prstGeom prst="rect">
            <a:avLst/>
          </a:prstGeom>
          <a:noFill/>
          <a:ln/>
        </p:spPr>
        <p:txBody>
          <a:bodyPr wrap="square" rtlCol="0" anchor="t"/>
          <a:lstStyle/>
          <a:p>
            <a:pPr indent="0" marL="0">
              <a:buNone/>
            </a:pPr>
            <a:r>
              <a:rPr lang="en-US" sz="1450" b="1" dirty="0">
                <a:solidFill>
                  <a:srgbClr val="21314D"/>
                </a:solidFill>
                <a:latin typeface="Open Sans" pitchFamily="34" charset="0"/>
                <a:ea typeface="Open Sans" pitchFamily="34" charset="-122"/>
                <a:cs typeface="Open Sans" pitchFamily="34" charset="-120"/>
              </a:rPr>
              <a:t>What is assessed.  </a:t>
            </a:r>
            <a:pPr indent="0" marL="0">
              <a:buNone/>
            </a:pPr>
            <a:r>
              <a:rPr lang="en-US" sz="1450" dirty="0">
                <a:solidFill>
                  <a:srgbClr val="21314D"/>
                </a:solidFill>
                <a:latin typeface="Open Sans" pitchFamily="34" charset="0"/>
                <a:ea typeface="Open Sans" pitchFamily="34" charset="-122"/>
                <a:cs typeface="Open Sans" pitchFamily="34" charset="-120"/>
              </a:rPr>
              <a:t>Clarity for a non-technical audience, honesty of the figures, quality of the live defense.</a:t>
            </a:r>
            <a:endParaRPr lang="en-US" sz="1450" dirty="0"/>
          </a:p>
        </p:txBody>
      </p:sp>
      <p:sp>
        <p:nvSpPr>
          <p:cNvPr id="8" name="Text 6"/>
          <p:cNvSpPr/>
          <p:nvPr/>
        </p:nvSpPr>
        <p:spPr>
          <a:xfrm>
            <a:off x="822960" y="4343400"/>
            <a:ext cx="10515600" cy="822960"/>
          </a:xfrm>
          <a:prstGeom prst="rect">
            <a:avLst/>
          </a:prstGeom>
          <a:noFill/>
          <a:ln/>
        </p:spPr>
        <p:txBody>
          <a:bodyPr wrap="square" rtlCol="0" anchor="t"/>
          <a:lstStyle/>
          <a:p>
            <a:pPr indent="0" marL="0">
              <a:buNone/>
            </a:pPr>
            <a:r>
              <a:rPr lang="en-US" sz="1450" b="1" dirty="0">
                <a:solidFill>
                  <a:srgbClr val="21314D"/>
                </a:solidFill>
                <a:latin typeface="Open Sans" pitchFamily="34" charset="0"/>
                <a:ea typeface="Open Sans" pitchFamily="34" charset="-122"/>
                <a:cs typeface="Open Sans" pitchFamily="34" charset="-120"/>
              </a:rPr>
              <a:t>Software you will need.  </a:t>
            </a:r>
            <a:pPr indent="0" marL="0">
              <a:buNone/>
            </a:pPr>
            <a:r>
              <a:rPr lang="en-US" sz="1450" dirty="0">
                <a:solidFill>
                  <a:srgbClr val="21314D"/>
                </a:solidFill>
                <a:latin typeface="Open Sans" pitchFamily="34" charset="0"/>
                <a:ea typeface="Open Sans" pitchFamily="34" charset="-122"/>
                <a:cs typeface="Open Sans" pitchFamily="34" charset="-120"/>
              </a:rPr>
              <a:t>Add a screen recorder for the briefing; caption the recording.</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1314D"/>
        </a:solidFill>
      </p:bgPr>
    </p:bg>
    <p:spTree>
      <p:nvGrpSpPr>
        <p:cNvPr id="1" name=""/>
        <p:cNvGrpSpPr/>
        <p:nvPr/>
      </p:nvGrpSpPr>
      <p:grpSpPr>
        <a:xfrm>
          <a:off x="0" y="0"/>
          <a:ext cx="0" cy="0"/>
          <a:chOff x="0" y="0"/>
          <a:chExt cx="0" cy="0"/>
        </a:xfrm>
      </p:grpSpPr>
      <p:sp>
        <p:nvSpPr>
          <p:cNvPr id="2" name="Text 0"/>
          <p:cNvSpPr/>
          <p:nvPr/>
        </p:nvSpPr>
        <p:spPr>
          <a:xfrm>
            <a:off x="822960" y="640080"/>
            <a:ext cx="10515600" cy="640080"/>
          </a:xfrm>
          <a:prstGeom prst="rect">
            <a:avLst/>
          </a:prstGeom>
          <a:noFill/>
          <a:ln/>
        </p:spPr>
        <p:txBody>
          <a:bodyPr wrap="square" rtlCol="0" anchor="ctr"/>
          <a:lstStyle/>
          <a:p>
            <a:pPr indent="0" marL="0">
              <a:buNone/>
            </a:pPr>
            <a:r>
              <a:rPr lang="en-US" sz="2600" b="1" dirty="0">
                <a:solidFill>
                  <a:srgbClr val="FFFFFF"/>
                </a:solidFill>
                <a:latin typeface="Montserrat" pitchFamily="34" charset="0"/>
                <a:ea typeface="Montserrat" pitchFamily="34" charset="-122"/>
                <a:cs typeface="Montserrat" pitchFamily="34" charset="-120"/>
              </a:rPr>
              <a:t>Submit, and what comes next</a:t>
            </a:r>
            <a:endParaRPr lang="en-US" sz="2600" dirty="0"/>
          </a:p>
        </p:txBody>
      </p:sp>
      <p:sp>
        <p:nvSpPr>
          <p:cNvPr id="3" name="Text 1"/>
          <p:cNvSpPr/>
          <p:nvPr/>
        </p:nvSpPr>
        <p:spPr>
          <a:xfrm>
            <a:off x="822960" y="1737360"/>
            <a:ext cx="10058400" cy="365760"/>
          </a:xfrm>
          <a:prstGeom prst="rect">
            <a:avLst/>
          </a:prstGeom>
          <a:noFill/>
          <a:ln/>
        </p:spPr>
        <p:txBody>
          <a:bodyPr wrap="square" rtlCol="0" anchor="ctr"/>
          <a:lstStyle/>
          <a:p>
            <a:pPr indent="0" marL="0">
              <a:buNone/>
            </a:pPr>
            <a:r>
              <a:rPr lang="en-US" sz="1400" b="1" spc="100" kern="0" dirty="0">
                <a:solidFill>
                  <a:srgbClr val="879EC3"/>
                </a:solidFill>
                <a:latin typeface="Open Sans" pitchFamily="34" charset="0"/>
                <a:ea typeface="Open Sans" pitchFamily="34" charset="-122"/>
                <a:cs typeface="Open Sans" pitchFamily="34" charset="-120"/>
              </a:rPr>
              <a:t>What to submit</a:t>
            </a:r>
            <a:endParaRPr lang="en-US" sz="1400" dirty="0"/>
          </a:p>
        </p:txBody>
      </p:sp>
      <p:sp>
        <p:nvSpPr>
          <p:cNvPr id="4" name="Text 2"/>
          <p:cNvSpPr/>
          <p:nvPr/>
        </p:nvSpPr>
        <p:spPr>
          <a:xfrm>
            <a:off x="822960" y="2148840"/>
            <a:ext cx="10332720" cy="1005840"/>
          </a:xfrm>
          <a:prstGeom prst="rect">
            <a:avLst/>
          </a:prstGeom>
          <a:noFill/>
          <a:ln/>
        </p:spPr>
        <p:txBody>
          <a:bodyPr wrap="square" rtlCol="0" anchor="t"/>
          <a:lstStyle/>
          <a:p>
            <a:pPr indent="0" marL="0">
              <a:buNone/>
            </a:pPr>
            <a:r>
              <a:rPr lang="en-US" sz="2200" dirty="0">
                <a:solidFill>
                  <a:srgbClr val="FFFFFF"/>
                </a:solidFill>
                <a:latin typeface="Montserrat" pitchFamily="34" charset="0"/>
                <a:ea typeface="Montserrat" pitchFamily="34" charset="-122"/>
                <a:cs typeface="Montserrat" pitchFamily="34" charset="-120"/>
              </a:rPr>
              <a:t>A visualization narrative, a stakeholder brief, and a recorded briefing.</a:t>
            </a:r>
            <a:endParaRPr lang="en-US" sz="2200" dirty="0"/>
          </a:p>
        </p:txBody>
      </p:sp>
      <p:sp>
        <p:nvSpPr>
          <p:cNvPr id="5" name="Text 3"/>
          <p:cNvSpPr/>
          <p:nvPr/>
        </p:nvSpPr>
        <p:spPr>
          <a:xfrm>
            <a:off x="822960" y="3840480"/>
            <a:ext cx="10058400" cy="365760"/>
          </a:xfrm>
          <a:prstGeom prst="rect">
            <a:avLst/>
          </a:prstGeom>
          <a:noFill/>
          <a:ln/>
        </p:spPr>
        <p:txBody>
          <a:bodyPr wrap="square" rtlCol="0" anchor="ctr"/>
          <a:lstStyle/>
          <a:p>
            <a:pPr indent="0" marL="0">
              <a:buNone/>
            </a:pPr>
            <a:r>
              <a:rPr lang="en-US" sz="1400" b="1" spc="100" kern="0" dirty="0">
                <a:solidFill>
                  <a:srgbClr val="879EC3"/>
                </a:solidFill>
                <a:latin typeface="Open Sans" pitchFamily="34" charset="0"/>
                <a:ea typeface="Open Sans" pitchFamily="34" charset="-122"/>
                <a:cs typeface="Open Sans" pitchFamily="34" charset="-120"/>
              </a:rPr>
              <a:t>How this feeds the whole</a:t>
            </a:r>
            <a:endParaRPr lang="en-US" sz="1400" dirty="0"/>
          </a:p>
        </p:txBody>
      </p:sp>
      <p:sp>
        <p:nvSpPr>
          <p:cNvPr id="6" name="Text 4"/>
          <p:cNvSpPr/>
          <p:nvPr/>
        </p:nvSpPr>
        <p:spPr>
          <a:xfrm>
            <a:off x="822960" y="4251960"/>
            <a:ext cx="10332720" cy="1280160"/>
          </a:xfrm>
          <a:prstGeom prst="rect">
            <a:avLst/>
          </a:prstGeom>
          <a:noFill/>
          <a:ln/>
        </p:spPr>
        <p:txBody>
          <a:bodyPr wrap="square" rtlCol="0" anchor="t"/>
          <a:lstStyle/>
          <a:p>
            <a:pPr indent="0" marL="0">
              <a:buNone/>
            </a:pPr>
            <a:r>
              <a:rPr lang="en-US" sz="1600" dirty="0">
                <a:solidFill>
                  <a:srgbClr val="CFDCE9"/>
                </a:solidFill>
                <a:latin typeface="Open Sans" pitchFamily="34" charset="0"/>
                <a:ea typeface="Open Sans" pitchFamily="34" charset="-122"/>
                <a:cs typeface="Open Sans" pitchFamily="34" charset="-120"/>
              </a:rPr>
              <a:t>This deliverable becomes one stage of the continuous capstone project, assembled across the term, not written at the end.</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2026-07-21T12:30:00Z</dcterms:created>
  <dcterms:modified xsi:type="dcterms:W3CDTF">2026-07-21T12:30:00Z</dcterms:modified>
</cp:coreProperties>
</file>