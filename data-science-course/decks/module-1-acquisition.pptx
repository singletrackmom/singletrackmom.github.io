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Module 1. State the objective in one sentence: Acquire data from files, databases, APIs, and the web, with documented provenance, in a reproducible environment. Then tell them the week's arc: we explore the idea in an interactive model, practice on a low-stakes slice, and apply it to your own project in The Provenance Incident. Remind them the deliverable feeds the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objective from the student's perspective, then walk the three-part arc. Emphasize that the graded work, The Provenance Incident, is a professional simulation, not a quiz, and that the interactive comes first so intuition precedes formalism.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these three points in order; each is a decision students must defend, not a fact to memorize. Tie every one back to the objective and to what The Provenance Incident will ask them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interactive live if you can, and narrate what to notice. The practice task is ungraded or low-stakes; its job is instant feedback before the graded simulation. Invite students to post one thing the interactive surprised them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work. Read the brief, then point students to the rubric and the software guide before they begin. Stress that it is judged the way real practice judges it, and that the live defense cannot be outsourced.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naming exactly what to submit and when, restating the response and feedback window, and previewing how this piece connects to the capstone. End with the weekly reflection: what you saw in their posted work that was strong, and what to shore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314D"/>
        </a:solidFill>
      </p:bgPr>
    </p:bg>
    <p:spTree>
      <p:nvGrpSpPr>
        <p:cNvPr id="1" name=""/>
        <p:cNvGrpSpPr/>
        <p:nvPr/>
      </p:nvGrpSpPr>
      <p:grpSpPr>
        <a:xfrm>
          <a:off x="0" y="0"/>
          <a:ext cx="0" cy="0"/>
          <a:chOff x="0" y="0"/>
          <a:chExt cx="0" cy="0"/>
        </a:xfrm>
      </p:grpSpPr>
      <p:sp>
        <p:nvSpPr>
          <p:cNvPr id="2" name="Text 0"/>
          <p:cNvSpPr/>
          <p:nvPr/>
        </p:nvSpPr>
        <p:spPr>
          <a:xfrm>
            <a:off x="822960" y="1554480"/>
            <a:ext cx="10058400" cy="457200"/>
          </a:xfrm>
          <a:prstGeom prst="rect">
            <a:avLst/>
          </a:prstGeom>
          <a:noFill/>
          <a:ln/>
        </p:spPr>
        <p:txBody>
          <a:bodyPr wrap="square" rtlCol="0" anchor="ctr"/>
          <a:lstStyle/>
          <a:p>
            <a:pPr indent="0" marL="0">
              <a:buNone/>
            </a:pPr>
            <a:r>
              <a:rPr lang="en-US" sz="1600" b="1" spc="300" kern="0" dirty="0">
                <a:solidFill>
                  <a:srgbClr val="879EC3"/>
                </a:solidFill>
                <a:latin typeface="Open Sans" pitchFamily="34" charset="0"/>
                <a:ea typeface="Open Sans" pitchFamily="34" charset="-122"/>
                <a:cs typeface="Open Sans" pitchFamily="34" charset="-120"/>
              </a:rPr>
              <a:t>MODULE 1</a:t>
            </a:r>
            <a:endParaRPr lang="en-US" sz="1600" dirty="0"/>
          </a:p>
        </p:txBody>
      </p:sp>
      <p:sp>
        <p:nvSpPr>
          <p:cNvPr id="3" name="Text 1"/>
          <p:cNvSpPr/>
          <p:nvPr/>
        </p:nvSpPr>
        <p:spPr>
          <a:xfrm>
            <a:off x="822960" y="2011680"/>
            <a:ext cx="10515600" cy="1828800"/>
          </a:xfrm>
          <a:prstGeom prst="rect">
            <a:avLst/>
          </a:prstGeom>
          <a:noFill/>
          <a:ln/>
        </p:spPr>
        <p:txBody>
          <a:bodyPr wrap="square" rtlCol="0" anchor="ctr"/>
          <a:lstStyle/>
          <a:p>
            <a:pPr indent="0" marL="0">
              <a:lnSpc>
                <a:spcPct val="102000"/>
              </a:lnSpc>
              <a:buNone/>
            </a:pPr>
            <a:r>
              <a:rPr lang="en-US" sz="4000" b="1" dirty="0">
                <a:solidFill>
                  <a:srgbClr val="FFFFFF"/>
                </a:solidFill>
                <a:latin typeface="Montserrat" pitchFamily="34" charset="0"/>
                <a:ea typeface="Montserrat" pitchFamily="34" charset="-122"/>
                <a:cs typeface="Montserrat" pitchFamily="34" charset="-120"/>
              </a:rPr>
              <a:t>Acquisition and the reproducible workflow</a:t>
            </a:r>
            <a:endParaRPr lang="en-US" sz="4000" dirty="0"/>
          </a:p>
        </p:txBody>
      </p:sp>
      <p:sp>
        <p:nvSpPr>
          <p:cNvPr id="4" name="Text 2"/>
          <p:cNvSpPr/>
          <p:nvPr/>
        </p:nvSpPr>
        <p:spPr>
          <a:xfrm>
            <a:off x="841248" y="3977640"/>
            <a:ext cx="10058400" cy="457200"/>
          </a:xfrm>
          <a:prstGeom prst="rect">
            <a:avLst/>
          </a:prstGeom>
          <a:noFill/>
          <a:ln/>
        </p:spPr>
        <p:txBody>
          <a:bodyPr wrap="square" rtlCol="0" anchor="ctr"/>
          <a:lstStyle/>
          <a:p>
            <a:pPr indent="0" marL="0">
              <a:buNone/>
            </a:pPr>
            <a:r>
              <a:rPr lang="en-US" sz="1600" dirty="0">
                <a:solidFill>
                  <a:srgbClr val="CFDCE9"/>
                </a:solidFill>
                <a:latin typeface="Open Sans" pitchFamily="34" charset="0"/>
                <a:ea typeface="Open Sans" pitchFamily="34" charset="-122"/>
                <a:cs typeface="Open Sans" pitchFamily="34" charset="-120"/>
              </a:rPr>
              <a:t>Advanced Data Science  ·  Weeks 1–2  ·  about 18 student hours</a:t>
            </a:r>
            <a:endParaRPr lang="en-US" sz="1600" dirty="0"/>
          </a:p>
        </p:txBody>
      </p:sp>
      <p:sp>
        <p:nvSpPr>
          <p:cNvPr id="5" name="Text 3"/>
          <p:cNvSpPr/>
          <p:nvPr/>
        </p:nvSpPr>
        <p:spPr>
          <a:xfrm>
            <a:off x="841248" y="6126480"/>
            <a:ext cx="10058400" cy="365760"/>
          </a:xfrm>
          <a:prstGeom prst="rect">
            <a:avLst/>
          </a:prstGeom>
          <a:noFill/>
          <a:ln/>
        </p:spPr>
        <p:txBody>
          <a:bodyPr wrap="square" rtlCol="0" anchor="ctr"/>
          <a:lstStyle/>
          <a:p>
            <a:pPr indent="0" marL="0">
              <a:buNone/>
            </a:pPr>
            <a:r>
              <a:rPr lang="en-US" sz="1200" i="1" dirty="0">
                <a:solidFill>
                  <a:srgbClr val="879EC3"/>
                </a:solidFill>
                <a:latin typeface="Open Sans" pitchFamily="34" charset="0"/>
                <a:ea typeface="Open Sans" pitchFamily="34" charset="-122"/>
                <a:cs typeface="Open Sans" pitchFamily="34" charset="-120"/>
              </a:rPr>
              <a:t>Instructor deck  ·  speaker notes carry the teaching script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584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This module</a:t>
            </a:r>
            <a:endParaRPr lang="en-US" sz="2600" dirty="0"/>
          </a:p>
        </p:txBody>
      </p:sp>
      <p:sp>
        <p:nvSpPr>
          <p:cNvPr id="3" name="Text 1"/>
          <p:cNvSpPr/>
          <p:nvPr/>
        </p:nvSpPr>
        <p:spPr>
          <a:xfrm>
            <a:off x="822960" y="1051560"/>
            <a:ext cx="10058400" cy="320040"/>
          </a:xfrm>
          <a:prstGeom prst="rect">
            <a:avLst/>
          </a:prstGeom>
          <a:noFill/>
          <a:ln/>
        </p:spPr>
        <p:txBody>
          <a:bodyPr wrap="square" rtlCol="0" anchor="ctr"/>
          <a:lstStyle/>
          <a:p>
            <a:pPr indent="0" marL="0">
              <a:buNone/>
            </a:pPr>
            <a:r>
              <a:rPr lang="en-US" sz="1300" b="1" dirty="0">
                <a:solidFill>
                  <a:srgbClr val="09396C"/>
                </a:solidFill>
                <a:latin typeface="Open Sans" pitchFamily="34" charset="0"/>
                <a:ea typeface="Open Sans" pitchFamily="34" charset="-122"/>
                <a:cs typeface="Open Sans" pitchFamily="34" charset="-120"/>
              </a:rPr>
              <a:t>RSI: direct instruction · discussion · feedback</a:t>
            </a:r>
            <a:endParaRPr lang="en-US" sz="1300" dirty="0"/>
          </a:p>
        </p:txBody>
      </p:sp>
      <p:sp>
        <p:nvSpPr>
          <p:cNvPr id="4" name="Text 2"/>
          <p:cNvSpPr/>
          <p:nvPr/>
        </p:nvSpPr>
        <p:spPr>
          <a:xfrm>
            <a:off x="822960" y="1554480"/>
            <a:ext cx="10515600" cy="1188720"/>
          </a:xfrm>
          <a:prstGeom prst="rect">
            <a:avLst/>
          </a:prstGeom>
          <a:noFill/>
          <a:ln/>
        </p:spPr>
        <p:txBody>
          <a:bodyPr wrap="square" rtlCol="0" anchor="ctr"/>
          <a:lstStyle/>
          <a:p>
            <a:pPr indent="0" marL="0">
              <a:lnSpc>
                <a:spcPct val="105000"/>
              </a:lnSpc>
              <a:buNone/>
            </a:pPr>
            <a:r>
              <a:rPr lang="en-US" sz="2200" i="1" dirty="0">
                <a:solidFill>
                  <a:srgbClr val="21314D"/>
                </a:solidFill>
                <a:latin typeface="Montserrat" pitchFamily="34" charset="0"/>
                <a:ea typeface="Montserrat" pitchFamily="34" charset="-122"/>
                <a:cs typeface="Montserrat" pitchFamily="34" charset="-120"/>
              </a:rPr>
              <a:t>Acquire data from files, databases, APIs, and the web, with documented provenance, in a reproducible environment.</a:t>
            </a:r>
            <a:endParaRPr lang="en-US" sz="2200" dirty="0"/>
          </a:p>
        </p:txBody>
      </p:sp>
      <p:sp>
        <p:nvSpPr>
          <p:cNvPr id="5" name="Shape 3"/>
          <p:cNvSpPr/>
          <p:nvPr/>
        </p:nvSpPr>
        <p:spPr>
          <a:xfrm>
            <a:off x="822960" y="3200400"/>
            <a:ext cx="3383280" cy="2651760"/>
          </a:xfrm>
          <a:prstGeom prst="roundRect">
            <a:avLst>
              <a:gd name="adj" fmla="val 3103"/>
            </a:avLst>
          </a:prstGeom>
          <a:solidFill>
            <a:srgbClr val="CFDCE9"/>
          </a:solidFill>
          <a:ln w="12700">
            <a:solidFill>
              <a:srgbClr val="879EC3"/>
            </a:solidFill>
            <a:prstDash val="solid"/>
          </a:ln>
        </p:spPr>
      </p:sp>
      <p:sp>
        <p:nvSpPr>
          <p:cNvPr id="6" name="Shape 4"/>
          <p:cNvSpPr/>
          <p:nvPr/>
        </p:nvSpPr>
        <p:spPr>
          <a:xfrm>
            <a:off x="1097280" y="3474720"/>
            <a:ext cx="384048" cy="384048"/>
          </a:xfrm>
          <a:prstGeom prst="ellipse">
            <a:avLst/>
          </a:prstGeom>
          <a:solidFill>
            <a:srgbClr val="09396C"/>
          </a:solidFill>
          <a:ln/>
        </p:spPr>
      </p:sp>
      <p:sp>
        <p:nvSpPr>
          <p:cNvPr id="7" name="Text 5"/>
          <p:cNvSpPr/>
          <p:nvPr/>
        </p:nvSpPr>
        <p:spPr>
          <a:xfrm>
            <a:off x="1097280" y="34747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1</a:t>
            </a:r>
            <a:endParaRPr lang="en-US" sz="1600" dirty="0"/>
          </a:p>
        </p:txBody>
      </p:sp>
      <p:sp>
        <p:nvSpPr>
          <p:cNvPr id="8" name="Text 6"/>
          <p:cNvSpPr/>
          <p:nvPr/>
        </p:nvSpPr>
        <p:spPr>
          <a:xfrm>
            <a:off x="1600200" y="3493008"/>
            <a:ext cx="246888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Explore</a:t>
            </a:r>
            <a:endParaRPr lang="en-US" sz="1900" dirty="0"/>
          </a:p>
        </p:txBody>
      </p:sp>
      <p:sp>
        <p:nvSpPr>
          <p:cNvPr id="9" name="Text 7"/>
          <p:cNvSpPr/>
          <p:nvPr/>
        </p:nvSpPr>
        <p:spPr>
          <a:xfrm>
            <a:off x="1097280" y="4114800"/>
            <a:ext cx="2834640" cy="1554480"/>
          </a:xfrm>
          <a:prstGeom prst="rect">
            <a:avLst/>
          </a:prstGeom>
          <a:noFill/>
          <a:ln/>
        </p:spPr>
        <p:txBody>
          <a:bodyPr wrap="square" rtlCol="0" anchor="t"/>
          <a:lstStyle/>
          <a:p>
            <a:pPr indent="0" marL="0">
              <a:buNone/>
            </a:pPr>
            <a:r>
              <a:rPr lang="en-US" sz="1400" dirty="0">
                <a:solidFill>
                  <a:srgbClr val="21314D"/>
                </a:solidFill>
                <a:latin typeface="Open Sans" pitchFamily="34" charset="0"/>
                <a:ea typeface="Open Sans" pitchFamily="34" charset="-122"/>
                <a:cs typeface="Open Sans" pitchFamily="34" charset="-120"/>
              </a:rPr>
              <a:t>An interactive model you manipulate before you read about it.</a:t>
            </a:r>
            <a:endParaRPr lang="en-US" sz="1400" dirty="0"/>
          </a:p>
        </p:txBody>
      </p:sp>
      <p:sp>
        <p:nvSpPr>
          <p:cNvPr id="10" name="Shape 8"/>
          <p:cNvSpPr/>
          <p:nvPr/>
        </p:nvSpPr>
        <p:spPr>
          <a:xfrm>
            <a:off x="4434840" y="3200400"/>
            <a:ext cx="3383280" cy="2651760"/>
          </a:xfrm>
          <a:prstGeom prst="roundRect">
            <a:avLst>
              <a:gd name="adj" fmla="val 3103"/>
            </a:avLst>
          </a:prstGeom>
          <a:solidFill>
            <a:srgbClr val="CFDCE9"/>
          </a:solidFill>
          <a:ln w="12700">
            <a:solidFill>
              <a:srgbClr val="879EC3"/>
            </a:solidFill>
            <a:prstDash val="solid"/>
          </a:ln>
        </p:spPr>
      </p:sp>
      <p:sp>
        <p:nvSpPr>
          <p:cNvPr id="11" name="Shape 9"/>
          <p:cNvSpPr/>
          <p:nvPr/>
        </p:nvSpPr>
        <p:spPr>
          <a:xfrm>
            <a:off x="4709160" y="3474720"/>
            <a:ext cx="384048" cy="384048"/>
          </a:xfrm>
          <a:prstGeom prst="ellipse">
            <a:avLst/>
          </a:prstGeom>
          <a:solidFill>
            <a:srgbClr val="09396C"/>
          </a:solidFill>
          <a:ln/>
        </p:spPr>
      </p:sp>
      <p:sp>
        <p:nvSpPr>
          <p:cNvPr id="12" name="Text 10"/>
          <p:cNvSpPr/>
          <p:nvPr/>
        </p:nvSpPr>
        <p:spPr>
          <a:xfrm>
            <a:off x="4709160" y="34747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2</a:t>
            </a:r>
            <a:endParaRPr lang="en-US" sz="1600" dirty="0"/>
          </a:p>
        </p:txBody>
      </p:sp>
      <p:sp>
        <p:nvSpPr>
          <p:cNvPr id="13" name="Text 11"/>
          <p:cNvSpPr/>
          <p:nvPr/>
        </p:nvSpPr>
        <p:spPr>
          <a:xfrm>
            <a:off x="5212080" y="3493008"/>
            <a:ext cx="246888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Practice</a:t>
            </a:r>
            <a:endParaRPr lang="en-US" sz="1900" dirty="0"/>
          </a:p>
        </p:txBody>
      </p:sp>
      <p:sp>
        <p:nvSpPr>
          <p:cNvPr id="14" name="Text 12"/>
          <p:cNvSpPr/>
          <p:nvPr/>
        </p:nvSpPr>
        <p:spPr>
          <a:xfrm>
            <a:off x="4709160" y="4114800"/>
            <a:ext cx="2834640" cy="1554480"/>
          </a:xfrm>
          <a:prstGeom prst="rect">
            <a:avLst/>
          </a:prstGeom>
          <a:noFill/>
          <a:ln/>
        </p:spPr>
        <p:txBody>
          <a:bodyPr wrap="square" rtlCol="0" anchor="t"/>
          <a:lstStyle/>
          <a:p>
            <a:pPr indent="0" marL="0">
              <a:buNone/>
            </a:pPr>
            <a:r>
              <a:rPr lang="en-US" sz="1400" dirty="0">
                <a:solidFill>
                  <a:srgbClr val="21314D"/>
                </a:solidFill>
                <a:latin typeface="Open Sans" pitchFamily="34" charset="0"/>
                <a:ea typeface="Open Sans" pitchFamily="34" charset="-122"/>
                <a:cs typeface="Open Sans" pitchFamily="34" charset="-120"/>
              </a:rPr>
              <a:t>A low-stakes exercise on a throwaway slice, instant feedback.</a:t>
            </a:r>
            <a:endParaRPr lang="en-US" sz="1400" dirty="0"/>
          </a:p>
        </p:txBody>
      </p:sp>
      <p:sp>
        <p:nvSpPr>
          <p:cNvPr id="15" name="Shape 13"/>
          <p:cNvSpPr/>
          <p:nvPr/>
        </p:nvSpPr>
        <p:spPr>
          <a:xfrm>
            <a:off x="8046720" y="3200400"/>
            <a:ext cx="3383280" cy="2651760"/>
          </a:xfrm>
          <a:prstGeom prst="roundRect">
            <a:avLst>
              <a:gd name="adj" fmla="val 3103"/>
            </a:avLst>
          </a:prstGeom>
          <a:solidFill>
            <a:srgbClr val="CFDCE9"/>
          </a:solidFill>
          <a:ln w="12700">
            <a:solidFill>
              <a:srgbClr val="879EC3"/>
            </a:solidFill>
            <a:prstDash val="solid"/>
          </a:ln>
        </p:spPr>
      </p:sp>
      <p:sp>
        <p:nvSpPr>
          <p:cNvPr id="16" name="Shape 14"/>
          <p:cNvSpPr/>
          <p:nvPr/>
        </p:nvSpPr>
        <p:spPr>
          <a:xfrm>
            <a:off x="8321040" y="3474720"/>
            <a:ext cx="384048" cy="384048"/>
          </a:xfrm>
          <a:prstGeom prst="ellipse">
            <a:avLst/>
          </a:prstGeom>
          <a:solidFill>
            <a:srgbClr val="09396C"/>
          </a:solidFill>
          <a:ln/>
        </p:spPr>
      </p:sp>
      <p:sp>
        <p:nvSpPr>
          <p:cNvPr id="17" name="Text 15"/>
          <p:cNvSpPr/>
          <p:nvPr/>
        </p:nvSpPr>
        <p:spPr>
          <a:xfrm>
            <a:off x="8321040" y="34747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3</a:t>
            </a:r>
            <a:endParaRPr lang="en-US" sz="1600" dirty="0"/>
          </a:p>
        </p:txBody>
      </p:sp>
      <p:sp>
        <p:nvSpPr>
          <p:cNvPr id="18" name="Text 16"/>
          <p:cNvSpPr/>
          <p:nvPr/>
        </p:nvSpPr>
        <p:spPr>
          <a:xfrm>
            <a:off x="8823960" y="3493008"/>
            <a:ext cx="246888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Apply</a:t>
            </a:r>
            <a:endParaRPr lang="en-US" sz="1900" dirty="0"/>
          </a:p>
        </p:txBody>
      </p:sp>
      <p:sp>
        <p:nvSpPr>
          <p:cNvPr id="19" name="Text 17"/>
          <p:cNvSpPr/>
          <p:nvPr/>
        </p:nvSpPr>
        <p:spPr>
          <a:xfrm>
            <a:off x="8321040" y="4114800"/>
            <a:ext cx="2834640" cy="1554480"/>
          </a:xfrm>
          <a:prstGeom prst="rect">
            <a:avLst/>
          </a:prstGeom>
          <a:noFill/>
          <a:ln/>
        </p:spPr>
        <p:txBody>
          <a:bodyPr wrap="square" rtlCol="0" anchor="t"/>
          <a:lstStyle/>
          <a:p>
            <a:pPr indent="0" marL="0">
              <a:buNone/>
            </a:pPr>
            <a:r>
              <a:rPr lang="en-US" sz="1400" dirty="0">
                <a:solidFill>
                  <a:srgbClr val="21314D"/>
                </a:solidFill>
                <a:latin typeface="Open Sans" pitchFamily="34" charset="0"/>
                <a:ea typeface="Open Sans" pitchFamily="34" charset="-122"/>
                <a:cs typeface="Open Sans" pitchFamily="34" charset="-120"/>
              </a:rPr>
              <a:t>The Provenance Incident: the graded simulation on your own project.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584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Key concepts</a:t>
            </a:r>
            <a:endParaRPr lang="en-US" sz="2600" dirty="0"/>
          </a:p>
        </p:txBody>
      </p:sp>
      <p:sp>
        <p:nvSpPr>
          <p:cNvPr id="3" name="Shape 1"/>
          <p:cNvSpPr/>
          <p:nvPr/>
        </p:nvSpPr>
        <p:spPr>
          <a:xfrm>
            <a:off x="822960" y="1463040"/>
            <a:ext cx="384048" cy="384048"/>
          </a:xfrm>
          <a:prstGeom prst="ellipse">
            <a:avLst/>
          </a:prstGeom>
          <a:solidFill>
            <a:srgbClr val="21314D"/>
          </a:solidFill>
          <a:ln/>
        </p:spPr>
      </p:sp>
      <p:sp>
        <p:nvSpPr>
          <p:cNvPr id="4" name="Text 2"/>
          <p:cNvSpPr/>
          <p:nvPr/>
        </p:nvSpPr>
        <p:spPr>
          <a:xfrm>
            <a:off x="822960" y="14630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1</a:t>
            </a:r>
            <a:endParaRPr lang="en-US" sz="1600" dirty="0"/>
          </a:p>
        </p:txBody>
      </p:sp>
      <p:sp>
        <p:nvSpPr>
          <p:cNvPr id="5" name="Text 3"/>
          <p:cNvSpPr/>
          <p:nvPr/>
        </p:nvSpPr>
        <p:spPr>
          <a:xfrm>
            <a:off x="1417320" y="1417320"/>
            <a:ext cx="1005840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The data-science lifecycle</a:t>
            </a:r>
            <a:endParaRPr lang="en-US" sz="1900" dirty="0"/>
          </a:p>
        </p:txBody>
      </p:sp>
      <p:sp>
        <p:nvSpPr>
          <p:cNvPr id="6" name="Text 4"/>
          <p:cNvSpPr/>
          <p:nvPr/>
        </p:nvSpPr>
        <p:spPr>
          <a:xfrm>
            <a:off x="1417320" y="1874520"/>
            <a:ext cx="9875520" cy="960120"/>
          </a:xfrm>
          <a:prstGeom prst="rect">
            <a:avLst/>
          </a:prstGeom>
          <a:noFill/>
          <a:ln/>
        </p:spPr>
        <p:txBody>
          <a:bodyPr wrap="square" lIns="0" tIns="0" rIns="0" bIns="0" rtlCol="0" anchor="t"/>
          <a:lstStyle/>
          <a:p>
            <a:pPr indent="0" marL="0">
              <a:buNone/>
            </a:pPr>
            <a:r>
              <a:rPr lang="en-US" sz="1500" dirty="0">
                <a:solidFill>
                  <a:srgbClr val="75757D"/>
                </a:solidFill>
                <a:latin typeface="Open Sans" pitchFamily="34" charset="0"/>
                <a:ea typeface="Open Sans" pitchFamily="34" charset="-122"/>
                <a:cs typeface="Open Sans" pitchFamily="34" charset="-120"/>
              </a:rPr>
              <a:t>Frame the question, acquire, clean, analyze, model, communicate. Reproducibility is the substrate: if it cannot be re-run, it is not done.</a:t>
            </a:r>
            <a:endParaRPr lang="en-US" sz="1500" dirty="0"/>
          </a:p>
        </p:txBody>
      </p:sp>
      <p:sp>
        <p:nvSpPr>
          <p:cNvPr id="7" name="Shape 5"/>
          <p:cNvSpPr/>
          <p:nvPr/>
        </p:nvSpPr>
        <p:spPr>
          <a:xfrm>
            <a:off x="822960" y="3063240"/>
            <a:ext cx="384048" cy="384048"/>
          </a:xfrm>
          <a:prstGeom prst="ellipse">
            <a:avLst/>
          </a:prstGeom>
          <a:solidFill>
            <a:srgbClr val="09396C"/>
          </a:solidFill>
          <a:ln/>
        </p:spPr>
      </p:sp>
      <p:sp>
        <p:nvSpPr>
          <p:cNvPr id="8" name="Text 6"/>
          <p:cNvSpPr/>
          <p:nvPr/>
        </p:nvSpPr>
        <p:spPr>
          <a:xfrm>
            <a:off x="822960" y="30632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2</a:t>
            </a:r>
            <a:endParaRPr lang="en-US" sz="1600" dirty="0"/>
          </a:p>
        </p:txBody>
      </p:sp>
      <p:sp>
        <p:nvSpPr>
          <p:cNvPr id="9" name="Text 7"/>
          <p:cNvSpPr/>
          <p:nvPr/>
        </p:nvSpPr>
        <p:spPr>
          <a:xfrm>
            <a:off x="1417320" y="3017520"/>
            <a:ext cx="1005840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Provenance is a deliverable</a:t>
            </a:r>
            <a:endParaRPr lang="en-US" sz="1900" dirty="0"/>
          </a:p>
        </p:txBody>
      </p:sp>
      <p:sp>
        <p:nvSpPr>
          <p:cNvPr id="10" name="Text 8"/>
          <p:cNvSpPr/>
          <p:nvPr/>
        </p:nvSpPr>
        <p:spPr>
          <a:xfrm>
            <a:off x="1417320" y="3474720"/>
            <a:ext cx="9875520" cy="960120"/>
          </a:xfrm>
          <a:prstGeom prst="rect">
            <a:avLst/>
          </a:prstGeom>
          <a:noFill/>
          <a:ln/>
        </p:spPr>
        <p:txBody>
          <a:bodyPr wrap="square" lIns="0" tIns="0" rIns="0" bIns="0" rtlCol="0" anchor="t"/>
          <a:lstStyle/>
          <a:p>
            <a:pPr indent="0" marL="0">
              <a:buNone/>
            </a:pPr>
            <a:r>
              <a:rPr lang="en-US" sz="1500" dirty="0">
                <a:solidFill>
                  <a:srgbClr val="75757D"/>
                </a:solidFill>
                <a:latin typeface="Open Sans" pitchFamily="34" charset="0"/>
                <a:ea typeface="Open Sans" pitchFamily="34" charset="-122"/>
                <a:cs typeface="Open Sans" pitchFamily="34" charset="-120"/>
              </a:rPr>
              <a:t>For every field: source, access method, date, and terms of use. A datasheet, authored as you go, not reconstructed after.</a:t>
            </a:r>
            <a:endParaRPr lang="en-US" sz="1500" dirty="0"/>
          </a:p>
        </p:txBody>
      </p:sp>
      <p:sp>
        <p:nvSpPr>
          <p:cNvPr id="11" name="Shape 9"/>
          <p:cNvSpPr/>
          <p:nvPr/>
        </p:nvSpPr>
        <p:spPr>
          <a:xfrm>
            <a:off x="822960" y="4663440"/>
            <a:ext cx="384048" cy="384048"/>
          </a:xfrm>
          <a:prstGeom prst="ellipse">
            <a:avLst/>
          </a:prstGeom>
          <a:solidFill>
            <a:srgbClr val="0272DE"/>
          </a:solidFill>
          <a:ln/>
        </p:spPr>
      </p:sp>
      <p:sp>
        <p:nvSpPr>
          <p:cNvPr id="12" name="Text 10"/>
          <p:cNvSpPr/>
          <p:nvPr/>
        </p:nvSpPr>
        <p:spPr>
          <a:xfrm>
            <a:off x="822960" y="46634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3</a:t>
            </a:r>
            <a:endParaRPr lang="en-US" sz="1600" dirty="0"/>
          </a:p>
        </p:txBody>
      </p:sp>
      <p:sp>
        <p:nvSpPr>
          <p:cNvPr id="13" name="Text 11"/>
          <p:cNvSpPr/>
          <p:nvPr/>
        </p:nvSpPr>
        <p:spPr>
          <a:xfrm>
            <a:off x="1417320" y="4617720"/>
            <a:ext cx="1005840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Acquire responsibly</a:t>
            </a:r>
            <a:endParaRPr lang="en-US" sz="1900" dirty="0"/>
          </a:p>
        </p:txBody>
      </p:sp>
      <p:sp>
        <p:nvSpPr>
          <p:cNvPr id="14" name="Text 12"/>
          <p:cNvSpPr/>
          <p:nvPr/>
        </p:nvSpPr>
        <p:spPr>
          <a:xfrm>
            <a:off x="1417320" y="5074920"/>
            <a:ext cx="9875520" cy="960120"/>
          </a:xfrm>
          <a:prstGeom prst="rect">
            <a:avLst/>
          </a:prstGeom>
          <a:noFill/>
          <a:ln/>
        </p:spPr>
        <p:txBody>
          <a:bodyPr wrap="square" lIns="0" tIns="0" rIns="0" bIns="0" rtlCol="0" anchor="t"/>
          <a:lstStyle/>
          <a:p>
            <a:pPr indent="0" marL="0">
              <a:buNone/>
            </a:pPr>
            <a:r>
              <a:rPr lang="en-US" sz="1500" dirty="0">
                <a:solidFill>
                  <a:srgbClr val="75757D"/>
                </a:solidFill>
                <a:latin typeface="Open Sans" pitchFamily="34" charset="0"/>
                <a:ea typeface="Open Sans" pitchFamily="34" charset="-122"/>
                <a:cs typeface="Open Sans" pitchFamily="34" charset="-120"/>
              </a:rPr>
              <a:t>Files and SQL; REST APIs with auth, rate limits, and pagination; scraping only within robots.txt, rate limits, and terms of service.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584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Explore it, then practice</a:t>
            </a:r>
            <a:endParaRPr lang="en-US" sz="2600" dirty="0"/>
          </a:p>
        </p:txBody>
      </p:sp>
      <p:sp>
        <p:nvSpPr>
          <p:cNvPr id="3" name="Shape 1"/>
          <p:cNvSpPr/>
          <p:nvPr/>
        </p:nvSpPr>
        <p:spPr>
          <a:xfrm>
            <a:off x="822960" y="1371600"/>
            <a:ext cx="5212080" cy="4297680"/>
          </a:xfrm>
          <a:prstGeom prst="roundRect">
            <a:avLst>
              <a:gd name="adj" fmla="val 1915"/>
            </a:avLst>
          </a:prstGeom>
          <a:solidFill>
            <a:srgbClr val="CFDCE9"/>
          </a:solidFill>
          <a:ln w="12700">
            <a:solidFill>
              <a:srgbClr val="879EC3"/>
            </a:solidFill>
            <a:prstDash val="solid"/>
          </a:ln>
        </p:spPr>
      </p:sp>
      <p:sp>
        <p:nvSpPr>
          <p:cNvPr id="4" name="Text 2"/>
          <p:cNvSpPr/>
          <p:nvPr/>
        </p:nvSpPr>
        <p:spPr>
          <a:xfrm>
            <a:off x="1097280" y="1600200"/>
            <a:ext cx="4663440" cy="365760"/>
          </a:xfrm>
          <a:prstGeom prst="rect">
            <a:avLst/>
          </a:prstGeom>
          <a:noFill/>
          <a:ln/>
        </p:spPr>
        <p:txBody>
          <a:bodyPr wrap="square" rtlCol="0" anchor="ctr"/>
          <a:lstStyle/>
          <a:p>
            <a:pPr indent="0" marL="0">
              <a:buNone/>
            </a:pPr>
            <a:r>
              <a:rPr lang="en-US" sz="1300" b="1" spc="100" kern="0" dirty="0">
                <a:solidFill>
                  <a:srgbClr val="09396C"/>
                </a:solidFill>
                <a:latin typeface="Open Sans" pitchFamily="34" charset="0"/>
                <a:ea typeface="Open Sans" pitchFamily="34" charset="-122"/>
                <a:cs typeface="Open Sans" pitchFamily="34" charset="-120"/>
              </a:rPr>
              <a:t>Explore  (interactive)</a:t>
            </a:r>
            <a:endParaRPr lang="en-US" sz="1300" dirty="0"/>
          </a:p>
        </p:txBody>
      </p:sp>
      <p:sp>
        <p:nvSpPr>
          <p:cNvPr id="5" name="Text 3"/>
          <p:cNvSpPr/>
          <p:nvPr/>
        </p:nvSpPr>
        <p:spPr>
          <a:xfrm>
            <a:off x="1097280" y="1965960"/>
            <a:ext cx="4663440" cy="822960"/>
          </a:xfrm>
          <a:prstGeom prst="rect">
            <a:avLst/>
          </a:prstGeom>
          <a:noFill/>
          <a:ln/>
        </p:spPr>
        <p:txBody>
          <a:bodyPr wrap="square" rtlCol="0" anchor="ctr"/>
          <a:lstStyle/>
          <a:p>
            <a:pPr indent="0" marL="0">
              <a:buNone/>
            </a:pPr>
            <a:r>
              <a:rPr lang="en-US" sz="1800" b="1" dirty="0">
                <a:solidFill>
                  <a:srgbClr val="21314D"/>
                </a:solidFill>
                <a:latin typeface="Montserrat" pitchFamily="34" charset="0"/>
                <a:ea typeface="Montserrat" pitchFamily="34" charset="-122"/>
                <a:cs typeface="Montserrat" pitchFamily="34" charset="-120"/>
              </a:rPr>
              <a:t>Select Star SQL + an API client</a:t>
            </a:r>
            <a:endParaRPr lang="en-US" sz="1800" dirty="0"/>
          </a:p>
        </p:txBody>
      </p:sp>
      <p:sp>
        <p:nvSpPr>
          <p:cNvPr id="6" name="Text 4"/>
          <p:cNvSpPr/>
          <p:nvPr/>
        </p:nvSpPr>
        <p:spPr>
          <a:xfrm>
            <a:off x="1097280" y="2880360"/>
            <a:ext cx="4663440" cy="2560320"/>
          </a:xfrm>
          <a:prstGeom prst="rect">
            <a:avLst/>
          </a:prstGeom>
          <a:noFill/>
          <a:ln/>
        </p:spPr>
        <p:txBody>
          <a:bodyPr wrap="square" rtlCol="0" anchor="t"/>
          <a:lstStyle/>
          <a:p>
            <a:pPr indent="0" marL="0">
              <a:buNone/>
            </a:pPr>
            <a:r>
              <a:rPr lang="en-US" sz="1500" dirty="0">
                <a:solidFill>
                  <a:srgbClr val="21314D"/>
                </a:solidFill>
                <a:latin typeface="Open Sans" pitchFamily="34" charset="0"/>
                <a:ea typeface="Open Sans" pitchFamily="34" charset="-122"/>
                <a:cs typeface="Open Sans" pitchFamily="34" charset="-120"/>
              </a:rPr>
              <a:t>Run live SQL on real data; hit a paginated API and read the JSON. Notice how a schema can silently change between calls.</a:t>
            </a:r>
            <a:endParaRPr lang="en-US" sz="1500" dirty="0"/>
          </a:p>
        </p:txBody>
      </p:sp>
      <p:sp>
        <p:nvSpPr>
          <p:cNvPr id="7" name="Shape 5"/>
          <p:cNvSpPr/>
          <p:nvPr/>
        </p:nvSpPr>
        <p:spPr>
          <a:xfrm>
            <a:off x="6309360" y="1371600"/>
            <a:ext cx="5029200" cy="4297680"/>
          </a:xfrm>
          <a:prstGeom prst="roundRect">
            <a:avLst>
              <a:gd name="adj" fmla="val 1915"/>
            </a:avLst>
          </a:prstGeom>
          <a:solidFill>
            <a:srgbClr val="FFFFFF"/>
          </a:solidFill>
          <a:ln w="12700">
            <a:solidFill>
              <a:srgbClr val="879EC3"/>
            </a:solidFill>
            <a:prstDash val="solid"/>
          </a:ln>
        </p:spPr>
      </p:sp>
      <p:sp>
        <p:nvSpPr>
          <p:cNvPr id="8" name="Text 6"/>
          <p:cNvSpPr/>
          <p:nvPr/>
        </p:nvSpPr>
        <p:spPr>
          <a:xfrm>
            <a:off x="6583680" y="1600200"/>
            <a:ext cx="4572000" cy="365760"/>
          </a:xfrm>
          <a:prstGeom prst="rect">
            <a:avLst/>
          </a:prstGeom>
          <a:noFill/>
          <a:ln/>
        </p:spPr>
        <p:txBody>
          <a:bodyPr wrap="square" rtlCol="0" anchor="ctr"/>
          <a:lstStyle/>
          <a:p>
            <a:pPr indent="0" marL="0">
              <a:buNone/>
            </a:pPr>
            <a:r>
              <a:rPr lang="en-US" sz="1300" b="1" spc="100" kern="0" dirty="0">
                <a:solidFill>
                  <a:srgbClr val="09396C"/>
                </a:solidFill>
                <a:latin typeface="Open Sans" pitchFamily="34" charset="0"/>
                <a:ea typeface="Open Sans" pitchFamily="34" charset="-122"/>
                <a:cs typeface="Open Sans" pitchFamily="34" charset="-120"/>
              </a:rPr>
              <a:t>Practice  (formative, low-stakes)</a:t>
            </a:r>
            <a:endParaRPr lang="en-US" sz="1300" dirty="0"/>
          </a:p>
        </p:txBody>
      </p:sp>
      <p:sp>
        <p:nvSpPr>
          <p:cNvPr id="9" name="Text 7"/>
          <p:cNvSpPr/>
          <p:nvPr/>
        </p:nvSpPr>
        <p:spPr>
          <a:xfrm>
            <a:off x="6583680" y="2057400"/>
            <a:ext cx="4480560" cy="3291840"/>
          </a:xfrm>
          <a:prstGeom prst="rect">
            <a:avLst/>
          </a:prstGeom>
          <a:noFill/>
          <a:ln/>
        </p:spPr>
        <p:txBody>
          <a:bodyPr wrap="square" rtlCol="0" anchor="t"/>
          <a:lstStyle/>
          <a:p>
            <a:pPr indent="0" marL="0">
              <a:buNone/>
            </a:pPr>
            <a:r>
              <a:rPr lang="en-US" sz="1600" dirty="0">
                <a:solidFill>
                  <a:srgbClr val="21314D"/>
                </a:solidFill>
                <a:latin typeface="Open Sans" pitchFamily="34" charset="0"/>
                <a:ea typeface="Open Sans" pitchFamily="34" charset="-122"/>
                <a:cs typeface="Open Sans" pitchFamily="34" charset="-120"/>
              </a:rPr>
              <a:t>Pull a small dataset from a real source and write a five-line provenance note for it.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73152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Apply it</a:t>
            </a:r>
            <a:endParaRPr lang="en-US" sz="2600" dirty="0"/>
          </a:p>
        </p:txBody>
      </p:sp>
      <p:sp>
        <p:nvSpPr>
          <p:cNvPr id="3" name="Text 1"/>
          <p:cNvSpPr/>
          <p:nvPr/>
        </p:nvSpPr>
        <p:spPr>
          <a:xfrm>
            <a:off x="822960" y="1024128"/>
            <a:ext cx="10058400" cy="320040"/>
          </a:xfrm>
          <a:prstGeom prst="rect">
            <a:avLst/>
          </a:prstGeom>
          <a:noFill/>
          <a:ln/>
        </p:spPr>
        <p:txBody>
          <a:bodyPr wrap="square" rtlCol="0" anchor="ctr"/>
          <a:lstStyle/>
          <a:p>
            <a:pPr indent="0" marL="0">
              <a:buNone/>
            </a:pPr>
            <a:r>
              <a:rPr lang="en-US" sz="1300" b="1" spc="100" kern="0" dirty="0">
                <a:solidFill>
                  <a:srgbClr val="09396C"/>
                </a:solidFill>
                <a:latin typeface="Open Sans" pitchFamily="34" charset="0"/>
                <a:ea typeface="Open Sans" pitchFamily="34" charset="-122"/>
                <a:cs typeface="Open Sans" pitchFamily="34" charset="-120"/>
              </a:rPr>
              <a:t>Authentic assessment · simulation</a:t>
            </a:r>
            <a:endParaRPr lang="en-US" sz="1300" dirty="0"/>
          </a:p>
        </p:txBody>
      </p:sp>
      <p:sp>
        <p:nvSpPr>
          <p:cNvPr id="4" name="Shape 2"/>
          <p:cNvSpPr/>
          <p:nvPr/>
        </p:nvSpPr>
        <p:spPr>
          <a:xfrm>
            <a:off x="822960" y="1463040"/>
            <a:ext cx="10515600" cy="1783080"/>
          </a:xfrm>
          <a:prstGeom prst="roundRect">
            <a:avLst>
              <a:gd name="adj" fmla="val 4615"/>
            </a:avLst>
          </a:prstGeom>
          <a:solidFill>
            <a:srgbClr val="CFDCE9"/>
          </a:solidFill>
          <a:ln w="12700">
            <a:solidFill>
              <a:srgbClr val="879EC3"/>
            </a:solidFill>
            <a:prstDash val="solid"/>
          </a:ln>
        </p:spPr>
      </p:sp>
      <p:sp>
        <p:nvSpPr>
          <p:cNvPr id="5" name="Text 3"/>
          <p:cNvSpPr/>
          <p:nvPr/>
        </p:nvSpPr>
        <p:spPr>
          <a:xfrm>
            <a:off x="1097280" y="1627632"/>
            <a:ext cx="10058400" cy="457200"/>
          </a:xfrm>
          <a:prstGeom prst="rect">
            <a:avLst/>
          </a:prstGeom>
          <a:noFill/>
          <a:ln/>
        </p:spPr>
        <p:txBody>
          <a:bodyPr wrap="square" lIns="0" tIns="0" rIns="0" bIns="0" rtlCol="0" anchor="ctr"/>
          <a:lstStyle/>
          <a:p>
            <a:pPr indent="0" marL="0">
              <a:buNone/>
            </a:pPr>
            <a:r>
              <a:rPr lang="en-US" sz="2000" b="1" dirty="0">
                <a:solidFill>
                  <a:srgbClr val="21314D"/>
                </a:solidFill>
                <a:latin typeface="Montserrat" pitchFamily="34" charset="0"/>
                <a:ea typeface="Montserrat" pitchFamily="34" charset="-122"/>
                <a:cs typeface="Montserrat" pitchFamily="34" charset="-120"/>
              </a:rPr>
              <a:t>The Provenance Incident</a:t>
            </a:r>
            <a:endParaRPr lang="en-US" sz="2000" dirty="0"/>
          </a:p>
        </p:txBody>
      </p:sp>
      <p:sp>
        <p:nvSpPr>
          <p:cNvPr id="6" name="Text 4"/>
          <p:cNvSpPr/>
          <p:nvPr/>
        </p:nvSpPr>
        <p:spPr>
          <a:xfrm>
            <a:off x="1097280" y="2121408"/>
            <a:ext cx="10058400" cy="1005840"/>
          </a:xfrm>
          <a:prstGeom prst="rect">
            <a:avLst/>
          </a:prstGeom>
          <a:noFill/>
          <a:ln/>
        </p:spPr>
        <p:txBody>
          <a:bodyPr wrap="square" lIns="0" tIns="0" rIns="0" bIns="0" rtlCol="0" anchor="t"/>
          <a:lstStyle/>
          <a:p>
            <a:pPr indent="0" marL="0">
              <a:buNone/>
            </a:pPr>
            <a:r>
              <a:rPr lang="en-US" sz="1450" dirty="0">
                <a:solidFill>
                  <a:srgbClr val="21314D"/>
                </a:solidFill>
                <a:latin typeface="Open Sans" pitchFamily="34" charset="0"/>
                <a:ea typeface="Open Sans" pitchFamily="34" charset="-122"/>
                <a:cs typeface="Open Sans" pitchFamily="34" charset="-120"/>
              </a:rPr>
              <a:t>Assemble metrics from four sources, including a live, rate-limited API whose schema changes mid-window. Deliver a reproducible ingestion pipeline and a datasheet-style provenance log.</a:t>
            </a:r>
            <a:endParaRPr lang="en-US" sz="1450" dirty="0"/>
          </a:p>
        </p:txBody>
      </p:sp>
      <p:sp>
        <p:nvSpPr>
          <p:cNvPr id="7" name="Text 5"/>
          <p:cNvSpPr/>
          <p:nvPr/>
        </p:nvSpPr>
        <p:spPr>
          <a:xfrm>
            <a:off x="822960" y="3520440"/>
            <a:ext cx="10515600" cy="822960"/>
          </a:xfrm>
          <a:prstGeom prst="rect">
            <a:avLst/>
          </a:prstGeom>
          <a:noFill/>
          <a:ln/>
        </p:spPr>
        <p:txBody>
          <a:bodyPr wrap="square" rtlCol="0" anchor="t"/>
          <a:lstStyle/>
          <a:p>
            <a:pPr indent="0" marL="0">
              <a:buNone/>
            </a:pPr>
            <a:r>
              <a:rPr lang="en-US" sz="1450" b="1" dirty="0">
                <a:solidFill>
                  <a:srgbClr val="21314D"/>
                </a:solidFill>
                <a:latin typeface="Open Sans" pitchFamily="34" charset="0"/>
                <a:ea typeface="Open Sans" pitchFamily="34" charset="-122"/>
                <a:cs typeface="Open Sans" pitchFamily="34" charset="-120"/>
              </a:rPr>
              <a:t>What is assessed.  </a:t>
            </a:r>
            <a:pPr indent="0" marL="0">
              <a:buNone/>
            </a:pPr>
            <a:r>
              <a:rPr lang="en-US" sz="1450" dirty="0">
                <a:solidFill>
                  <a:srgbClr val="21314D"/>
                </a:solidFill>
                <a:latin typeface="Open Sans" pitchFamily="34" charset="0"/>
                <a:ea typeface="Open Sans" pitchFamily="34" charset="-122"/>
                <a:cs typeface="Open Sans" pitchFamily="34" charset="-120"/>
              </a:rPr>
              <a:t>Reproducibility, correct handling of the schema change, completeness of lineage.</a:t>
            </a:r>
            <a:endParaRPr lang="en-US" sz="1450" dirty="0"/>
          </a:p>
        </p:txBody>
      </p:sp>
      <p:sp>
        <p:nvSpPr>
          <p:cNvPr id="8" name="Text 6"/>
          <p:cNvSpPr/>
          <p:nvPr/>
        </p:nvSpPr>
        <p:spPr>
          <a:xfrm>
            <a:off x="822960" y="4343400"/>
            <a:ext cx="10515600" cy="822960"/>
          </a:xfrm>
          <a:prstGeom prst="rect">
            <a:avLst/>
          </a:prstGeom>
          <a:noFill/>
          <a:ln/>
        </p:spPr>
        <p:txBody>
          <a:bodyPr wrap="square" rtlCol="0" anchor="t"/>
          <a:lstStyle/>
          <a:p>
            <a:pPr indent="0" marL="0">
              <a:buNone/>
            </a:pPr>
            <a:r>
              <a:rPr lang="en-US" sz="1450" b="1" dirty="0">
                <a:solidFill>
                  <a:srgbClr val="21314D"/>
                </a:solidFill>
                <a:latin typeface="Open Sans" pitchFamily="34" charset="0"/>
                <a:ea typeface="Open Sans" pitchFamily="34" charset="-122"/>
                <a:cs typeface="Open Sans" pitchFamily="34" charset="-120"/>
              </a:rPr>
              <a:t>Software you will need.  </a:t>
            </a:r>
            <a:pPr indent="0" marL="0">
              <a:buNone/>
            </a:pPr>
            <a:r>
              <a:rPr lang="en-US" sz="1450" dirty="0">
                <a:solidFill>
                  <a:srgbClr val="21314D"/>
                </a:solidFill>
                <a:latin typeface="Open Sans" pitchFamily="34" charset="0"/>
                <a:ea typeface="Open Sans" pitchFamily="34" charset="-122"/>
                <a:cs typeface="Open Sans" pitchFamily="34" charset="-120"/>
              </a:rPr>
              <a:t>A recorder (OBS or Zoom), Python + Jupyter, Git and GitHub, with Colab as a fallback.</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314D"/>
        </a:solidFill>
      </p:bgPr>
    </p:bg>
    <p:spTree>
      <p:nvGrpSpPr>
        <p:cNvPr id="1" name=""/>
        <p:cNvGrpSpPr/>
        <p:nvPr/>
      </p:nvGrpSpPr>
      <p:grpSpPr>
        <a:xfrm>
          <a:off x="0" y="0"/>
          <a:ext cx="0" cy="0"/>
          <a:chOff x="0" y="0"/>
          <a:chExt cx="0" cy="0"/>
        </a:xfrm>
      </p:grpSpPr>
      <p:sp>
        <p:nvSpPr>
          <p:cNvPr id="2" name="Text 0"/>
          <p:cNvSpPr/>
          <p:nvPr/>
        </p:nvSpPr>
        <p:spPr>
          <a:xfrm>
            <a:off x="822960" y="640080"/>
            <a:ext cx="10515600" cy="640080"/>
          </a:xfrm>
          <a:prstGeom prst="rect">
            <a:avLst/>
          </a:prstGeom>
          <a:noFill/>
          <a:ln/>
        </p:spPr>
        <p:txBody>
          <a:bodyPr wrap="square" rtlCol="0" anchor="ctr"/>
          <a:lstStyle/>
          <a:p>
            <a:pPr indent="0" marL="0">
              <a:buNone/>
            </a:pPr>
            <a:r>
              <a:rPr lang="en-US" sz="2600" b="1" dirty="0">
                <a:solidFill>
                  <a:srgbClr val="FFFFFF"/>
                </a:solidFill>
                <a:latin typeface="Montserrat" pitchFamily="34" charset="0"/>
                <a:ea typeface="Montserrat" pitchFamily="34" charset="-122"/>
                <a:cs typeface="Montserrat" pitchFamily="34" charset="-120"/>
              </a:rPr>
              <a:t>Submit, and what comes next</a:t>
            </a:r>
            <a:endParaRPr lang="en-US" sz="2600" dirty="0"/>
          </a:p>
        </p:txBody>
      </p:sp>
      <p:sp>
        <p:nvSpPr>
          <p:cNvPr id="3" name="Text 1"/>
          <p:cNvSpPr/>
          <p:nvPr/>
        </p:nvSpPr>
        <p:spPr>
          <a:xfrm>
            <a:off x="822960" y="1737360"/>
            <a:ext cx="10058400" cy="365760"/>
          </a:xfrm>
          <a:prstGeom prst="rect">
            <a:avLst/>
          </a:prstGeom>
          <a:noFill/>
          <a:ln/>
        </p:spPr>
        <p:txBody>
          <a:bodyPr wrap="square" rtlCol="0" anchor="ctr"/>
          <a:lstStyle/>
          <a:p>
            <a:pPr indent="0" marL="0">
              <a:buNone/>
            </a:pPr>
            <a:r>
              <a:rPr lang="en-US" sz="1400" b="1" spc="100" kern="0" dirty="0">
                <a:solidFill>
                  <a:srgbClr val="879EC3"/>
                </a:solidFill>
                <a:latin typeface="Open Sans" pitchFamily="34" charset="0"/>
                <a:ea typeface="Open Sans" pitchFamily="34" charset="-122"/>
                <a:cs typeface="Open Sans" pitchFamily="34" charset="-120"/>
              </a:rPr>
              <a:t>What to submit</a:t>
            </a:r>
            <a:endParaRPr lang="en-US" sz="1400" dirty="0"/>
          </a:p>
        </p:txBody>
      </p:sp>
      <p:sp>
        <p:nvSpPr>
          <p:cNvPr id="4" name="Text 2"/>
          <p:cNvSpPr/>
          <p:nvPr/>
        </p:nvSpPr>
        <p:spPr>
          <a:xfrm>
            <a:off x="822960" y="2148840"/>
            <a:ext cx="10332720" cy="1005840"/>
          </a:xfrm>
          <a:prstGeom prst="rect">
            <a:avLst/>
          </a:prstGeom>
          <a:noFill/>
          <a:ln/>
        </p:spPr>
        <p:txBody>
          <a:bodyPr wrap="square" rtlCol="0" anchor="t"/>
          <a:lstStyle/>
          <a:p>
            <a:pPr indent="0" marL="0">
              <a:buNone/>
            </a:pPr>
            <a:r>
              <a:rPr lang="en-US" sz="2200" dirty="0">
                <a:solidFill>
                  <a:srgbClr val="FFFFFF"/>
                </a:solidFill>
                <a:latin typeface="Montserrat" pitchFamily="34" charset="0"/>
                <a:ea typeface="Montserrat" pitchFamily="34" charset="-122"/>
                <a:cs typeface="Montserrat" pitchFamily="34" charset="-120"/>
              </a:rPr>
              <a:t>A version-controlled repository, a reproducible notebook, and a provenance log.</a:t>
            </a:r>
            <a:endParaRPr lang="en-US" sz="2200" dirty="0"/>
          </a:p>
        </p:txBody>
      </p:sp>
      <p:sp>
        <p:nvSpPr>
          <p:cNvPr id="5" name="Text 3"/>
          <p:cNvSpPr/>
          <p:nvPr/>
        </p:nvSpPr>
        <p:spPr>
          <a:xfrm>
            <a:off x="822960" y="3840480"/>
            <a:ext cx="10058400" cy="365760"/>
          </a:xfrm>
          <a:prstGeom prst="rect">
            <a:avLst/>
          </a:prstGeom>
          <a:noFill/>
          <a:ln/>
        </p:spPr>
        <p:txBody>
          <a:bodyPr wrap="square" rtlCol="0" anchor="ctr"/>
          <a:lstStyle/>
          <a:p>
            <a:pPr indent="0" marL="0">
              <a:buNone/>
            </a:pPr>
            <a:r>
              <a:rPr lang="en-US" sz="1400" b="1" spc="100" kern="0" dirty="0">
                <a:solidFill>
                  <a:srgbClr val="879EC3"/>
                </a:solidFill>
                <a:latin typeface="Open Sans" pitchFamily="34" charset="0"/>
                <a:ea typeface="Open Sans" pitchFamily="34" charset="-122"/>
                <a:cs typeface="Open Sans" pitchFamily="34" charset="-120"/>
              </a:rPr>
              <a:t>How this feeds the whole</a:t>
            </a:r>
            <a:endParaRPr lang="en-US" sz="1400" dirty="0"/>
          </a:p>
        </p:txBody>
      </p:sp>
      <p:sp>
        <p:nvSpPr>
          <p:cNvPr id="6" name="Text 4"/>
          <p:cNvSpPr/>
          <p:nvPr/>
        </p:nvSpPr>
        <p:spPr>
          <a:xfrm>
            <a:off x="822960" y="4251960"/>
            <a:ext cx="10332720" cy="1280160"/>
          </a:xfrm>
          <a:prstGeom prst="rect">
            <a:avLst/>
          </a:prstGeom>
          <a:noFill/>
          <a:ln/>
        </p:spPr>
        <p:txBody>
          <a:bodyPr wrap="square" rtlCol="0" anchor="t"/>
          <a:lstStyle/>
          <a:p>
            <a:pPr indent="0" marL="0">
              <a:buNone/>
            </a:pPr>
            <a:r>
              <a:rPr lang="en-US" sz="1600" dirty="0">
                <a:solidFill>
                  <a:srgbClr val="CFDCE9"/>
                </a:solidFill>
                <a:latin typeface="Open Sans" pitchFamily="34" charset="0"/>
                <a:ea typeface="Open Sans" pitchFamily="34" charset="-122"/>
                <a:cs typeface="Open Sans" pitchFamily="34" charset="-120"/>
              </a:rPr>
              <a:t>This deliverable becomes one stage of the continuous capstone project, assembled across the term, not written at the end.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2026-07-21T12:29:59Z</dcterms:created>
  <dcterms:modified xsi:type="dcterms:W3CDTF">2026-07-21T12:29:59Z</dcterms:modified>
</cp:coreProperties>
</file>