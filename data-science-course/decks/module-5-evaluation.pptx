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Module 5. State the objective in one sentence: Evaluate predictive power with resampling, appropriate metrics, and the bias-variance trade-off, and quantify uncertainty. Then tell them the week's arc: we explore the idea in an interactive model, practice on a low-stakes slice, and apply it to your own project in The Data-Incident Autopsy. Remind them the deliverable feeds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objective from the student's perspective, then walk the three-part arc. Emphasize that the graded work, The Data-Incident Autopsy, is a professional simulation, not a quiz, and that the interactive comes first so intuition precedes formalism.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these three points in order; each is a decision students must defend, not a fact to memorize. Tie every one back to the objective and to what The Data-Incident Autopsy will ask them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interactive live if you can, and narrate what to notice. The practice task is ungraded or low-stakes; its job is instant feedback before the graded simulation. Invite students to post one thing the interactive surprised them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work. Read the brief, then point students to the rubric and the software guide before they begin. Stress that it is judged the way real practice judges it, and that the live defense cannot be outsourced.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exactly what to submit and when, restating the response and feedback window, and previewing how this piece connects to the capstone. End with the weekly reflection: what you saw in their posted work that was strong, and what to shore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314D"/>
        </a:solidFill>
      </p:bgPr>
    </p:bg>
    <p:spTree>
      <p:nvGrpSpPr>
        <p:cNvPr id="1" name=""/>
        <p:cNvGrpSpPr/>
        <p:nvPr/>
      </p:nvGrpSpPr>
      <p:grpSpPr>
        <a:xfrm>
          <a:off x="0" y="0"/>
          <a:ext cx="0" cy="0"/>
          <a:chOff x="0" y="0"/>
          <a:chExt cx="0" cy="0"/>
        </a:xfrm>
      </p:grpSpPr>
      <p:sp>
        <p:nvSpPr>
          <p:cNvPr id="2" name="Text 0"/>
          <p:cNvSpPr/>
          <p:nvPr/>
        </p:nvSpPr>
        <p:spPr>
          <a:xfrm>
            <a:off x="822960" y="1554480"/>
            <a:ext cx="10058400" cy="457200"/>
          </a:xfrm>
          <a:prstGeom prst="rect">
            <a:avLst/>
          </a:prstGeom>
          <a:noFill/>
          <a:ln/>
        </p:spPr>
        <p:txBody>
          <a:bodyPr wrap="square" rtlCol="0" anchor="ctr"/>
          <a:lstStyle/>
          <a:p>
            <a:pPr indent="0" marL="0">
              <a:buNone/>
            </a:pPr>
            <a:r>
              <a:rPr lang="en-US" sz="1600" b="1" spc="300" kern="0" dirty="0">
                <a:solidFill>
                  <a:srgbClr val="879EC3"/>
                </a:solidFill>
                <a:latin typeface="Open Sans" pitchFamily="34" charset="0"/>
                <a:ea typeface="Open Sans" pitchFamily="34" charset="-122"/>
                <a:cs typeface="Open Sans" pitchFamily="34" charset="-120"/>
              </a:rPr>
              <a:t>MODULE 5</a:t>
            </a:r>
            <a:endParaRPr lang="en-US" sz="1600" dirty="0"/>
          </a:p>
        </p:txBody>
      </p:sp>
      <p:sp>
        <p:nvSpPr>
          <p:cNvPr id="3" name="Text 1"/>
          <p:cNvSpPr/>
          <p:nvPr/>
        </p:nvSpPr>
        <p:spPr>
          <a:xfrm>
            <a:off x="822960" y="2011680"/>
            <a:ext cx="10515600" cy="1828800"/>
          </a:xfrm>
          <a:prstGeom prst="rect">
            <a:avLst/>
          </a:prstGeom>
          <a:noFill/>
          <a:ln/>
        </p:spPr>
        <p:txBody>
          <a:bodyPr wrap="square" rtlCol="0" anchor="ctr"/>
          <a:lstStyle/>
          <a:p>
            <a:pPr indent="0" marL="0">
              <a:lnSpc>
                <a:spcPct val="102000"/>
              </a:lnSpc>
              <a:buNone/>
            </a:pPr>
            <a:r>
              <a:rPr lang="en-US" sz="4000" b="1" dirty="0">
                <a:solidFill>
                  <a:srgbClr val="FFFFFF"/>
                </a:solidFill>
                <a:latin typeface="Montserrat" pitchFamily="34" charset="0"/>
                <a:ea typeface="Montserrat" pitchFamily="34" charset="-122"/>
                <a:cs typeface="Montserrat" pitchFamily="34" charset="-120"/>
              </a:rPr>
              <a:t>Rigorous model evaluation</a:t>
            </a:r>
            <a:endParaRPr lang="en-US" sz="4000" dirty="0"/>
          </a:p>
        </p:txBody>
      </p:sp>
      <p:sp>
        <p:nvSpPr>
          <p:cNvPr id="4" name="Text 2"/>
          <p:cNvSpPr/>
          <p:nvPr/>
        </p:nvSpPr>
        <p:spPr>
          <a:xfrm>
            <a:off x="841248" y="3977640"/>
            <a:ext cx="10058400" cy="457200"/>
          </a:xfrm>
          <a:prstGeom prst="rect">
            <a:avLst/>
          </a:prstGeom>
          <a:noFill/>
          <a:ln/>
        </p:spPr>
        <p:txBody>
          <a:bodyPr wrap="square" rtlCol="0" anchor="ctr"/>
          <a:lstStyle/>
          <a:p>
            <a:pPr indent="0" marL="0">
              <a:buNone/>
            </a:pPr>
            <a:r>
              <a:rPr lang="en-US" sz="1600" dirty="0">
                <a:solidFill>
                  <a:srgbClr val="CFDCE9"/>
                </a:solidFill>
                <a:latin typeface="Open Sans" pitchFamily="34" charset="0"/>
                <a:ea typeface="Open Sans" pitchFamily="34" charset="-122"/>
                <a:cs typeface="Open Sans" pitchFamily="34" charset="-120"/>
              </a:rPr>
              <a:t>Advanced Data Science  ·  Weeks 9–10  ·  about 18 student hours</a:t>
            </a:r>
            <a:endParaRPr lang="en-US" sz="1600" dirty="0"/>
          </a:p>
        </p:txBody>
      </p:sp>
      <p:sp>
        <p:nvSpPr>
          <p:cNvPr id="5" name="Text 3"/>
          <p:cNvSpPr/>
          <p:nvPr/>
        </p:nvSpPr>
        <p:spPr>
          <a:xfrm>
            <a:off x="841248" y="6126480"/>
            <a:ext cx="10058400" cy="365760"/>
          </a:xfrm>
          <a:prstGeom prst="rect">
            <a:avLst/>
          </a:prstGeom>
          <a:noFill/>
          <a:ln/>
        </p:spPr>
        <p:txBody>
          <a:bodyPr wrap="square" rtlCol="0" anchor="ctr"/>
          <a:lstStyle/>
          <a:p>
            <a:pPr indent="0" marL="0">
              <a:buNone/>
            </a:pPr>
            <a:r>
              <a:rPr lang="en-US" sz="1200" i="1" dirty="0">
                <a:solidFill>
                  <a:srgbClr val="879EC3"/>
                </a:solidFill>
                <a:latin typeface="Open Sans" pitchFamily="34" charset="0"/>
                <a:ea typeface="Open Sans" pitchFamily="34" charset="-122"/>
                <a:cs typeface="Open Sans" pitchFamily="34" charset="-120"/>
              </a:rPr>
              <a:t>Instructor deck  ·  speaker notes carry the teaching script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This module</a:t>
            </a:r>
            <a:endParaRPr lang="en-US" sz="2600" dirty="0"/>
          </a:p>
        </p:txBody>
      </p:sp>
      <p:sp>
        <p:nvSpPr>
          <p:cNvPr id="3" name="Text 1"/>
          <p:cNvSpPr/>
          <p:nvPr/>
        </p:nvSpPr>
        <p:spPr>
          <a:xfrm>
            <a:off x="822960" y="1051560"/>
            <a:ext cx="10058400" cy="320040"/>
          </a:xfrm>
          <a:prstGeom prst="rect">
            <a:avLst/>
          </a:prstGeom>
          <a:noFill/>
          <a:ln/>
        </p:spPr>
        <p:txBody>
          <a:bodyPr wrap="square" rtlCol="0" anchor="ctr"/>
          <a:lstStyle/>
          <a:p>
            <a:pPr indent="0" marL="0">
              <a:buNone/>
            </a:pPr>
            <a:r>
              <a:rPr lang="en-US" sz="1300" b="1" dirty="0">
                <a:solidFill>
                  <a:srgbClr val="09396C"/>
                </a:solidFill>
                <a:latin typeface="Open Sans" pitchFamily="34" charset="0"/>
                <a:ea typeface="Open Sans" pitchFamily="34" charset="-122"/>
                <a:cs typeface="Open Sans" pitchFamily="34" charset="-120"/>
              </a:rPr>
              <a:t>RSI: direct instruction · group discussion · feedback</a:t>
            </a:r>
            <a:endParaRPr lang="en-US" sz="1300" dirty="0"/>
          </a:p>
        </p:txBody>
      </p:sp>
      <p:sp>
        <p:nvSpPr>
          <p:cNvPr id="4" name="Text 2"/>
          <p:cNvSpPr/>
          <p:nvPr/>
        </p:nvSpPr>
        <p:spPr>
          <a:xfrm>
            <a:off x="822960" y="1554480"/>
            <a:ext cx="10515600" cy="1188720"/>
          </a:xfrm>
          <a:prstGeom prst="rect">
            <a:avLst/>
          </a:prstGeom>
          <a:noFill/>
          <a:ln/>
        </p:spPr>
        <p:txBody>
          <a:bodyPr wrap="square" rtlCol="0" anchor="ctr"/>
          <a:lstStyle/>
          <a:p>
            <a:pPr indent="0" marL="0">
              <a:lnSpc>
                <a:spcPct val="105000"/>
              </a:lnSpc>
              <a:buNone/>
            </a:pPr>
            <a:r>
              <a:rPr lang="en-US" sz="2200" i="1" dirty="0">
                <a:solidFill>
                  <a:srgbClr val="21314D"/>
                </a:solidFill>
                <a:latin typeface="Montserrat" pitchFamily="34" charset="0"/>
                <a:ea typeface="Montserrat" pitchFamily="34" charset="-122"/>
                <a:cs typeface="Montserrat" pitchFamily="34" charset="-120"/>
              </a:rPr>
              <a:t>Evaluate predictive power with resampling, appropriate metrics, and the bias-variance trade-off, and quantify uncertainty.</a:t>
            </a:r>
            <a:endParaRPr lang="en-US" sz="2200" dirty="0"/>
          </a:p>
        </p:txBody>
      </p:sp>
      <p:sp>
        <p:nvSpPr>
          <p:cNvPr id="5" name="Shape 3"/>
          <p:cNvSpPr/>
          <p:nvPr/>
        </p:nvSpPr>
        <p:spPr>
          <a:xfrm>
            <a:off x="822960" y="3200400"/>
            <a:ext cx="3383280" cy="2651760"/>
          </a:xfrm>
          <a:prstGeom prst="roundRect">
            <a:avLst>
              <a:gd name="adj" fmla="val 3103"/>
            </a:avLst>
          </a:prstGeom>
          <a:solidFill>
            <a:srgbClr val="CFDCE9"/>
          </a:solidFill>
          <a:ln w="12700">
            <a:solidFill>
              <a:srgbClr val="879EC3"/>
            </a:solidFill>
            <a:prstDash val="solid"/>
          </a:ln>
        </p:spPr>
      </p:sp>
      <p:sp>
        <p:nvSpPr>
          <p:cNvPr id="6" name="Shape 4"/>
          <p:cNvSpPr/>
          <p:nvPr/>
        </p:nvSpPr>
        <p:spPr>
          <a:xfrm>
            <a:off x="1097280" y="3474720"/>
            <a:ext cx="384048" cy="384048"/>
          </a:xfrm>
          <a:prstGeom prst="ellipse">
            <a:avLst/>
          </a:prstGeom>
          <a:solidFill>
            <a:srgbClr val="09396C"/>
          </a:solidFill>
          <a:ln/>
        </p:spPr>
      </p:sp>
      <p:sp>
        <p:nvSpPr>
          <p:cNvPr id="7" name="Text 5"/>
          <p:cNvSpPr/>
          <p:nvPr/>
        </p:nvSpPr>
        <p:spPr>
          <a:xfrm>
            <a:off x="109728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8" name="Text 6"/>
          <p:cNvSpPr/>
          <p:nvPr/>
        </p:nvSpPr>
        <p:spPr>
          <a:xfrm>
            <a:off x="160020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Explore</a:t>
            </a:r>
            <a:endParaRPr lang="en-US" sz="1900" dirty="0"/>
          </a:p>
        </p:txBody>
      </p:sp>
      <p:sp>
        <p:nvSpPr>
          <p:cNvPr id="9" name="Text 7"/>
          <p:cNvSpPr/>
          <p:nvPr/>
        </p:nvSpPr>
        <p:spPr>
          <a:xfrm>
            <a:off x="109728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An interactive model you manipulate before you read about it.</a:t>
            </a:r>
            <a:endParaRPr lang="en-US" sz="1400" dirty="0"/>
          </a:p>
        </p:txBody>
      </p:sp>
      <p:sp>
        <p:nvSpPr>
          <p:cNvPr id="10" name="Shape 8"/>
          <p:cNvSpPr/>
          <p:nvPr/>
        </p:nvSpPr>
        <p:spPr>
          <a:xfrm>
            <a:off x="4434840" y="3200400"/>
            <a:ext cx="3383280" cy="2651760"/>
          </a:xfrm>
          <a:prstGeom prst="roundRect">
            <a:avLst>
              <a:gd name="adj" fmla="val 3103"/>
            </a:avLst>
          </a:prstGeom>
          <a:solidFill>
            <a:srgbClr val="CFDCE9"/>
          </a:solidFill>
          <a:ln w="12700">
            <a:solidFill>
              <a:srgbClr val="879EC3"/>
            </a:solidFill>
            <a:prstDash val="solid"/>
          </a:ln>
        </p:spPr>
      </p:sp>
      <p:sp>
        <p:nvSpPr>
          <p:cNvPr id="11" name="Shape 9"/>
          <p:cNvSpPr/>
          <p:nvPr/>
        </p:nvSpPr>
        <p:spPr>
          <a:xfrm>
            <a:off x="4709160" y="3474720"/>
            <a:ext cx="384048" cy="384048"/>
          </a:xfrm>
          <a:prstGeom prst="ellipse">
            <a:avLst/>
          </a:prstGeom>
          <a:solidFill>
            <a:srgbClr val="09396C"/>
          </a:solidFill>
          <a:ln/>
        </p:spPr>
      </p:sp>
      <p:sp>
        <p:nvSpPr>
          <p:cNvPr id="12" name="Text 10"/>
          <p:cNvSpPr/>
          <p:nvPr/>
        </p:nvSpPr>
        <p:spPr>
          <a:xfrm>
            <a:off x="470916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13" name="Text 11"/>
          <p:cNvSpPr/>
          <p:nvPr/>
        </p:nvSpPr>
        <p:spPr>
          <a:xfrm>
            <a:off x="521208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Practice</a:t>
            </a:r>
            <a:endParaRPr lang="en-US" sz="1900" dirty="0"/>
          </a:p>
        </p:txBody>
      </p:sp>
      <p:sp>
        <p:nvSpPr>
          <p:cNvPr id="14" name="Text 12"/>
          <p:cNvSpPr/>
          <p:nvPr/>
        </p:nvSpPr>
        <p:spPr>
          <a:xfrm>
            <a:off x="470916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A low-stakes exercise on a throwaway slice, instant feedback.</a:t>
            </a:r>
            <a:endParaRPr lang="en-US" sz="1400" dirty="0"/>
          </a:p>
        </p:txBody>
      </p:sp>
      <p:sp>
        <p:nvSpPr>
          <p:cNvPr id="15" name="Shape 13"/>
          <p:cNvSpPr/>
          <p:nvPr/>
        </p:nvSpPr>
        <p:spPr>
          <a:xfrm>
            <a:off x="8046720" y="3200400"/>
            <a:ext cx="3383280" cy="2651760"/>
          </a:xfrm>
          <a:prstGeom prst="roundRect">
            <a:avLst>
              <a:gd name="adj" fmla="val 3103"/>
            </a:avLst>
          </a:prstGeom>
          <a:solidFill>
            <a:srgbClr val="CFDCE9"/>
          </a:solidFill>
          <a:ln w="12700">
            <a:solidFill>
              <a:srgbClr val="879EC3"/>
            </a:solidFill>
            <a:prstDash val="solid"/>
          </a:ln>
        </p:spPr>
      </p:sp>
      <p:sp>
        <p:nvSpPr>
          <p:cNvPr id="16" name="Shape 14"/>
          <p:cNvSpPr/>
          <p:nvPr/>
        </p:nvSpPr>
        <p:spPr>
          <a:xfrm>
            <a:off x="8321040" y="3474720"/>
            <a:ext cx="384048" cy="384048"/>
          </a:xfrm>
          <a:prstGeom prst="ellipse">
            <a:avLst/>
          </a:prstGeom>
          <a:solidFill>
            <a:srgbClr val="09396C"/>
          </a:solidFill>
          <a:ln/>
        </p:spPr>
      </p:sp>
      <p:sp>
        <p:nvSpPr>
          <p:cNvPr id="17" name="Text 15"/>
          <p:cNvSpPr/>
          <p:nvPr/>
        </p:nvSpPr>
        <p:spPr>
          <a:xfrm>
            <a:off x="832104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18" name="Text 16"/>
          <p:cNvSpPr/>
          <p:nvPr/>
        </p:nvSpPr>
        <p:spPr>
          <a:xfrm>
            <a:off x="882396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Apply</a:t>
            </a:r>
            <a:endParaRPr lang="en-US" sz="1900" dirty="0"/>
          </a:p>
        </p:txBody>
      </p:sp>
      <p:sp>
        <p:nvSpPr>
          <p:cNvPr id="19" name="Text 17"/>
          <p:cNvSpPr/>
          <p:nvPr/>
        </p:nvSpPr>
        <p:spPr>
          <a:xfrm>
            <a:off x="832104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The Data-Incident Autopsy: the graded simulation on your own project.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Key concepts</a:t>
            </a:r>
            <a:endParaRPr lang="en-US" sz="2600" dirty="0"/>
          </a:p>
        </p:txBody>
      </p:sp>
      <p:sp>
        <p:nvSpPr>
          <p:cNvPr id="3" name="Shape 1"/>
          <p:cNvSpPr/>
          <p:nvPr/>
        </p:nvSpPr>
        <p:spPr>
          <a:xfrm>
            <a:off x="822960" y="1463040"/>
            <a:ext cx="384048" cy="384048"/>
          </a:xfrm>
          <a:prstGeom prst="ellipse">
            <a:avLst/>
          </a:prstGeom>
          <a:solidFill>
            <a:srgbClr val="21314D"/>
          </a:solidFill>
          <a:ln/>
        </p:spPr>
      </p:sp>
      <p:sp>
        <p:nvSpPr>
          <p:cNvPr id="4" name="Text 2"/>
          <p:cNvSpPr/>
          <p:nvPr/>
        </p:nvSpPr>
        <p:spPr>
          <a:xfrm>
            <a:off x="82296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5" name="Text 3"/>
          <p:cNvSpPr/>
          <p:nvPr/>
        </p:nvSpPr>
        <p:spPr>
          <a:xfrm>
            <a:off x="1417320" y="14173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Fitting is not generalizing</a:t>
            </a:r>
            <a:endParaRPr lang="en-US" sz="1900" dirty="0"/>
          </a:p>
        </p:txBody>
      </p:sp>
      <p:sp>
        <p:nvSpPr>
          <p:cNvPr id="6" name="Text 4"/>
          <p:cNvSpPr/>
          <p:nvPr/>
        </p:nvSpPr>
        <p:spPr>
          <a:xfrm>
            <a:off x="1417320" y="18745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Hold data back. The test set is sacred, and leakage is the cardinal sin of applied modeling.</a:t>
            </a:r>
            <a:endParaRPr lang="en-US" sz="1500" dirty="0"/>
          </a:p>
        </p:txBody>
      </p:sp>
      <p:sp>
        <p:nvSpPr>
          <p:cNvPr id="7" name="Shape 5"/>
          <p:cNvSpPr/>
          <p:nvPr/>
        </p:nvSpPr>
        <p:spPr>
          <a:xfrm>
            <a:off x="822960" y="3063240"/>
            <a:ext cx="384048" cy="384048"/>
          </a:xfrm>
          <a:prstGeom prst="ellipse">
            <a:avLst/>
          </a:prstGeom>
          <a:solidFill>
            <a:srgbClr val="09396C"/>
          </a:solidFill>
          <a:ln/>
        </p:spPr>
      </p:sp>
      <p:sp>
        <p:nvSpPr>
          <p:cNvPr id="8" name="Text 6"/>
          <p:cNvSpPr/>
          <p:nvPr/>
        </p:nvSpPr>
        <p:spPr>
          <a:xfrm>
            <a:off x="822960" y="30632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9" name="Text 7"/>
          <p:cNvSpPr/>
          <p:nvPr/>
        </p:nvSpPr>
        <p:spPr>
          <a:xfrm>
            <a:off x="1417320" y="30175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The right metric for the problem</a:t>
            </a:r>
            <a:endParaRPr lang="en-US" sz="1900" dirty="0"/>
          </a:p>
        </p:txBody>
      </p:sp>
      <p:sp>
        <p:nvSpPr>
          <p:cNvPr id="10" name="Text 8"/>
          <p:cNvSpPr/>
          <p:nvPr/>
        </p:nvSpPr>
        <p:spPr>
          <a:xfrm>
            <a:off x="1417320" y="34747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Accuracy lies under class imbalance. Choose the metric the decision actually needs.</a:t>
            </a:r>
            <a:endParaRPr lang="en-US" sz="1500" dirty="0"/>
          </a:p>
        </p:txBody>
      </p:sp>
      <p:sp>
        <p:nvSpPr>
          <p:cNvPr id="11" name="Shape 9"/>
          <p:cNvSpPr/>
          <p:nvPr/>
        </p:nvSpPr>
        <p:spPr>
          <a:xfrm>
            <a:off x="822960" y="4663440"/>
            <a:ext cx="384048" cy="384048"/>
          </a:xfrm>
          <a:prstGeom prst="ellipse">
            <a:avLst/>
          </a:prstGeom>
          <a:solidFill>
            <a:srgbClr val="0272DE"/>
          </a:solidFill>
          <a:ln/>
        </p:spPr>
      </p:sp>
      <p:sp>
        <p:nvSpPr>
          <p:cNvPr id="12" name="Text 10"/>
          <p:cNvSpPr/>
          <p:nvPr/>
        </p:nvSpPr>
        <p:spPr>
          <a:xfrm>
            <a:off x="822960" y="46634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13" name="Text 11"/>
          <p:cNvSpPr/>
          <p:nvPr/>
        </p:nvSpPr>
        <p:spPr>
          <a:xfrm>
            <a:off x="1417320" y="46177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Report uncertainty</a:t>
            </a:r>
            <a:endParaRPr lang="en-US" sz="1900" dirty="0"/>
          </a:p>
        </p:txBody>
      </p:sp>
      <p:sp>
        <p:nvSpPr>
          <p:cNvPr id="14" name="Text 12"/>
          <p:cNvSpPr/>
          <p:nvPr/>
        </p:nvSpPr>
        <p:spPr>
          <a:xfrm>
            <a:off x="1417320" y="50749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A single number is a claim without a confidence interval. Bootstrap it and report the variance.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Explore it, then practice</a:t>
            </a:r>
            <a:endParaRPr lang="en-US" sz="2600" dirty="0"/>
          </a:p>
        </p:txBody>
      </p:sp>
      <p:sp>
        <p:nvSpPr>
          <p:cNvPr id="3" name="Shape 1"/>
          <p:cNvSpPr/>
          <p:nvPr/>
        </p:nvSpPr>
        <p:spPr>
          <a:xfrm>
            <a:off x="822960" y="1371600"/>
            <a:ext cx="5212080" cy="4297680"/>
          </a:xfrm>
          <a:prstGeom prst="roundRect">
            <a:avLst>
              <a:gd name="adj" fmla="val 1915"/>
            </a:avLst>
          </a:prstGeom>
          <a:solidFill>
            <a:srgbClr val="CFDCE9"/>
          </a:solidFill>
          <a:ln w="12700">
            <a:solidFill>
              <a:srgbClr val="879EC3"/>
            </a:solidFill>
            <a:prstDash val="solid"/>
          </a:ln>
        </p:spPr>
      </p:sp>
      <p:sp>
        <p:nvSpPr>
          <p:cNvPr id="4" name="Text 2"/>
          <p:cNvSpPr/>
          <p:nvPr/>
        </p:nvSpPr>
        <p:spPr>
          <a:xfrm>
            <a:off x="1097280" y="1600200"/>
            <a:ext cx="4663440" cy="36576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Explore  (interactive)</a:t>
            </a:r>
            <a:endParaRPr lang="en-US" sz="1300" dirty="0"/>
          </a:p>
        </p:txBody>
      </p:sp>
      <p:sp>
        <p:nvSpPr>
          <p:cNvPr id="5" name="Text 3"/>
          <p:cNvSpPr/>
          <p:nvPr/>
        </p:nvSpPr>
        <p:spPr>
          <a:xfrm>
            <a:off x="1097280" y="1965960"/>
            <a:ext cx="4663440" cy="822960"/>
          </a:xfrm>
          <a:prstGeom prst="rect">
            <a:avLst/>
          </a:prstGeom>
          <a:noFill/>
          <a:ln/>
        </p:spPr>
        <p:txBody>
          <a:bodyPr wrap="square" rtlCol="0" anchor="ctr"/>
          <a:lstStyle/>
          <a:p>
            <a:pPr indent="0" marL="0">
              <a:buNone/>
            </a:pPr>
            <a:r>
              <a:rPr lang="en-US" sz="1800" b="1" dirty="0">
                <a:solidFill>
                  <a:srgbClr val="21314D"/>
                </a:solidFill>
                <a:latin typeface="Montserrat" pitchFamily="34" charset="0"/>
                <a:ea typeface="Montserrat" pitchFamily="34" charset="-122"/>
                <a:cs typeface="Montserrat" pitchFamily="34" charset="-120"/>
              </a:rPr>
              <a:t>MLU-Explain Cross-Validation, ROC/AUC, Bias-Variance</a:t>
            </a:r>
            <a:endParaRPr lang="en-US" sz="1800" dirty="0"/>
          </a:p>
        </p:txBody>
      </p:sp>
      <p:sp>
        <p:nvSpPr>
          <p:cNvPr id="6" name="Text 4"/>
          <p:cNvSpPr/>
          <p:nvPr/>
        </p:nvSpPr>
        <p:spPr>
          <a:xfrm>
            <a:off x="1097280" y="2880360"/>
            <a:ext cx="4663440" cy="2560320"/>
          </a:xfrm>
          <a:prstGeom prst="rect">
            <a:avLst/>
          </a:prstGeom>
          <a:noFill/>
          <a:ln/>
        </p:spPr>
        <p:txBody>
          <a:bodyPr wrap="square" rtlCol="0" anchor="t"/>
          <a:lstStyle/>
          <a:p>
            <a:pPr indent="0" marL="0">
              <a:buNone/>
            </a:pPr>
            <a:r>
              <a:rPr lang="en-US" sz="1500" dirty="0">
                <a:solidFill>
                  <a:srgbClr val="21314D"/>
                </a:solidFill>
                <a:latin typeface="Open Sans" pitchFamily="34" charset="0"/>
                <a:ea typeface="Open Sans" pitchFamily="34" charset="-122"/>
                <a:cs typeface="Open Sans" pitchFamily="34" charset="-120"/>
              </a:rPr>
              <a:t>Move the ROC threshold and watch the confusion matrix; see variance shrink as folds increase.</a:t>
            </a:r>
            <a:endParaRPr lang="en-US" sz="1500" dirty="0"/>
          </a:p>
        </p:txBody>
      </p:sp>
      <p:sp>
        <p:nvSpPr>
          <p:cNvPr id="7" name="Shape 5"/>
          <p:cNvSpPr/>
          <p:nvPr/>
        </p:nvSpPr>
        <p:spPr>
          <a:xfrm>
            <a:off x="6309360" y="1371600"/>
            <a:ext cx="5029200" cy="4297680"/>
          </a:xfrm>
          <a:prstGeom prst="roundRect">
            <a:avLst>
              <a:gd name="adj" fmla="val 1915"/>
            </a:avLst>
          </a:prstGeom>
          <a:solidFill>
            <a:srgbClr val="FFFFFF"/>
          </a:solidFill>
          <a:ln w="12700">
            <a:solidFill>
              <a:srgbClr val="879EC3"/>
            </a:solidFill>
            <a:prstDash val="solid"/>
          </a:ln>
        </p:spPr>
      </p:sp>
      <p:sp>
        <p:nvSpPr>
          <p:cNvPr id="8" name="Text 6"/>
          <p:cNvSpPr/>
          <p:nvPr/>
        </p:nvSpPr>
        <p:spPr>
          <a:xfrm>
            <a:off x="6583680" y="1600200"/>
            <a:ext cx="4572000" cy="36576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Practice  (formative, low-stakes)</a:t>
            </a:r>
            <a:endParaRPr lang="en-US" sz="1300" dirty="0"/>
          </a:p>
        </p:txBody>
      </p:sp>
      <p:sp>
        <p:nvSpPr>
          <p:cNvPr id="9" name="Text 7"/>
          <p:cNvSpPr/>
          <p:nvPr/>
        </p:nvSpPr>
        <p:spPr>
          <a:xfrm>
            <a:off x="6583680" y="2057400"/>
            <a:ext cx="4480560" cy="3291840"/>
          </a:xfrm>
          <a:prstGeom prst="rect">
            <a:avLst/>
          </a:prstGeom>
          <a:noFill/>
          <a:ln/>
        </p:spPr>
        <p:txBody>
          <a:bodyPr wrap="square" rtlCol="0" anchor="t"/>
          <a:lstStyle/>
          <a:p>
            <a:pPr indent="0" marL="0">
              <a:buNone/>
            </a:pPr>
            <a:r>
              <a:rPr lang="en-US" sz="1600" dirty="0">
                <a:solidFill>
                  <a:srgbClr val="21314D"/>
                </a:solidFill>
                <a:latin typeface="Open Sans" pitchFamily="34" charset="0"/>
                <a:ea typeface="Open Sans" pitchFamily="34" charset="-122"/>
                <a:cs typeface="Open Sans" pitchFamily="34" charset="-120"/>
              </a:rPr>
              <a:t>Cross-validate your model and report a metric with a bootstrap confidence interval.</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73152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Apply it</a:t>
            </a:r>
            <a:endParaRPr lang="en-US" sz="2600" dirty="0"/>
          </a:p>
        </p:txBody>
      </p:sp>
      <p:sp>
        <p:nvSpPr>
          <p:cNvPr id="3" name="Text 1"/>
          <p:cNvSpPr/>
          <p:nvPr/>
        </p:nvSpPr>
        <p:spPr>
          <a:xfrm>
            <a:off x="822960" y="1024128"/>
            <a:ext cx="10058400" cy="32004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Authentic assessment · simulation</a:t>
            </a:r>
            <a:endParaRPr lang="en-US" sz="1300" dirty="0"/>
          </a:p>
        </p:txBody>
      </p:sp>
      <p:sp>
        <p:nvSpPr>
          <p:cNvPr id="4" name="Shape 2"/>
          <p:cNvSpPr/>
          <p:nvPr/>
        </p:nvSpPr>
        <p:spPr>
          <a:xfrm>
            <a:off x="822960" y="1463040"/>
            <a:ext cx="10515600" cy="1783080"/>
          </a:xfrm>
          <a:prstGeom prst="roundRect">
            <a:avLst>
              <a:gd name="adj" fmla="val 4615"/>
            </a:avLst>
          </a:prstGeom>
          <a:solidFill>
            <a:srgbClr val="CFDCE9"/>
          </a:solidFill>
          <a:ln w="12700">
            <a:solidFill>
              <a:srgbClr val="879EC3"/>
            </a:solidFill>
            <a:prstDash val="solid"/>
          </a:ln>
        </p:spPr>
      </p:sp>
      <p:sp>
        <p:nvSpPr>
          <p:cNvPr id="5" name="Text 3"/>
          <p:cNvSpPr/>
          <p:nvPr/>
        </p:nvSpPr>
        <p:spPr>
          <a:xfrm>
            <a:off x="1097280" y="1627632"/>
            <a:ext cx="10058400" cy="457200"/>
          </a:xfrm>
          <a:prstGeom prst="rect">
            <a:avLst/>
          </a:prstGeom>
          <a:noFill/>
          <a:ln/>
        </p:spPr>
        <p:txBody>
          <a:bodyPr wrap="square" lIns="0" tIns="0" rIns="0" bIns="0" rtlCol="0" anchor="ctr"/>
          <a:lstStyle/>
          <a:p>
            <a:pPr indent="0" marL="0">
              <a:buNone/>
            </a:pPr>
            <a:r>
              <a:rPr lang="en-US" sz="2000" b="1" dirty="0">
                <a:solidFill>
                  <a:srgbClr val="21314D"/>
                </a:solidFill>
                <a:latin typeface="Montserrat" pitchFamily="34" charset="0"/>
                <a:ea typeface="Montserrat" pitchFamily="34" charset="-122"/>
                <a:cs typeface="Montserrat" pitchFamily="34" charset="-120"/>
              </a:rPr>
              <a:t>The Data-Incident Autopsy</a:t>
            </a:r>
            <a:endParaRPr lang="en-US" sz="2000" dirty="0"/>
          </a:p>
        </p:txBody>
      </p:sp>
      <p:sp>
        <p:nvSpPr>
          <p:cNvPr id="6" name="Text 4"/>
          <p:cNvSpPr/>
          <p:nvPr/>
        </p:nvSpPr>
        <p:spPr>
          <a:xfrm>
            <a:off x="1097280" y="2121408"/>
            <a:ext cx="10058400" cy="1005840"/>
          </a:xfrm>
          <a:prstGeom prst="rect">
            <a:avLst/>
          </a:prstGeom>
          <a:noFill/>
          <a:ln/>
        </p:spPr>
        <p:txBody>
          <a:bodyPr wrap="square" lIns="0" tIns="0" rIns="0" bIns="0" rtlCol="0" anchor="t"/>
          <a:lstStyle/>
          <a:p>
            <a:pPr indent="0" marL="0">
              <a:buNone/>
            </a:pPr>
            <a:r>
              <a:rPr lang="en-US" sz="1450" dirty="0">
                <a:solidFill>
                  <a:srgbClr val="21314D"/>
                </a:solidFill>
                <a:latin typeface="Open Sans" pitchFamily="34" charset="0"/>
                <a:ea typeface="Open Sans" pitchFamily="34" charset="-122"/>
                <a:cs typeface="Open Sans" pitchFamily="34" charset="-120"/>
              </a:rPr>
              <a:t>Audit a 'production-ready' model with planted target leakage, train/test contamination, a wrong metric, and a subgroup on which performance collapses. Redesign the resampling, re-score, and issue a go/no-go.</a:t>
            </a:r>
            <a:endParaRPr lang="en-US" sz="1450" dirty="0"/>
          </a:p>
        </p:txBody>
      </p:sp>
      <p:sp>
        <p:nvSpPr>
          <p:cNvPr id="7" name="Text 5"/>
          <p:cNvSpPr/>
          <p:nvPr/>
        </p:nvSpPr>
        <p:spPr>
          <a:xfrm>
            <a:off x="822960" y="3520440"/>
            <a:ext cx="10515600" cy="822960"/>
          </a:xfrm>
          <a:prstGeom prst="rect">
            <a:avLst/>
          </a:prstGeom>
          <a:noFill/>
          <a:ln/>
        </p:spPr>
        <p:txBody>
          <a:bodyPr wrap="square" rtlCol="0" anchor="t"/>
          <a:lstStyle/>
          <a:p>
            <a:pPr indent="0" marL="0">
              <a:buNone/>
            </a:pPr>
            <a:r>
              <a:rPr lang="en-US" sz="1450" b="1" dirty="0">
                <a:solidFill>
                  <a:srgbClr val="21314D"/>
                </a:solidFill>
                <a:latin typeface="Open Sans" pitchFamily="34" charset="0"/>
                <a:ea typeface="Open Sans" pitchFamily="34" charset="-122"/>
                <a:cs typeface="Open Sans" pitchFamily="34" charset="-120"/>
              </a:rPr>
              <a:t>What is assessed.  </a:t>
            </a:r>
            <a:pPr indent="0" marL="0">
              <a:buNone/>
            </a:pPr>
            <a:r>
              <a:rPr lang="en-US" sz="1450" dirty="0">
                <a:solidFill>
                  <a:srgbClr val="21314D"/>
                </a:solidFill>
                <a:latin typeface="Open Sans" pitchFamily="34" charset="0"/>
                <a:ea typeface="Open Sans" pitchFamily="34" charset="-122"/>
                <a:cs typeface="Open Sans" pitchFamily="34" charset="-120"/>
              </a:rPr>
              <a:t>Which planted defects are caught, the soundness of the redesign, and the decision.</a:t>
            </a:r>
            <a:endParaRPr lang="en-US" sz="1450" dirty="0"/>
          </a:p>
        </p:txBody>
      </p:sp>
      <p:sp>
        <p:nvSpPr>
          <p:cNvPr id="8" name="Text 6"/>
          <p:cNvSpPr/>
          <p:nvPr/>
        </p:nvSpPr>
        <p:spPr>
          <a:xfrm>
            <a:off x="822960" y="4343400"/>
            <a:ext cx="10515600" cy="822960"/>
          </a:xfrm>
          <a:prstGeom prst="rect">
            <a:avLst/>
          </a:prstGeom>
          <a:noFill/>
          <a:ln/>
        </p:spPr>
        <p:txBody>
          <a:bodyPr wrap="square" rtlCol="0" anchor="t"/>
          <a:lstStyle/>
          <a:p>
            <a:pPr indent="0" marL="0">
              <a:buNone/>
            </a:pPr>
            <a:r>
              <a:rPr lang="en-US" sz="1450" b="1" dirty="0">
                <a:solidFill>
                  <a:srgbClr val="21314D"/>
                </a:solidFill>
                <a:latin typeface="Open Sans" pitchFamily="34" charset="0"/>
                <a:ea typeface="Open Sans" pitchFamily="34" charset="-122"/>
                <a:cs typeface="Open Sans" pitchFamily="34" charset="-120"/>
              </a:rPr>
              <a:t>Software you will need.  </a:t>
            </a:r>
            <a:pPr indent="0" marL="0">
              <a:buNone/>
            </a:pPr>
            <a:r>
              <a:rPr lang="en-US" sz="1450" dirty="0">
                <a:solidFill>
                  <a:srgbClr val="21314D"/>
                </a:solidFill>
                <a:latin typeface="Open Sans" pitchFamily="34" charset="0"/>
                <a:ea typeface="Open Sans" pitchFamily="34" charset="-122"/>
                <a:cs typeface="Open Sans" pitchFamily="34" charset="-120"/>
              </a:rPr>
              <a:t>Same toolchain.</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314D"/>
        </a:solidFill>
      </p:bgPr>
    </p:bg>
    <p:spTree>
      <p:nvGrpSpPr>
        <p:cNvPr id="1" name=""/>
        <p:cNvGrpSpPr/>
        <p:nvPr/>
      </p:nvGrpSpPr>
      <p:grpSpPr>
        <a:xfrm>
          <a:off x="0" y="0"/>
          <a:ext cx="0" cy="0"/>
          <a:chOff x="0" y="0"/>
          <a:chExt cx="0" cy="0"/>
        </a:xfrm>
      </p:grpSpPr>
      <p:sp>
        <p:nvSpPr>
          <p:cNvPr id="2" name="Text 0"/>
          <p:cNvSpPr/>
          <p:nvPr/>
        </p:nvSpPr>
        <p:spPr>
          <a:xfrm>
            <a:off x="822960" y="640080"/>
            <a:ext cx="10515600" cy="640080"/>
          </a:xfrm>
          <a:prstGeom prst="rect">
            <a:avLst/>
          </a:prstGeom>
          <a:noFill/>
          <a:ln/>
        </p:spPr>
        <p:txBody>
          <a:bodyPr wrap="square"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Submit, and what comes next</a:t>
            </a:r>
            <a:endParaRPr lang="en-US" sz="2600" dirty="0"/>
          </a:p>
        </p:txBody>
      </p:sp>
      <p:sp>
        <p:nvSpPr>
          <p:cNvPr id="3" name="Text 1"/>
          <p:cNvSpPr/>
          <p:nvPr/>
        </p:nvSpPr>
        <p:spPr>
          <a:xfrm>
            <a:off x="822960" y="1737360"/>
            <a:ext cx="10058400" cy="365760"/>
          </a:xfrm>
          <a:prstGeom prst="rect">
            <a:avLst/>
          </a:prstGeom>
          <a:noFill/>
          <a:ln/>
        </p:spPr>
        <p:txBody>
          <a:bodyPr wrap="square" rtlCol="0" anchor="ctr"/>
          <a:lstStyle/>
          <a:p>
            <a:pPr indent="0" marL="0">
              <a:buNone/>
            </a:pPr>
            <a:r>
              <a:rPr lang="en-US" sz="1400" b="1" spc="100" kern="0" dirty="0">
                <a:solidFill>
                  <a:srgbClr val="879EC3"/>
                </a:solidFill>
                <a:latin typeface="Open Sans" pitchFamily="34" charset="0"/>
                <a:ea typeface="Open Sans" pitchFamily="34" charset="-122"/>
                <a:cs typeface="Open Sans" pitchFamily="34" charset="-120"/>
              </a:rPr>
              <a:t>What to submit</a:t>
            </a:r>
            <a:endParaRPr lang="en-US" sz="1400" dirty="0"/>
          </a:p>
        </p:txBody>
      </p:sp>
      <p:sp>
        <p:nvSpPr>
          <p:cNvPr id="4" name="Text 2"/>
          <p:cNvSpPr/>
          <p:nvPr/>
        </p:nvSpPr>
        <p:spPr>
          <a:xfrm>
            <a:off x="822960" y="2148840"/>
            <a:ext cx="10332720" cy="1005840"/>
          </a:xfrm>
          <a:prstGeom prst="rect">
            <a:avLst/>
          </a:prstGeom>
          <a:noFill/>
          <a:ln/>
        </p:spPr>
        <p:txBody>
          <a:bodyPr wrap="square" rtlCol="0" anchor="t"/>
          <a:lstStyle/>
          <a:p>
            <a:pPr indent="0" marL="0">
              <a:buNone/>
            </a:pPr>
            <a:r>
              <a:rPr lang="en-US" sz="2200" dirty="0">
                <a:solidFill>
                  <a:srgbClr val="FFFFFF"/>
                </a:solidFill>
                <a:latin typeface="Montserrat" pitchFamily="34" charset="0"/>
                <a:ea typeface="Montserrat" pitchFamily="34" charset="-122"/>
                <a:cs typeface="Montserrat" pitchFamily="34" charset="-120"/>
              </a:rPr>
              <a:t>An evaluation study, a held-out private-test prediction, and a defect audit.</a:t>
            </a:r>
            <a:endParaRPr lang="en-US" sz="2200" dirty="0"/>
          </a:p>
        </p:txBody>
      </p:sp>
      <p:sp>
        <p:nvSpPr>
          <p:cNvPr id="5" name="Text 3"/>
          <p:cNvSpPr/>
          <p:nvPr/>
        </p:nvSpPr>
        <p:spPr>
          <a:xfrm>
            <a:off x="822960" y="3840480"/>
            <a:ext cx="10058400" cy="365760"/>
          </a:xfrm>
          <a:prstGeom prst="rect">
            <a:avLst/>
          </a:prstGeom>
          <a:noFill/>
          <a:ln/>
        </p:spPr>
        <p:txBody>
          <a:bodyPr wrap="square" rtlCol="0" anchor="ctr"/>
          <a:lstStyle/>
          <a:p>
            <a:pPr indent="0" marL="0">
              <a:buNone/>
            </a:pPr>
            <a:r>
              <a:rPr lang="en-US" sz="1400" b="1" spc="100" kern="0" dirty="0">
                <a:solidFill>
                  <a:srgbClr val="879EC3"/>
                </a:solidFill>
                <a:latin typeface="Open Sans" pitchFamily="34" charset="0"/>
                <a:ea typeface="Open Sans" pitchFamily="34" charset="-122"/>
                <a:cs typeface="Open Sans" pitchFamily="34" charset="-120"/>
              </a:rPr>
              <a:t>How this feeds the whole</a:t>
            </a:r>
            <a:endParaRPr lang="en-US" sz="1400" dirty="0"/>
          </a:p>
        </p:txBody>
      </p:sp>
      <p:sp>
        <p:nvSpPr>
          <p:cNvPr id="6" name="Text 4"/>
          <p:cNvSpPr/>
          <p:nvPr/>
        </p:nvSpPr>
        <p:spPr>
          <a:xfrm>
            <a:off x="822960" y="4251960"/>
            <a:ext cx="10332720" cy="1280160"/>
          </a:xfrm>
          <a:prstGeom prst="rect">
            <a:avLst/>
          </a:prstGeom>
          <a:noFill/>
          <a:ln/>
        </p:spPr>
        <p:txBody>
          <a:bodyPr wrap="square" rtlCol="0" anchor="t"/>
          <a:lstStyle/>
          <a:p>
            <a:pPr indent="0" marL="0">
              <a:buNone/>
            </a:pPr>
            <a:r>
              <a:rPr lang="en-US" sz="1600" dirty="0">
                <a:solidFill>
                  <a:srgbClr val="CFDCE9"/>
                </a:solidFill>
                <a:latin typeface="Open Sans" pitchFamily="34" charset="0"/>
                <a:ea typeface="Open Sans" pitchFamily="34" charset="-122"/>
                <a:cs typeface="Open Sans" pitchFamily="34" charset="-120"/>
              </a:rPr>
              <a:t>This deliverable becomes one stage of the continuous capstone project, assembled across the term, not written at the end.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2026-07-21T12:30:00Z</dcterms:created>
  <dcterms:modified xsi:type="dcterms:W3CDTF">2026-07-21T12:30:00Z</dcterms:modified>
</cp:coreProperties>
</file>