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7. State the objective in one sentence: Assess bias, fairness, privacy, and governance using a recognized framework, applied to the learner's own model. Then tell them the week's arc: we explore the idea in an interactive model, practice on a low-stakes slice, and apply it to your own project in The Model-Governance Review Board. Remind them the deliverable feeds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objective from the student's perspective, then walk the three-part arc. Emphasize that the graded work, The Model-Governance Review Board, is a professional simulation, not a quiz, and that the interactive comes first so intuition precedes formalism.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these three points in order; each is a decision students must defend, not a fact to memorize. Tie every one back to the objective and to what The Model-Governance Review Board will ask them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interactive live if you can, and narrate what to notice. The practice task is ungraded or low-stakes; its job is instant feedback before the graded simulation. Invite students to post one thing the interactive surprised them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work. Read the brief, then point students to the rubric and the software guide before they begin. Stress that it is judged the way real practice judges it, and that the live defense cannot be outsourced.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exactly what to submit and when, restating the response and feedback window, and previewing how this piece connects to the capstone. End with the weekly reflection: what you saw in their posted work that was strong, and what to shore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14D"/>
        </a:solidFill>
      </p:bgPr>
    </p:bg>
    <p:spTree>
      <p:nvGrpSpPr>
        <p:cNvPr id="1" name=""/>
        <p:cNvGrpSpPr/>
        <p:nvPr/>
      </p:nvGrpSpPr>
      <p:grpSpPr>
        <a:xfrm>
          <a:off x="0" y="0"/>
          <a:ext cx="0" cy="0"/>
          <a:chOff x="0" y="0"/>
          <a:chExt cx="0" cy="0"/>
        </a:xfrm>
      </p:grpSpPr>
      <p:sp>
        <p:nvSpPr>
          <p:cNvPr id="2" name="Text 0"/>
          <p:cNvSpPr/>
          <p:nvPr/>
        </p:nvSpPr>
        <p:spPr>
          <a:xfrm>
            <a:off x="822960" y="1554480"/>
            <a:ext cx="10058400" cy="457200"/>
          </a:xfrm>
          <a:prstGeom prst="rect">
            <a:avLst/>
          </a:prstGeom>
          <a:noFill/>
          <a:ln/>
        </p:spPr>
        <p:txBody>
          <a:bodyPr wrap="square" rtlCol="0" anchor="ctr"/>
          <a:lstStyle/>
          <a:p>
            <a:pPr indent="0" marL="0">
              <a:buNone/>
            </a:pPr>
            <a:r>
              <a:rPr lang="en-US" sz="1600" b="1" spc="300" kern="0" dirty="0">
                <a:solidFill>
                  <a:srgbClr val="879EC3"/>
                </a:solidFill>
                <a:latin typeface="Open Sans" pitchFamily="34" charset="0"/>
                <a:ea typeface="Open Sans" pitchFamily="34" charset="-122"/>
                <a:cs typeface="Open Sans" pitchFamily="34" charset="-120"/>
              </a:rPr>
              <a:t>MODULE 7</a:t>
            </a:r>
            <a:endParaRPr lang="en-US" sz="1600" dirty="0"/>
          </a:p>
        </p:txBody>
      </p:sp>
      <p:sp>
        <p:nvSpPr>
          <p:cNvPr id="3" name="Text 1"/>
          <p:cNvSpPr/>
          <p:nvPr/>
        </p:nvSpPr>
        <p:spPr>
          <a:xfrm>
            <a:off x="822960" y="2011680"/>
            <a:ext cx="10515600" cy="1828800"/>
          </a:xfrm>
          <a:prstGeom prst="rect">
            <a:avLst/>
          </a:prstGeom>
          <a:noFill/>
          <a:ln/>
        </p:spPr>
        <p:txBody>
          <a:bodyPr wrap="square" rtlCol="0" anchor="ctr"/>
          <a:lstStyle/>
          <a:p>
            <a:pPr indent="0" marL="0">
              <a:lnSpc>
                <a:spcPct val="102000"/>
              </a:lnSpc>
              <a:buNone/>
            </a:pPr>
            <a:r>
              <a:rPr lang="en-US" sz="4000" b="1" dirty="0">
                <a:solidFill>
                  <a:srgbClr val="FFFFFF"/>
                </a:solidFill>
                <a:latin typeface="Montserrat" pitchFamily="34" charset="0"/>
                <a:ea typeface="Montserrat" pitchFamily="34" charset="-122"/>
                <a:cs typeface="Montserrat" pitchFamily="34" charset="-120"/>
              </a:rPr>
              <a:t>Data and AI ethics and governance</a:t>
            </a:r>
            <a:endParaRPr lang="en-US" sz="4000" dirty="0"/>
          </a:p>
        </p:txBody>
      </p:sp>
      <p:sp>
        <p:nvSpPr>
          <p:cNvPr id="4" name="Text 2"/>
          <p:cNvSpPr/>
          <p:nvPr/>
        </p:nvSpPr>
        <p:spPr>
          <a:xfrm>
            <a:off x="841248" y="3977640"/>
            <a:ext cx="10058400" cy="457200"/>
          </a:xfrm>
          <a:prstGeom prst="rect">
            <a:avLst/>
          </a:prstGeom>
          <a:noFill/>
          <a:ln/>
        </p:spPr>
        <p:txBody>
          <a:bodyPr wrap="square" rtlCol="0" anchor="ctr"/>
          <a:lstStyle/>
          <a:p>
            <a:pPr indent="0" marL="0">
              <a:buNone/>
            </a:pPr>
            <a:r>
              <a:rPr lang="en-US" sz="1600" dirty="0">
                <a:solidFill>
                  <a:srgbClr val="CFDCE9"/>
                </a:solidFill>
                <a:latin typeface="Open Sans" pitchFamily="34" charset="0"/>
                <a:ea typeface="Open Sans" pitchFamily="34" charset="-122"/>
                <a:cs typeface="Open Sans" pitchFamily="34" charset="-120"/>
              </a:rPr>
              <a:t>Advanced Data Science  ·  Week 12  ·  about 9 student hours</a:t>
            </a:r>
            <a:endParaRPr lang="en-US" sz="1600" dirty="0"/>
          </a:p>
        </p:txBody>
      </p:sp>
      <p:sp>
        <p:nvSpPr>
          <p:cNvPr id="5" name="Text 3"/>
          <p:cNvSpPr/>
          <p:nvPr/>
        </p:nvSpPr>
        <p:spPr>
          <a:xfrm>
            <a:off x="841248" y="6126480"/>
            <a:ext cx="10058400" cy="365760"/>
          </a:xfrm>
          <a:prstGeom prst="rect">
            <a:avLst/>
          </a:prstGeom>
          <a:noFill/>
          <a:ln/>
        </p:spPr>
        <p:txBody>
          <a:bodyPr wrap="square" rtlCol="0" anchor="ctr"/>
          <a:lstStyle/>
          <a:p>
            <a:pPr indent="0" marL="0">
              <a:buNone/>
            </a:pPr>
            <a:r>
              <a:rPr lang="en-US" sz="1200" i="1" dirty="0">
                <a:solidFill>
                  <a:srgbClr val="879EC3"/>
                </a:solidFill>
                <a:latin typeface="Open Sans" pitchFamily="34" charset="0"/>
                <a:ea typeface="Open Sans" pitchFamily="34" charset="-122"/>
                <a:cs typeface="Open Sans" pitchFamily="34" charset="-120"/>
              </a:rPr>
              <a:t>Instructor deck  ·  speaker notes carry the teaching script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This module</a:t>
            </a:r>
            <a:endParaRPr lang="en-US" sz="2600" dirty="0"/>
          </a:p>
        </p:txBody>
      </p:sp>
      <p:sp>
        <p:nvSpPr>
          <p:cNvPr id="3" name="Text 1"/>
          <p:cNvSpPr/>
          <p:nvPr/>
        </p:nvSpPr>
        <p:spPr>
          <a:xfrm>
            <a:off x="822960" y="1051560"/>
            <a:ext cx="10058400" cy="320040"/>
          </a:xfrm>
          <a:prstGeom prst="rect">
            <a:avLst/>
          </a:prstGeom>
          <a:noFill/>
          <a:ln/>
        </p:spPr>
        <p:txBody>
          <a:bodyPr wrap="square" rtlCol="0" anchor="ctr"/>
          <a:lstStyle/>
          <a:p>
            <a:pPr indent="0" marL="0">
              <a:buNone/>
            </a:pPr>
            <a:r>
              <a:rPr lang="en-US" sz="1300" b="1" dirty="0">
                <a:solidFill>
                  <a:srgbClr val="09396C"/>
                </a:solidFill>
                <a:latin typeface="Open Sans" pitchFamily="34" charset="0"/>
                <a:ea typeface="Open Sans" pitchFamily="34" charset="-122"/>
                <a:cs typeface="Open Sans" pitchFamily="34" charset="-120"/>
              </a:rPr>
              <a:t>RSI: facilitated group discussion · feedback</a:t>
            </a:r>
            <a:endParaRPr lang="en-US" sz="1300" dirty="0"/>
          </a:p>
        </p:txBody>
      </p:sp>
      <p:sp>
        <p:nvSpPr>
          <p:cNvPr id="4" name="Text 2"/>
          <p:cNvSpPr/>
          <p:nvPr/>
        </p:nvSpPr>
        <p:spPr>
          <a:xfrm>
            <a:off x="822960" y="1554480"/>
            <a:ext cx="10515600" cy="1188720"/>
          </a:xfrm>
          <a:prstGeom prst="rect">
            <a:avLst/>
          </a:prstGeom>
          <a:noFill/>
          <a:ln/>
        </p:spPr>
        <p:txBody>
          <a:bodyPr wrap="square" rtlCol="0" anchor="ctr"/>
          <a:lstStyle/>
          <a:p>
            <a:pPr indent="0" marL="0">
              <a:lnSpc>
                <a:spcPct val="105000"/>
              </a:lnSpc>
              <a:buNone/>
            </a:pPr>
            <a:r>
              <a:rPr lang="en-US" sz="2200" i="1" dirty="0">
                <a:solidFill>
                  <a:srgbClr val="21314D"/>
                </a:solidFill>
                <a:latin typeface="Montserrat" pitchFamily="34" charset="0"/>
                <a:ea typeface="Montserrat" pitchFamily="34" charset="-122"/>
                <a:cs typeface="Montserrat" pitchFamily="34" charset="-120"/>
              </a:rPr>
              <a:t>Assess bias, fairness, privacy, and governance using a recognized framework, applied to the learner's own model.</a:t>
            </a:r>
            <a:endParaRPr lang="en-US" sz="2200" dirty="0"/>
          </a:p>
        </p:txBody>
      </p:sp>
      <p:sp>
        <p:nvSpPr>
          <p:cNvPr id="5" name="Shape 3"/>
          <p:cNvSpPr/>
          <p:nvPr/>
        </p:nvSpPr>
        <p:spPr>
          <a:xfrm>
            <a:off x="822960" y="3200400"/>
            <a:ext cx="3383280" cy="2651760"/>
          </a:xfrm>
          <a:prstGeom prst="roundRect">
            <a:avLst>
              <a:gd name="adj" fmla="val 3103"/>
            </a:avLst>
          </a:prstGeom>
          <a:solidFill>
            <a:srgbClr val="CFDCE9"/>
          </a:solidFill>
          <a:ln w="12700">
            <a:solidFill>
              <a:srgbClr val="879EC3"/>
            </a:solidFill>
            <a:prstDash val="solid"/>
          </a:ln>
        </p:spPr>
      </p:sp>
      <p:sp>
        <p:nvSpPr>
          <p:cNvPr id="6" name="Shape 4"/>
          <p:cNvSpPr/>
          <p:nvPr/>
        </p:nvSpPr>
        <p:spPr>
          <a:xfrm>
            <a:off x="1097280" y="3474720"/>
            <a:ext cx="384048" cy="384048"/>
          </a:xfrm>
          <a:prstGeom prst="ellipse">
            <a:avLst/>
          </a:prstGeom>
          <a:solidFill>
            <a:srgbClr val="09396C"/>
          </a:solidFill>
          <a:ln/>
        </p:spPr>
      </p:sp>
      <p:sp>
        <p:nvSpPr>
          <p:cNvPr id="7" name="Text 5"/>
          <p:cNvSpPr/>
          <p:nvPr/>
        </p:nvSpPr>
        <p:spPr>
          <a:xfrm>
            <a:off x="109728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8" name="Text 6"/>
          <p:cNvSpPr/>
          <p:nvPr/>
        </p:nvSpPr>
        <p:spPr>
          <a:xfrm>
            <a:off x="160020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Explore</a:t>
            </a:r>
            <a:endParaRPr lang="en-US" sz="1900" dirty="0"/>
          </a:p>
        </p:txBody>
      </p:sp>
      <p:sp>
        <p:nvSpPr>
          <p:cNvPr id="9" name="Text 7"/>
          <p:cNvSpPr/>
          <p:nvPr/>
        </p:nvSpPr>
        <p:spPr>
          <a:xfrm>
            <a:off x="109728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An interactive model you manipulate before you read about it.</a:t>
            </a:r>
            <a:endParaRPr lang="en-US" sz="1400" dirty="0"/>
          </a:p>
        </p:txBody>
      </p:sp>
      <p:sp>
        <p:nvSpPr>
          <p:cNvPr id="10" name="Shape 8"/>
          <p:cNvSpPr/>
          <p:nvPr/>
        </p:nvSpPr>
        <p:spPr>
          <a:xfrm>
            <a:off x="4434840" y="3200400"/>
            <a:ext cx="3383280" cy="2651760"/>
          </a:xfrm>
          <a:prstGeom prst="roundRect">
            <a:avLst>
              <a:gd name="adj" fmla="val 3103"/>
            </a:avLst>
          </a:prstGeom>
          <a:solidFill>
            <a:srgbClr val="CFDCE9"/>
          </a:solidFill>
          <a:ln w="12700">
            <a:solidFill>
              <a:srgbClr val="879EC3"/>
            </a:solidFill>
            <a:prstDash val="solid"/>
          </a:ln>
        </p:spPr>
      </p:sp>
      <p:sp>
        <p:nvSpPr>
          <p:cNvPr id="11" name="Shape 9"/>
          <p:cNvSpPr/>
          <p:nvPr/>
        </p:nvSpPr>
        <p:spPr>
          <a:xfrm>
            <a:off x="4709160" y="3474720"/>
            <a:ext cx="384048" cy="384048"/>
          </a:xfrm>
          <a:prstGeom prst="ellipse">
            <a:avLst/>
          </a:prstGeom>
          <a:solidFill>
            <a:srgbClr val="09396C"/>
          </a:solidFill>
          <a:ln/>
        </p:spPr>
      </p:sp>
      <p:sp>
        <p:nvSpPr>
          <p:cNvPr id="12" name="Text 10"/>
          <p:cNvSpPr/>
          <p:nvPr/>
        </p:nvSpPr>
        <p:spPr>
          <a:xfrm>
            <a:off x="470916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3" name="Text 11"/>
          <p:cNvSpPr/>
          <p:nvPr/>
        </p:nvSpPr>
        <p:spPr>
          <a:xfrm>
            <a:off x="521208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Practice</a:t>
            </a:r>
            <a:endParaRPr lang="en-US" sz="1900" dirty="0"/>
          </a:p>
        </p:txBody>
      </p:sp>
      <p:sp>
        <p:nvSpPr>
          <p:cNvPr id="14" name="Text 12"/>
          <p:cNvSpPr/>
          <p:nvPr/>
        </p:nvSpPr>
        <p:spPr>
          <a:xfrm>
            <a:off x="470916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A low-stakes exercise on a throwaway slice, instant feedback.</a:t>
            </a:r>
            <a:endParaRPr lang="en-US" sz="1400" dirty="0"/>
          </a:p>
        </p:txBody>
      </p:sp>
      <p:sp>
        <p:nvSpPr>
          <p:cNvPr id="15" name="Shape 13"/>
          <p:cNvSpPr/>
          <p:nvPr/>
        </p:nvSpPr>
        <p:spPr>
          <a:xfrm>
            <a:off x="8046720" y="3200400"/>
            <a:ext cx="3383280" cy="2651760"/>
          </a:xfrm>
          <a:prstGeom prst="roundRect">
            <a:avLst>
              <a:gd name="adj" fmla="val 3103"/>
            </a:avLst>
          </a:prstGeom>
          <a:solidFill>
            <a:srgbClr val="CFDCE9"/>
          </a:solidFill>
          <a:ln w="12700">
            <a:solidFill>
              <a:srgbClr val="879EC3"/>
            </a:solidFill>
            <a:prstDash val="solid"/>
          </a:ln>
        </p:spPr>
      </p:sp>
      <p:sp>
        <p:nvSpPr>
          <p:cNvPr id="16" name="Shape 14"/>
          <p:cNvSpPr/>
          <p:nvPr/>
        </p:nvSpPr>
        <p:spPr>
          <a:xfrm>
            <a:off x="8321040" y="3474720"/>
            <a:ext cx="384048" cy="384048"/>
          </a:xfrm>
          <a:prstGeom prst="ellipse">
            <a:avLst/>
          </a:prstGeom>
          <a:solidFill>
            <a:srgbClr val="09396C"/>
          </a:solidFill>
          <a:ln/>
        </p:spPr>
      </p:sp>
      <p:sp>
        <p:nvSpPr>
          <p:cNvPr id="17" name="Text 15"/>
          <p:cNvSpPr/>
          <p:nvPr/>
        </p:nvSpPr>
        <p:spPr>
          <a:xfrm>
            <a:off x="832104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8" name="Text 16"/>
          <p:cNvSpPr/>
          <p:nvPr/>
        </p:nvSpPr>
        <p:spPr>
          <a:xfrm>
            <a:off x="882396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Apply</a:t>
            </a:r>
            <a:endParaRPr lang="en-US" sz="1900" dirty="0"/>
          </a:p>
        </p:txBody>
      </p:sp>
      <p:sp>
        <p:nvSpPr>
          <p:cNvPr id="19" name="Text 17"/>
          <p:cNvSpPr/>
          <p:nvPr/>
        </p:nvSpPr>
        <p:spPr>
          <a:xfrm>
            <a:off x="832104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The Model-Governance Review Board: the graded simulation on your own project.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Key concepts</a:t>
            </a:r>
            <a:endParaRPr lang="en-US" sz="2600" dirty="0"/>
          </a:p>
        </p:txBody>
      </p:sp>
      <p:sp>
        <p:nvSpPr>
          <p:cNvPr id="3" name="Shape 1"/>
          <p:cNvSpPr/>
          <p:nvPr/>
        </p:nvSpPr>
        <p:spPr>
          <a:xfrm>
            <a:off x="822960" y="1463040"/>
            <a:ext cx="384048" cy="384048"/>
          </a:xfrm>
          <a:prstGeom prst="ellipse">
            <a:avLst/>
          </a:prstGeom>
          <a:solidFill>
            <a:srgbClr val="21314D"/>
          </a:solidFill>
          <a:ln/>
        </p:spPr>
      </p:sp>
      <p:sp>
        <p:nvSpPr>
          <p:cNvPr id="4" name="Text 2"/>
          <p:cNvSpPr/>
          <p:nvPr/>
        </p:nvSpPr>
        <p:spPr>
          <a:xfrm>
            <a:off x="82296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5" name="Text 3"/>
          <p:cNvSpPr/>
          <p:nvPr/>
        </p:nvSpPr>
        <p:spPr>
          <a:xfrm>
            <a:off x="1417320" y="14173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Ethics is an engineering requirement</a:t>
            </a:r>
            <a:endParaRPr lang="en-US" sz="1900" dirty="0"/>
          </a:p>
        </p:txBody>
      </p:sp>
      <p:sp>
        <p:nvSpPr>
          <p:cNvPr id="6" name="Text 4"/>
          <p:cNvSpPr/>
          <p:nvPr/>
        </p:nvSpPr>
        <p:spPr>
          <a:xfrm>
            <a:off x="1417320" y="18745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Applied to your model's real numbers, not written as a detached essay.</a:t>
            </a:r>
            <a:endParaRPr lang="en-US" sz="1500" dirty="0"/>
          </a:p>
        </p:txBody>
      </p:sp>
      <p:sp>
        <p:nvSpPr>
          <p:cNvPr id="7" name="Shape 5"/>
          <p:cNvSpPr/>
          <p:nvPr/>
        </p:nvSpPr>
        <p:spPr>
          <a:xfrm>
            <a:off x="822960" y="3063240"/>
            <a:ext cx="384048" cy="384048"/>
          </a:xfrm>
          <a:prstGeom prst="ellipse">
            <a:avLst/>
          </a:prstGeom>
          <a:solidFill>
            <a:srgbClr val="09396C"/>
          </a:solidFill>
          <a:ln/>
        </p:spPr>
      </p:sp>
      <p:sp>
        <p:nvSpPr>
          <p:cNvPr id="8" name="Text 6"/>
          <p:cNvSpPr/>
          <p:nvPr/>
        </p:nvSpPr>
        <p:spPr>
          <a:xfrm>
            <a:off x="822960" y="30632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9" name="Text 7"/>
          <p:cNvSpPr/>
          <p:nvPr/>
        </p:nvSpPr>
        <p:spPr>
          <a:xfrm>
            <a:off x="1417320" y="30175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Fairness metrics conflict</a:t>
            </a:r>
            <a:endParaRPr lang="en-US" sz="1900" dirty="0"/>
          </a:p>
        </p:txBody>
      </p:sp>
      <p:sp>
        <p:nvSpPr>
          <p:cNvPr id="10" name="Text 8"/>
          <p:cNvSpPr/>
          <p:nvPr/>
        </p:nvSpPr>
        <p:spPr>
          <a:xfrm>
            <a:off x="1417320" y="34747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You cannot satisfy every fairness definition at once. Choose one, and justify the trade-off.</a:t>
            </a:r>
            <a:endParaRPr lang="en-US" sz="1500" dirty="0"/>
          </a:p>
        </p:txBody>
      </p:sp>
      <p:sp>
        <p:nvSpPr>
          <p:cNvPr id="11" name="Shape 9"/>
          <p:cNvSpPr/>
          <p:nvPr/>
        </p:nvSpPr>
        <p:spPr>
          <a:xfrm>
            <a:off x="822960" y="4663440"/>
            <a:ext cx="384048" cy="384048"/>
          </a:xfrm>
          <a:prstGeom prst="ellipse">
            <a:avLst/>
          </a:prstGeom>
          <a:solidFill>
            <a:srgbClr val="0272DE"/>
          </a:solidFill>
          <a:ln/>
        </p:spPr>
      </p:sp>
      <p:sp>
        <p:nvSpPr>
          <p:cNvPr id="12" name="Text 10"/>
          <p:cNvSpPr/>
          <p:nvPr/>
        </p:nvSpPr>
        <p:spPr>
          <a:xfrm>
            <a:off x="822960" y="46634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3" name="Text 11"/>
          <p:cNvSpPr/>
          <p:nvPr/>
        </p:nvSpPr>
        <p:spPr>
          <a:xfrm>
            <a:off x="1417320" y="46177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Govern with a framework</a:t>
            </a:r>
            <a:endParaRPr lang="en-US" sz="1900" dirty="0"/>
          </a:p>
        </p:txBody>
      </p:sp>
      <p:sp>
        <p:nvSpPr>
          <p:cNvPr id="14" name="Text 12"/>
          <p:cNvSpPr/>
          <p:nvPr/>
        </p:nvSpPr>
        <p:spPr>
          <a:xfrm>
            <a:off x="1417320" y="50749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NIST AI RMF: Govern, Map, Measure, Manage. Model Cards and Datasheets are the artifacts of record.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Explore it, then practice</a:t>
            </a:r>
            <a:endParaRPr lang="en-US" sz="2600" dirty="0"/>
          </a:p>
        </p:txBody>
      </p:sp>
      <p:sp>
        <p:nvSpPr>
          <p:cNvPr id="3" name="Shape 1"/>
          <p:cNvSpPr/>
          <p:nvPr/>
        </p:nvSpPr>
        <p:spPr>
          <a:xfrm>
            <a:off x="822960" y="1371600"/>
            <a:ext cx="5212080" cy="4297680"/>
          </a:xfrm>
          <a:prstGeom prst="roundRect">
            <a:avLst>
              <a:gd name="adj" fmla="val 1915"/>
            </a:avLst>
          </a:prstGeom>
          <a:solidFill>
            <a:srgbClr val="CFDCE9"/>
          </a:solidFill>
          <a:ln w="12700">
            <a:solidFill>
              <a:srgbClr val="879EC3"/>
            </a:solidFill>
            <a:prstDash val="solid"/>
          </a:ln>
        </p:spPr>
      </p:sp>
      <p:sp>
        <p:nvSpPr>
          <p:cNvPr id="4" name="Text 2"/>
          <p:cNvSpPr/>
          <p:nvPr/>
        </p:nvSpPr>
        <p:spPr>
          <a:xfrm>
            <a:off x="1097280" y="1600200"/>
            <a:ext cx="4663440" cy="36576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Explore  (interactive)</a:t>
            </a:r>
            <a:endParaRPr lang="en-US" sz="1300" dirty="0"/>
          </a:p>
        </p:txBody>
      </p:sp>
      <p:sp>
        <p:nvSpPr>
          <p:cNvPr id="5" name="Text 3"/>
          <p:cNvSpPr/>
          <p:nvPr/>
        </p:nvSpPr>
        <p:spPr>
          <a:xfrm>
            <a:off x="1097280" y="1965960"/>
            <a:ext cx="4663440" cy="822960"/>
          </a:xfrm>
          <a:prstGeom prst="rect">
            <a:avLst/>
          </a:prstGeom>
          <a:noFill/>
          <a:ln/>
        </p:spPr>
        <p:txBody>
          <a:bodyPr wrap="square" rtlCol="0" anchor="ctr"/>
          <a:lstStyle/>
          <a:p>
            <a:pPr indent="0" marL="0">
              <a:buNone/>
            </a:pPr>
            <a:r>
              <a:rPr lang="en-US" sz="1800" b="1" dirty="0">
                <a:solidFill>
                  <a:srgbClr val="21314D"/>
                </a:solidFill>
                <a:latin typeface="Montserrat" pitchFamily="34" charset="0"/>
                <a:ea typeface="Montserrat" pitchFamily="34" charset="-122"/>
                <a:cs typeface="Montserrat" pitchFamily="34" charset="-120"/>
              </a:rPr>
              <a:t>PAIR Measuring Fairness, What-If Tool, Aequitas</a:t>
            </a:r>
            <a:endParaRPr lang="en-US" sz="1800" dirty="0"/>
          </a:p>
        </p:txBody>
      </p:sp>
      <p:sp>
        <p:nvSpPr>
          <p:cNvPr id="6" name="Text 4"/>
          <p:cNvSpPr/>
          <p:nvPr/>
        </p:nvSpPr>
        <p:spPr>
          <a:xfrm>
            <a:off x="1097280" y="2880360"/>
            <a:ext cx="4663440" cy="2560320"/>
          </a:xfrm>
          <a:prstGeom prst="rect">
            <a:avLst/>
          </a:prstGeom>
          <a:noFill/>
          <a:ln/>
        </p:spPr>
        <p:txBody>
          <a:bodyPr wrap="square" rtlCol="0" anchor="t"/>
          <a:lstStyle/>
          <a:p>
            <a:pPr indent="0" marL="0">
              <a:buNone/>
            </a:pPr>
            <a:r>
              <a:rPr lang="en-US" sz="1500" dirty="0">
                <a:solidFill>
                  <a:srgbClr val="21314D"/>
                </a:solidFill>
                <a:latin typeface="Open Sans" pitchFamily="34" charset="0"/>
                <a:ea typeface="Open Sans" pitchFamily="34" charset="-122"/>
                <a:cs typeface="Open Sans" pitchFamily="34" charset="-120"/>
              </a:rPr>
              <a:t>Move thresholds and watch fairness metrics trade off; audit subgroup performance on a real model.</a:t>
            </a:r>
            <a:endParaRPr lang="en-US" sz="1500" dirty="0"/>
          </a:p>
        </p:txBody>
      </p:sp>
      <p:sp>
        <p:nvSpPr>
          <p:cNvPr id="7" name="Shape 5"/>
          <p:cNvSpPr/>
          <p:nvPr/>
        </p:nvSpPr>
        <p:spPr>
          <a:xfrm>
            <a:off x="6309360" y="1371600"/>
            <a:ext cx="5029200" cy="4297680"/>
          </a:xfrm>
          <a:prstGeom prst="roundRect">
            <a:avLst>
              <a:gd name="adj" fmla="val 1915"/>
            </a:avLst>
          </a:prstGeom>
          <a:solidFill>
            <a:srgbClr val="FFFFFF"/>
          </a:solidFill>
          <a:ln w="12700">
            <a:solidFill>
              <a:srgbClr val="879EC3"/>
            </a:solidFill>
            <a:prstDash val="solid"/>
          </a:ln>
        </p:spPr>
      </p:sp>
      <p:sp>
        <p:nvSpPr>
          <p:cNvPr id="8" name="Text 6"/>
          <p:cNvSpPr/>
          <p:nvPr/>
        </p:nvSpPr>
        <p:spPr>
          <a:xfrm>
            <a:off x="6583680" y="1600200"/>
            <a:ext cx="4572000" cy="36576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Practice  (formative, low-stakes)</a:t>
            </a:r>
            <a:endParaRPr lang="en-US" sz="1300" dirty="0"/>
          </a:p>
        </p:txBody>
      </p:sp>
      <p:sp>
        <p:nvSpPr>
          <p:cNvPr id="9" name="Text 7"/>
          <p:cNvSpPr/>
          <p:nvPr/>
        </p:nvSpPr>
        <p:spPr>
          <a:xfrm>
            <a:off x="6583680" y="2057400"/>
            <a:ext cx="4480560" cy="3291840"/>
          </a:xfrm>
          <a:prstGeom prst="rect">
            <a:avLst/>
          </a:prstGeom>
          <a:noFill/>
          <a:ln/>
        </p:spPr>
        <p:txBody>
          <a:bodyPr wrap="square" rtlCol="0" anchor="t"/>
          <a:lstStyle/>
          <a:p>
            <a:pPr indent="0" marL="0">
              <a:buNone/>
            </a:pPr>
            <a:r>
              <a:rPr lang="en-US" sz="1600" dirty="0">
                <a:solidFill>
                  <a:srgbClr val="21314D"/>
                </a:solidFill>
                <a:latin typeface="Open Sans" pitchFamily="34" charset="0"/>
                <a:ea typeface="Open Sans" pitchFamily="34" charset="-122"/>
                <a:cs typeface="Open Sans" pitchFamily="34" charset="-120"/>
              </a:rPr>
              <a:t>Run an Aequitas bias audit on your model and write a model card.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73152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Apply it</a:t>
            </a:r>
            <a:endParaRPr lang="en-US" sz="2600" dirty="0"/>
          </a:p>
        </p:txBody>
      </p:sp>
      <p:sp>
        <p:nvSpPr>
          <p:cNvPr id="3" name="Text 1"/>
          <p:cNvSpPr/>
          <p:nvPr/>
        </p:nvSpPr>
        <p:spPr>
          <a:xfrm>
            <a:off x="822960" y="1024128"/>
            <a:ext cx="10058400" cy="32004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Authentic assessment · simulation</a:t>
            </a:r>
            <a:endParaRPr lang="en-US" sz="1300" dirty="0"/>
          </a:p>
        </p:txBody>
      </p:sp>
      <p:sp>
        <p:nvSpPr>
          <p:cNvPr id="4" name="Shape 2"/>
          <p:cNvSpPr/>
          <p:nvPr/>
        </p:nvSpPr>
        <p:spPr>
          <a:xfrm>
            <a:off x="822960" y="1463040"/>
            <a:ext cx="10515600" cy="1783080"/>
          </a:xfrm>
          <a:prstGeom prst="roundRect">
            <a:avLst>
              <a:gd name="adj" fmla="val 4615"/>
            </a:avLst>
          </a:prstGeom>
          <a:solidFill>
            <a:srgbClr val="CFDCE9"/>
          </a:solidFill>
          <a:ln w="12700">
            <a:solidFill>
              <a:srgbClr val="879EC3"/>
            </a:solidFill>
            <a:prstDash val="solid"/>
          </a:ln>
        </p:spPr>
      </p:sp>
      <p:sp>
        <p:nvSpPr>
          <p:cNvPr id="5" name="Text 3"/>
          <p:cNvSpPr/>
          <p:nvPr/>
        </p:nvSpPr>
        <p:spPr>
          <a:xfrm>
            <a:off x="1097280" y="1627632"/>
            <a:ext cx="10058400" cy="457200"/>
          </a:xfrm>
          <a:prstGeom prst="rect">
            <a:avLst/>
          </a:prstGeom>
          <a:noFill/>
          <a:ln/>
        </p:spPr>
        <p:txBody>
          <a:bodyPr wrap="square" lIns="0" tIns="0" rIns="0" bIns="0" rtlCol="0" anchor="ctr"/>
          <a:lstStyle/>
          <a:p>
            <a:pPr indent="0" marL="0">
              <a:buNone/>
            </a:pPr>
            <a:r>
              <a:rPr lang="en-US" sz="2000" b="1" dirty="0">
                <a:solidFill>
                  <a:srgbClr val="21314D"/>
                </a:solidFill>
                <a:latin typeface="Montserrat" pitchFamily="34" charset="0"/>
                <a:ea typeface="Montserrat" pitchFamily="34" charset="-122"/>
                <a:cs typeface="Montserrat" pitchFamily="34" charset="-120"/>
              </a:rPr>
              <a:t>The Model-Governance Review Board</a:t>
            </a:r>
            <a:endParaRPr lang="en-US" sz="2000" dirty="0"/>
          </a:p>
        </p:txBody>
      </p:sp>
      <p:sp>
        <p:nvSpPr>
          <p:cNvPr id="6" name="Text 4"/>
          <p:cNvSpPr/>
          <p:nvPr/>
        </p:nvSpPr>
        <p:spPr>
          <a:xfrm>
            <a:off x="1097280" y="2121408"/>
            <a:ext cx="10058400" cy="1005840"/>
          </a:xfrm>
          <a:prstGeom prst="rect">
            <a:avLst/>
          </a:prstGeom>
          <a:noFill/>
          <a:ln/>
        </p:spPr>
        <p:txBody>
          <a:bodyPr wrap="square" lIns="0" tIns="0" rIns="0" bIns="0" rtlCol="0" anchor="t"/>
          <a:lstStyle/>
          <a:p>
            <a:pPr indent="0" marL="0">
              <a:buNone/>
            </a:pPr>
            <a:r>
              <a:rPr lang="en-US" sz="1450" dirty="0">
                <a:solidFill>
                  <a:srgbClr val="21314D"/>
                </a:solidFill>
                <a:latin typeface="Open Sans" pitchFamily="34" charset="0"/>
                <a:ea typeface="Open Sans" pitchFamily="34" charset="-122"/>
                <a:cs typeface="Open Sans" pitchFamily="34" charset="-120"/>
              </a:rPr>
              <a:t>A NIST AI RMF review board examines your own audited model, whose subgroup table shows disparate impact. Complete a governance dossier and defend an approve, reject, or condition vote live.</a:t>
            </a:r>
            <a:endParaRPr lang="en-US" sz="1450" dirty="0"/>
          </a:p>
        </p:txBody>
      </p:sp>
      <p:sp>
        <p:nvSpPr>
          <p:cNvPr id="7" name="Text 5"/>
          <p:cNvSpPr/>
          <p:nvPr/>
        </p:nvSpPr>
        <p:spPr>
          <a:xfrm>
            <a:off x="822960" y="3520440"/>
            <a:ext cx="10515600" cy="822960"/>
          </a:xfrm>
          <a:prstGeom prst="rect">
            <a:avLst/>
          </a:prstGeom>
          <a:noFill/>
          <a:ln/>
        </p:spPr>
        <p:txBody>
          <a:bodyPr wrap="square" rtlCol="0" anchor="t"/>
          <a:lstStyle/>
          <a:p>
            <a:pPr indent="0" marL="0">
              <a:buNone/>
            </a:pPr>
            <a:r>
              <a:rPr lang="en-US" sz="1450" b="1" dirty="0">
                <a:solidFill>
                  <a:srgbClr val="21314D"/>
                </a:solidFill>
                <a:latin typeface="Open Sans" pitchFamily="34" charset="0"/>
                <a:ea typeface="Open Sans" pitchFamily="34" charset="-122"/>
                <a:cs typeface="Open Sans" pitchFamily="34" charset="-120"/>
              </a:rPr>
              <a:t>What is assessed.  </a:t>
            </a:r>
            <a:pPr indent="0" marL="0">
              <a:buNone/>
            </a:pPr>
            <a:r>
              <a:rPr lang="en-US" sz="1450" dirty="0">
                <a:solidFill>
                  <a:srgbClr val="21314D"/>
                </a:solidFill>
                <a:latin typeface="Open Sans" pitchFamily="34" charset="0"/>
                <a:ea typeface="Open Sans" pitchFamily="34" charset="-122"/>
                <a:cs typeface="Open Sans" pitchFamily="34" charset="-120"/>
              </a:rPr>
              <a:t>Rigor of the dossier, correct use of the RMF functions, and the defended vote.</a:t>
            </a:r>
            <a:endParaRPr lang="en-US" sz="1450" dirty="0"/>
          </a:p>
        </p:txBody>
      </p:sp>
      <p:sp>
        <p:nvSpPr>
          <p:cNvPr id="8" name="Text 6"/>
          <p:cNvSpPr/>
          <p:nvPr/>
        </p:nvSpPr>
        <p:spPr>
          <a:xfrm>
            <a:off x="822960" y="4343400"/>
            <a:ext cx="10515600" cy="822960"/>
          </a:xfrm>
          <a:prstGeom prst="rect">
            <a:avLst/>
          </a:prstGeom>
          <a:noFill/>
          <a:ln/>
        </p:spPr>
        <p:txBody>
          <a:bodyPr wrap="square" rtlCol="0" anchor="t"/>
          <a:lstStyle/>
          <a:p>
            <a:pPr indent="0" marL="0">
              <a:buNone/>
            </a:pPr>
            <a:r>
              <a:rPr lang="en-US" sz="1450" b="1" dirty="0">
                <a:solidFill>
                  <a:srgbClr val="21314D"/>
                </a:solidFill>
                <a:latin typeface="Open Sans" pitchFamily="34" charset="0"/>
                <a:ea typeface="Open Sans" pitchFamily="34" charset="-122"/>
                <a:cs typeface="Open Sans" pitchFamily="34" charset="-120"/>
              </a:rPr>
              <a:t>Software you will need.  </a:t>
            </a:r>
            <a:pPr indent="0" marL="0">
              <a:buNone/>
            </a:pPr>
            <a:r>
              <a:rPr lang="en-US" sz="1450" dirty="0">
                <a:solidFill>
                  <a:srgbClr val="21314D"/>
                </a:solidFill>
                <a:latin typeface="Open Sans" pitchFamily="34" charset="0"/>
                <a:ea typeface="Open Sans" pitchFamily="34" charset="-122"/>
                <a:cs typeface="Open Sans" pitchFamily="34" charset="-120"/>
              </a:rPr>
              <a:t>Same toolchain; a recorder for the defense.</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314D"/>
        </a:solidFill>
      </p:bgPr>
    </p:bg>
    <p:spTree>
      <p:nvGrpSpPr>
        <p:cNvPr id="1" name=""/>
        <p:cNvGrpSpPr/>
        <p:nvPr/>
      </p:nvGrpSpPr>
      <p:grpSpPr>
        <a:xfrm>
          <a:off x="0" y="0"/>
          <a:ext cx="0" cy="0"/>
          <a:chOff x="0" y="0"/>
          <a:chExt cx="0" cy="0"/>
        </a:xfrm>
      </p:grpSpPr>
      <p:sp>
        <p:nvSpPr>
          <p:cNvPr id="2" name="Text 0"/>
          <p:cNvSpPr/>
          <p:nvPr/>
        </p:nvSpPr>
        <p:spPr>
          <a:xfrm>
            <a:off x="822960" y="640080"/>
            <a:ext cx="10515600" cy="640080"/>
          </a:xfrm>
          <a:prstGeom prst="rect">
            <a:avLst/>
          </a:prstGeom>
          <a:noFill/>
          <a:ln/>
        </p:spPr>
        <p:txBody>
          <a:bodyPr wrap="square"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Submit, and what comes next</a:t>
            </a:r>
            <a:endParaRPr lang="en-US" sz="2600" dirty="0"/>
          </a:p>
        </p:txBody>
      </p:sp>
      <p:sp>
        <p:nvSpPr>
          <p:cNvPr id="3" name="Text 1"/>
          <p:cNvSpPr/>
          <p:nvPr/>
        </p:nvSpPr>
        <p:spPr>
          <a:xfrm>
            <a:off x="822960" y="1737360"/>
            <a:ext cx="10058400" cy="365760"/>
          </a:xfrm>
          <a:prstGeom prst="rect">
            <a:avLst/>
          </a:prstGeom>
          <a:noFill/>
          <a:ln/>
        </p:spPr>
        <p:txBody>
          <a:bodyPr wrap="square" rtlCol="0" anchor="ctr"/>
          <a:lstStyle/>
          <a:p>
            <a:pPr indent="0" marL="0">
              <a:buNone/>
            </a:pPr>
            <a:r>
              <a:rPr lang="en-US" sz="1400" b="1" spc="100" kern="0" dirty="0">
                <a:solidFill>
                  <a:srgbClr val="879EC3"/>
                </a:solidFill>
                <a:latin typeface="Open Sans" pitchFamily="34" charset="0"/>
                <a:ea typeface="Open Sans" pitchFamily="34" charset="-122"/>
                <a:cs typeface="Open Sans" pitchFamily="34" charset="-120"/>
              </a:rPr>
              <a:t>What to submit</a:t>
            </a:r>
            <a:endParaRPr lang="en-US" sz="1400" dirty="0"/>
          </a:p>
        </p:txBody>
      </p:sp>
      <p:sp>
        <p:nvSpPr>
          <p:cNvPr id="4" name="Text 2"/>
          <p:cNvSpPr/>
          <p:nvPr/>
        </p:nvSpPr>
        <p:spPr>
          <a:xfrm>
            <a:off x="822960" y="2148840"/>
            <a:ext cx="10332720" cy="1005840"/>
          </a:xfrm>
          <a:prstGeom prst="rect">
            <a:avLst/>
          </a:prstGeom>
          <a:noFill/>
          <a:ln/>
        </p:spPr>
        <p:txBody>
          <a:bodyPr wrap="square" rtlCol="0" anchor="t"/>
          <a:lstStyle/>
          <a:p>
            <a:pPr indent="0" marL="0">
              <a:buNone/>
            </a:pPr>
            <a:r>
              <a:rPr lang="en-US" sz="2200" dirty="0">
                <a:solidFill>
                  <a:srgbClr val="FFFFFF"/>
                </a:solidFill>
                <a:latin typeface="Montserrat" pitchFamily="34" charset="0"/>
                <a:ea typeface="Montserrat" pitchFamily="34" charset="-122"/>
                <a:cs typeface="Montserrat" pitchFamily="34" charset="-120"/>
              </a:rPr>
              <a:t>A governance dossier, a model card, and a defended vote.</a:t>
            </a:r>
            <a:endParaRPr lang="en-US" sz="2200" dirty="0"/>
          </a:p>
        </p:txBody>
      </p:sp>
      <p:sp>
        <p:nvSpPr>
          <p:cNvPr id="5" name="Text 3"/>
          <p:cNvSpPr/>
          <p:nvPr/>
        </p:nvSpPr>
        <p:spPr>
          <a:xfrm>
            <a:off x="822960" y="3840480"/>
            <a:ext cx="10058400" cy="365760"/>
          </a:xfrm>
          <a:prstGeom prst="rect">
            <a:avLst/>
          </a:prstGeom>
          <a:noFill/>
          <a:ln/>
        </p:spPr>
        <p:txBody>
          <a:bodyPr wrap="square" rtlCol="0" anchor="ctr"/>
          <a:lstStyle/>
          <a:p>
            <a:pPr indent="0" marL="0">
              <a:buNone/>
            </a:pPr>
            <a:r>
              <a:rPr lang="en-US" sz="1400" b="1" spc="100" kern="0" dirty="0">
                <a:solidFill>
                  <a:srgbClr val="879EC3"/>
                </a:solidFill>
                <a:latin typeface="Open Sans" pitchFamily="34" charset="0"/>
                <a:ea typeface="Open Sans" pitchFamily="34" charset="-122"/>
                <a:cs typeface="Open Sans" pitchFamily="34" charset="-120"/>
              </a:rPr>
              <a:t>How this feeds the whole</a:t>
            </a:r>
            <a:endParaRPr lang="en-US" sz="1400" dirty="0"/>
          </a:p>
        </p:txBody>
      </p:sp>
      <p:sp>
        <p:nvSpPr>
          <p:cNvPr id="6" name="Text 4"/>
          <p:cNvSpPr/>
          <p:nvPr/>
        </p:nvSpPr>
        <p:spPr>
          <a:xfrm>
            <a:off x="822960" y="4251960"/>
            <a:ext cx="10332720" cy="1280160"/>
          </a:xfrm>
          <a:prstGeom prst="rect">
            <a:avLst/>
          </a:prstGeom>
          <a:noFill/>
          <a:ln/>
        </p:spPr>
        <p:txBody>
          <a:bodyPr wrap="square" rtlCol="0" anchor="t"/>
          <a:lstStyle/>
          <a:p>
            <a:pPr indent="0" marL="0">
              <a:buNone/>
            </a:pPr>
            <a:r>
              <a:rPr lang="en-US" sz="1600" dirty="0">
                <a:solidFill>
                  <a:srgbClr val="CFDCE9"/>
                </a:solidFill>
                <a:latin typeface="Open Sans" pitchFamily="34" charset="0"/>
                <a:ea typeface="Open Sans" pitchFamily="34" charset="-122"/>
                <a:cs typeface="Open Sans" pitchFamily="34" charset="-120"/>
              </a:rPr>
              <a:t>This deliverable becomes one stage of the continuous capstone project, assembled across the term, not written at the end.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2026-07-21T12:30:00Z</dcterms:created>
  <dcterms:modified xsi:type="dcterms:W3CDTF">2026-07-21T12:30:00Z</dcterms:modified>
</cp:coreProperties>
</file>