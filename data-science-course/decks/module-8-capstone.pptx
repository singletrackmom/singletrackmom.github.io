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8. State the objective in one sentence: Construct and defend a complete project end to end for a real client. Then tell them the week's arc: we explore the idea in an interactive model, practice on a low-stakes slice, and apply it to your own project in The RiverCity Engagement. Remind them the deliverable feeds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objective from the student's perspective, then walk the three-part arc. Emphasize that the graded work, The RiverCity Engagement, is a professional simulation, not a quiz, and that the interactive comes first so intuition precedes formalism.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these three points in order; each is a decision students must defend, not a fact to memorize. Tie every one back to the objective and to what The RiverCity Engagement will ask them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interactive live if you can, and narrate what to notice. The practice task is ungraded or low-stakes; its job is instant feedback before the graded simulation. Invite students to post one thing the interactive surprised them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work. Read the brief, then point students to the rubric and the software guide before they begin. Stress that it is judged the way real practice judges it, and that the live defense cannot be outsourced.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exactly what to submit and when, restating the response and feedback window, and previewing how this piece connects to the capstone. End with the weekly reflection: what you saw in their posted work that was strong, and what to shore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314D"/>
        </a:solidFill>
      </p:bgPr>
    </p:bg>
    <p:spTree>
      <p:nvGrpSpPr>
        <p:cNvPr id="1" name=""/>
        <p:cNvGrpSpPr/>
        <p:nvPr/>
      </p:nvGrpSpPr>
      <p:grpSpPr>
        <a:xfrm>
          <a:off x="0" y="0"/>
          <a:ext cx="0" cy="0"/>
          <a:chOff x="0" y="0"/>
          <a:chExt cx="0" cy="0"/>
        </a:xfrm>
      </p:grpSpPr>
      <p:sp>
        <p:nvSpPr>
          <p:cNvPr id="2" name="Text 0"/>
          <p:cNvSpPr/>
          <p:nvPr/>
        </p:nvSpPr>
        <p:spPr>
          <a:xfrm>
            <a:off x="822960" y="1554480"/>
            <a:ext cx="10058400" cy="457200"/>
          </a:xfrm>
          <a:prstGeom prst="rect">
            <a:avLst/>
          </a:prstGeom>
          <a:noFill/>
          <a:ln/>
        </p:spPr>
        <p:txBody>
          <a:bodyPr wrap="square" rtlCol="0" anchor="ctr"/>
          <a:lstStyle/>
          <a:p>
            <a:pPr indent="0" marL="0">
              <a:buNone/>
            </a:pPr>
            <a:r>
              <a:rPr lang="en-US" sz="1600" b="1" spc="300" kern="0" dirty="0">
                <a:solidFill>
                  <a:srgbClr val="879EC3"/>
                </a:solidFill>
                <a:latin typeface="Open Sans" pitchFamily="34" charset="0"/>
                <a:ea typeface="Open Sans" pitchFamily="34" charset="-122"/>
                <a:cs typeface="Open Sans" pitchFamily="34" charset="-120"/>
              </a:rPr>
              <a:t>MODULE 8</a:t>
            </a:r>
            <a:endParaRPr lang="en-US" sz="1600" dirty="0"/>
          </a:p>
        </p:txBody>
      </p:sp>
      <p:sp>
        <p:nvSpPr>
          <p:cNvPr id="3" name="Text 1"/>
          <p:cNvSpPr/>
          <p:nvPr/>
        </p:nvSpPr>
        <p:spPr>
          <a:xfrm>
            <a:off x="822960" y="2011680"/>
            <a:ext cx="10515600" cy="1828800"/>
          </a:xfrm>
          <a:prstGeom prst="rect">
            <a:avLst/>
          </a:prstGeom>
          <a:noFill/>
          <a:ln/>
        </p:spPr>
        <p:txBody>
          <a:bodyPr wrap="square" rtlCol="0" anchor="ctr"/>
          <a:lstStyle/>
          <a:p>
            <a:pPr indent="0" marL="0">
              <a:lnSpc>
                <a:spcPct val="102000"/>
              </a:lnSpc>
              <a:buNone/>
            </a:pPr>
            <a:r>
              <a:rPr lang="en-US" sz="4000" b="1" dirty="0">
                <a:solidFill>
                  <a:srgbClr val="FFFFFF"/>
                </a:solidFill>
                <a:latin typeface="Montserrat" pitchFamily="34" charset="0"/>
                <a:ea typeface="Montserrat" pitchFamily="34" charset="-122"/>
                <a:cs typeface="Montserrat" pitchFamily="34" charset="-120"/>
              </a:rPr>
              <a:t>Capstone: the RiverCity consulting engagement</a:t>
            </a:r>
            <a:endParaRPr lang="en-US" sz="4000" dirty="0"/>
          </a:p>
        </p:txBody>
      </p:sp>
      <p:sp>
        <p:nvSpPr>
          <p:cNvPr id="4" name="Text 2"/>
          <p:cNvSpPr/>
          <p:nvPr/>
        </p:nvSpPr>
        <p:spPr>
          <a:xfrm>
            <a:off x="841248" y="3977640"/>
            <a:ext cx="10058400" cy="457200"/>
          </a:xfrm>
          <a:prstGeom prst="rect">
            <a:avLst/>
          </a:prstGeom>
          <a:noFill/>
          <a:ln/>
        </p:spPr>
        <p:txBody>
          <a:bodyPr wrap="square" rtlCol="0" anchor="ctr"/>
          <a:lstStyle/>
          <a:p>
            <a:pPr indent="0" marL="0">
              <a:buNone/>
            </a:pPr>
            <a:r>
              <a:rPr lang="en-US" sz="1600" dirty="0">
                <a:solidFill>
                  <a:srgbClr val="CFDCE9"/>
                </a:solidFill>
                <a:latin typeface="Open Sans" pitchFamily="34" charset="0"/>
                <a:ea typeface="Open Sans" pitchFamily="34" charset="-122"/>
                <a:cs typeface="Open Sans" pitchFamily="34" charset="-120"/>
              </a:rPr>
              <a:t>Advanced Data Science  ·  Weeks 13–15  ·  about 27 student hours</a:t>
            </a:r>
            <a:endParaRPr lang="en-US" sz="1600" dirty="0"/>
          </a:p>
        </p:txBody>
      </p:sp>
      <p:sp>
        <p:nvSpPr>
          <p:cNvPr id="5" name="Text 3"/>
          <p:cNvSpPr/>
          <p:nvPr/>
        </p:nvSpPr>
        <p:spPr>
          <a:xfrm>
            <a:off x="841248" y="6126480"/>
            <a:ext cx="10058400" cy="365760"/>
          </a:xfrm>
          <a:prstGeom prst="rect">
            <a:avLst/>
          </a:prstGeom>
          <a:noFill/>
          <a:ln/>
        </p:spPr>
        <p:txBody>
          <a:bodyPr wrap="square" rtlCol="0" anchor="ctr"/>
          <a:lstStyle/>
          <a:p>
            <a:pPr indent="0" marL="0">
              <a:buNone/>
            </a:pPr>
            <a:r>
              <a:rPr lang="en-US" sz="1200" i="1" dirty="0">
                <a:solidFill>
                  <a:srgbClr val="879EC3"/>
                </a:solidFill>
                <a:latin typeface="Open Sans" pitchFamily="34" charset="0"/>
                <a:ea typeface="Open Sans" pitchFamily="34" charset="-122"/>
                <a:cs typeface="Open Sans" pitchFamily="34" charset="-120"/>
              </a:rPr>
              <a:t>Instructor deck  ·  speaker notes carry the teaching script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This module</a:t>
            </a:r>
            <a:endParaRPr lang="en-US" sz="2600" dirty="0"/>
          </a:p>
        </p:txBody>
      </p:sp>
      <p:sp>
        <p:nvSpPr>
          <p:cNvPr id="3" name="Text 1"/>
          <p:cNvSpPr/>
          <p:nvPr/>
        </p:nvSpPr>
        <p:spPr>
          <a:xfrm>
            <a:off x="822960" y="1051560"/>
            <a:ext cx="10058400" cy="320040"/>
          </a:xfrm>
          <a:prstGeom prst="rect">
            <a:avLst/>
          </a:prstGeom>
          <a:noFill/>
          <a:ln/>
        </p:spPr>
        <p:txBody>
          <a:bodyPr wrap="square" rtlCol="0" anchor="ctr"/>
          <a:lstStyle/>
          <a:p>
            <a:pPr indent="0" marL="0">
              <a:buNone/>
            </a:pPr>
            <a:r>
              <a:rPr lang="en-US" sz="1300" b="1" dirty="0">
                <a:solidFill>
                  <a:srgbClr val="09396C"/>
                </a:solidFill>
                <a:latin typeface="Open Sans" pitchFamily="34" charset="0"/>
                <a:ea typeface="Open Sans" pitchFamily="34" charset="-122"/>
                <a:cs typeface="Open Sans" pitchFamily="34" charset="-120"/>
              </a:rPr>
              <a:t>RSI: direct instruction · feedback · live defense</a:t>
            </a:r>
            <a:endParaRPr lang="en-US" sz="1300" dirty="0"/>
          </a:p>
        </p:txBody>
      </p:sp>
      <p:sp>
        <p:nvSpPr>
          <p:cNvPr id="4" name="Text 2"/>
          <p:cNvSpPr/>
          <p:nvPr/>
        </p:nvSpPr>
        <p:spPr>
          <a:xfrm>
            <a:off x="822960" y="1554480"/>
            <a:ext cx="10515600" cy="1188720"/>
          </a:xfrm>
          <a:prstGeom prst="rect">
            <a:avLst/>
          </a:prstGeom>
          <a:noFill/>
          <a:ln/>
        </p:spPr>
        <p:txBody>
          <a:bodyPr wrap="square" rtlCol="0" anchor="ctr"/>
          <a:lstStyle/>
          <a:p>
            <a:pPr indent="0" marL="0">
              <a:lnSpc>
                <a:spcPct val="105000"/>
              </a:lnSpc>
              <a:buNone/>
            </a:pPr>
            <a:r>
              <a:rPr lang="en-US" sz="2200" i="1" dirty="0">
                <a:solidFill>
                  <a:srgbClr val="21314D"/>
                </a:solidFill>
                <a:latin typeface="Montserrat" pitchFamily="34" charset="0"/>
                <a:ea typeface="Montserrat" pitchFamily="34" charset="-122"/>
                <a:cs typeface="Montserrat" pitchFamily="34" charset="-120"/>
              </a:rPr>
              <a:t>Construct and defend a complete project end to end for a real client.</a:t>
            </a:r>
            <a:endParaRPr lang="en-US" sz="2200" dirty="0"/>
          </a:p>
        </p:txBody>
      </p:sp>
      <p:sp>
        <p:nvSpPr>
          <p:cNvPr id="5" name="Shape 3"/>
          <p:cNvSpPr/>
          <p:nvPr/>
        </p:nvSpPr>
        <p:spPr>
          <a:xfrm>
            <a:off x="822960" y="3200400"/>
            <a:ext cx="3383280" cy="2651760"/>
          </a:xfrm>
          <a:prstGeom prst="roundRect">
            <a:avLst>
              <a:gd name="adj" fmla="val 3103"/>
            </a:avLst>
          </a:prstGeom>
          <a:solidFill>
            <a:srgbClr val="CFDCE9"/>
          </a:solidFill>
          <a:ln w="12700">
            <a:solidFill>
              <a:srgbClr val="879EC3"/>
            </a:solidFill>
            <a:prstDash val="solid"/>
          </a:ln>
        </p:spPr>
      </p:sp>
      <p:sp>
        <p:nvSpPr>
          <p:cNvPr id="6" name="Shape 4"/>
          <p:cNvSpPr/>
          <p:nvPr/>
        </p:nvSpPr>
        <p:spPr>
          <a:xfrm>
            <a:off x="1097280" y="3474720"/>
            <a:ext cx="384048" cy="384048"/>
          </a:xfrm>
          <a:prstGeom prst="ellipse">
            <a:avLst/>
          </a:prstGeom>
          <a:solidFill>
            <a:srgbClr val="09396C"/>
          </a:solidFill>
          <a:ln/>
        </p:spPr>
      </p:sp>
      <p:sp>
        <p:nvSpPr>
          <p:cNvPr id="7" name="Text 5"/>
          <p:cNvSpPr/>
          <p:nvPr/>
        </p:nvSpPr>
        <p:spPr>
          <a:xfrm>
            <a:off x="109728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8" name="Text 6"/>
          <p:cNvSpPr/>
          <p:nvPr/>
        </p:nvSpPr>
        <p:spPr>
          <a:xfrm>
            <a:off x="160020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Explore</a:t>
            </a:r>
            <a:endParaRPr lang="en-US" sz="1900" dirty="0"/>
          </a:p>
        </p:txBody>
      </p:sp>
      <p:sp>
        <p:nvSpPr>
          <p:cNvPr id="9" name="Text 7"/>
          <p:cNvSpPr/>
          <p:nvPr/>
        </p:nvSpPr>
        <p:spPr>
          <a:xfrm>
            <a:off x="109728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An interactive model you manipulate before you read about it.</a:t>
            </a:r>
            <a:endParaRPr lang="en-US" sz="1400" dirty="0"/>
          </a:p>
        </p:txBody>
      </p:sp>
      <p:sp>
        <p:nvSpPr>
          <p:cNvPr id="10" name="Shape 8"/>
          <p:cNvSpPr/>
          <p:nvPr/>
        </p:nvSpPr>
        <p:spPr>
          <a:xfrm>
            <a:off x="4434840" y="3200400"/>
            <a:ext cx="3383280" cy="2651760"/>
          </a:xfrm>
          <a:prstGeom prst="roundRect">
            <a:avLst>
              <a:gd name="adj" fmla="val 3103"/>
            </a:avLst>
          </a:prstGeom>
          <a:solidFill>
            <a:srgbClr val="CFDCE9"/>
          </a:solidFill>
          <a:ln w="12700">
            <a:solidFill>
              <a:srgbClr val="879EC3"/>
            </a:solidFill>
            <a:prstDash val="solid"/>
          </a:ln>
        </p:spPr>
      </p:sp>
      <p:sp>
        <p:nvSpPr>
          <p:cNvPr id="11" name="Shape 9"/>
          <p:cNvSpPr/>
          <p:nvPr/>
        </p:nvSpPr>
        <p:spPr>
          <a:xfrm>
            <a:off x="4709160" y="3474720"/>
            <a:ext cx="384048" cy="384048"/>
          </a:xfrm>
          <a:prstGeom prst="ellipse">
            <a:avLst/>
          </a:prstGeom>
          <a:solidFill>
            <a:srgbClr val="09396C"/>
          </a:solidFill>
          <a:ln/>
        </p:spPr>
      </p:sp>
      <p:sp>
        <p:nvSpPr>
          <p:cNvPr id="12" name="Text 10"/>
          <p:cNvSpPr/>
          <p:nvPr/>
        </p:nvSpPr>
        <p:spPr>
          <a:xfrm>
            <a:off x="470916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13" name="Text 11"/>
          <p:cNvSpPr/>
          <p:nvPr/>
        </p:nvSpPr>
        <p:spPr>
          <a:xfrm>
            <a:off x="521208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Practice</a:t>
            </a:r>
            <a:endParaRPr lang="en-US" sz="1900" dirty="0"/>
          </a:p>
        </p:txBody>
      </p:sp>
      <p:sp>
        <p:nvSpPr>
          <p:cNvPr id="14" name="Text 12"/>
          <p:cNvSpPr/>
          <p:nvPr/>
        </p:nvSpPr>
        <p:spPr>
          <a:xfrm>
            <a:off x="470916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A low-stakes exercise on a throwaway slice, instant feedback.</a:t>
            </a:r>
            <a:endParaRPr lang="en-US" sz="1400" dirty="0"/>
          </a:p>
        </p:txBody>
      </p:sp>
      <p:sp>
        <p:nvSpPr>
          <p:cNvPr id="15" name="Shape 13"/>
          <p:cNvSpPr/>
          <p:nvPr/>
        </p:nvSpPr>
        <p:spPr>
          <a:xfrm>
            <a:off x="8046720" y="3200400"/>
            <a:ext cx="3383280" cy="2651760"/>
          </a:xfrm>
          <a:prstGeom prst="roundRect">
            <a:avLst>
              <a:gd name="adj" fmla="val 3103"/>
            </a:avLst>
          </a:prstGeom>
          <a:solidFill>
            <a:srgbClr val="CFDCE9"/>
          </a:solidFill>
          <a:ln w="12700">
            <a:solidFill>
              <a:srgbClr val="879EC3"/>
            </a:solidFill>
            <a:prstDash val="solid"/>
          </a:ln>
        </p:spPr>
      </p:sp>
      <p:sp>
        <p:nvSpPr>
          <p:cNvPr id="16" name="Shape 14"/>
          <p:cNvSpPr/>
          <p:nvPr/>
        </p:nvSpPr>
        <p:spPr>
          <a:xfrm>
            <a:off x="8321040" y="3474720"/>
            <a:ext cx="384048" cy="384048"/>
          </a:xfrm>
          <a:prstGeom prst="ellipse">
            <a:avLst/>
          </a:prstGeom>
          <a:solidFill>
            <a:srgbClr val="09396C"/>
          </a:solidFill>
          <a:ln/>
        </p:spPr>
      </p:sp>
      <p:sp>
        <p:nvSpPr>
          <p:cNvPr id="17" name="Text 15"/>
          <p:cNvSpPr/>
          <p:nvPr/>
        </p:nvSpPr>
        <p:spPr>
          <a:xfrm>
            <a:off x="8321040" y="34747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18" name="Text 16"/>
          <p:cNvSpPr/>
          <p:nvPr/>
        </p:nvSpPr>
        <p:spPr>
          <a:xfrm>
            <a:off x="8823960" y="3493008"/>
            <a:ext cx="246888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Apply</a:t>
            </a:r>
            <a:endParaRPr lang="en-US" sz="1900" dirty="0"/>
          </a:p>
        </p:txBody>
      </p:sp>
      <p:sp>
        <p:nvSpPr>
          <p:cNvPr id="19" name="Text 17"/>
          <p:cNvSpPr/>
          <p:nvPr/>
        </p:nvSpPr>
        <p:spPr>
          <a:xfrm>
            <a:off x="8321040" y="4114800"/>
            <a:ext cx="2834640" cy="1554480"/>
          </a:xfrm>
          <a:prstGeom prst="rect">
            <a:avLst/>
          </a:prstGeom>
          <a:noFill/>
          <a:ln/>
        </p:spPr>
        <p:txBody>
          <a:bodyPr wrap="square" rtlCol="0" anchor="t"/>
          <a:lstStyle/>
          <a:p>
            <a:pPr indent="0" marL="0">
              <a:buNone/>
            </a:pPr>
            <a:r>
              <a:rPr lang="en-US" sz="1400" dirty="0">
                <a:solidFill>
                  <a:srgbClr val="21314D"/>
                </a:solidFill>
                <a:latin typeface="Open Sans" pitchFamily="34" charset="0"/>
                <a:ea typeface="Open Sans" pitchFamily="34" charset="-122"/>
                <a:cs typeface="Open Sans" pitchFamily="34" charset="-120"/>
              </a:rPr>
              <a:t>The RiverCity Engagement: the graded simulation on your own project.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Key concepts</a:t>
            </a:r>
            <a:endParaRPr lang="en-US" sz="2600" dirty="0"/>
          </a:p>
        </p:txBody>
      </p:sp>
      <p:sp>
        <p:nvSpPr>
          <p:cNvPr id="3" name="Shape 1"/>
          <p:cNvSpPr/>
          <p:nvPr/>
        </p:nvSpPr>
        <p:spPr>
          <a:xfrm>
            <a:off x="822960" y="1463040"/>
            <a:ext cx="384048" cy="384048"/>
          </a:xfrm>
          <a:prstGeom prst="ellipse">
            <a:avLst/>
          </a:prstGeom>
          <a:solidFill>
            <a:srgbClr val="21314D"/>
          </a:solidFill>
          <a:ln/>
        </p:spPr>
      </p:sp>
      <p:sp>
        <p:nvSpPr>
          <p:cNvPr id="4" name="Text 2"/>
          <p:cNvSpPr/>
          <p:nvPr/>
        </p:nvSpPr>
        <p:spPr>
          <a:xfrm>
            <a:off x="822960" y="14630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5" name="Text 3"/>
          <p:cNvSpPr/>
          <p:nvPr/>
        </p:nvSpPr>
        <p:spPr>
          <a:xfrm>
            <a:off x="1417320" y="14173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A real engagement</a:t>
            </a:r>
            <a:endParaRPr lang="en-US" sz="1900" dirty="0"/>
          </a:p>
        </p:txBody>
      </p:sp>
      <p:sp>
        <p:nvSpPr>
          <p:cNvPr id="6" name="Text 4"/>
          <p:cNvSpPr/>
          <p:nvPr/>
        </p:nvSpPr>
        <p:spPr>
          <a:xfrm>
            <a:off x="1417320" y="18745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A one-page problem brief, two points of contact, and biweekly check-ins. You are the consultant, not the test-taker.</a:t>
            </a:r>
            <a:endParaRPr lang="en-US" sz="1500" dirty="0"/>
          </a:p>
        </p:txBody>
      </p:sp>
      <p:sp>
        <p:nvSpPr>
          <p:cNvPr id="7" name="Shape 5"/>
          <p:cNvSpPr/>
          <p:nvPr/>
        </p:nvSpPr>
        <p:spPr>
          <a:xfrm>
            <a:off x="822960" y="3063240"/>
            <a:ext cx="384048" cy="384048"/>
          </a:xfrm>
          <a:prstGeom prst="ellipse">
            <a:avLst/>
          </a:prstGeom>
          <a:solidFill>
            <a:srgbClr val="09396C"/>
          </a:solidFill>
          <a:ln/>
        </p:spPr>
      </p:sp>
      <p:sp>
        <p:nvSpPr>
          <p:cNvPr id="8" name="Text 6"/>
          <p:cNvSpPr/>
          <p:nvPr/>
        </p:nvSpPr>
        <p:spPr>
          <a:xfrm>
            <a:off x="822960" y="30632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9" name="Text 7"/>
          <p:cNvSpPr/>
          <p:nvPr/>
        </p:nvSpPr>
        <p:spPr>
          <a:xfrm>
            <a:off x="1417320" y="30175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Adapt to drift</a:t>
            </a:r>
            <a:endParaRPr lang="en-US" sz="1900" dirty="0"/>
          </a:p>
        </p:txBody>
      </p:sp>
      <p:sp>
        <p:nvSpPr>
          <p:cNvPr id="10" name="Text 8"/>
          <p:cNvSpPr/>
          <p:nvPr/>
        </p:nvSpPr>
        <p:spPr>
          <a:xfrm>
            <a:off x="1417320" y="34747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Partway through, a new data batch shifts the distribution and quietly breaks your model. Detect, diagnose, adapt.</a:t>
            </a:r>
            <a:endParaRPr lang="en-US" sz="1500" dirty="0"/>
          </a:p>
        </p:txBody>
      </p:sp>
      <p:sp>
        <p:nvSpPr>
          <p:cNvPr id="11" name="Shape 9"/>
          <p:cNvSpPr/>
          <p:nvPr/>
        </p:nvSpPr>
        <p:spPr>
          <a:xfrm>
            <a:off x="822960" y="4663440"/>
            <a:ext cx="384048" cy="384048"/>
          </a:xfrm>
          <a:prstGeom prst="ellipse">
            <a:avLst/>
          </a:prstGeom>
          <a:solidFill>
            <a:srgbClr val="0272DE"/>
          </a:solidFill>
          <a:ln/>
        </p:spPr>
      </p:sp>
      <p:sp>
        <p:nvSpPr>
          <p:cNvPr id="12" name="Text 10"/>
          <p:cNvSpPr/>
          <p:nvPr/>
        </p:nvSpPr>
        <p:spPr>
          <a:xfrm>
            <a:off x="822960" y="46634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13" name="Text 11"/>
          <p:cNvSpPr/>
          <p:nvPr/>
        </p:nvSpPr>
        <p:spPr>
          <a:xfrm>
            <a:off x="1417320" y="4617720"/>
            <a:ext cx="10058400" cy="457200"/>
          </a:xfrm>
          <a:prstGeom prst="rect">
            <a:avLst/>
          </a:prstGeom>
          <a:noFill/>
          <a:ln/>
        </p:spPr>
        <p:txBody>
          <a:bodyPr wrap="square" lIns="0" tIns="0" rIns="0" bIns="0" rtlCol="0" anchor="ctr"/>
          <a:lstStyle/>
          <a:p>
            <a:pPr indent="0" marL="0">
              <a:buNone/>
            </a:pPr>
            <a:r>
              <a:rPr lang="en-US" sz="1900" b="1" dirty="0">
                <a:solidFill>
                  <a:srgbClr val="21314D"/>
                </a:solidFill>
                <a:latin typeface="Montserrat" pitchFamily="34" charset="0"/>
                <a:ea typeface="Montserrat" pitchFamily="34" charset="-122"/>
                <a:cs typeface="Montserrat" pitchFamily="34" charset="-120"/>
              </a:rPr>
              <a:t>Two audiences, one truth</a:t>
            </a:r>
            <a:endParaRPr lang="en-US" sz="1900" dirty="0"/>
          </a:p>
        </p:txBody>
      </p:sp>
      <p:sp>
        <p:nvSpPr>
          <p:cNvPr id="14" name="Text 12"/>
          <p:cNvSpPr/>
          <p:nvPr/>
        </p:nvSpPr>
        <p:spPr>
          <a:xfrm>
            <a:off x="1417320" y="5074920"/>
            <a:ext cx="9875520" cy="960120"/>
          </a:xfrm>
          <a:prstGeom prst="rect">
            <a:avLst/>
          </a:prstGeom>
          <a:noFill/>
          <a:ln/>
        </p:spPr>
        <p:txBody>
          <a:bodyPr wrap="square" lIns="0" tIns="0" rIns="0" bIns="0" rtlCol="0" anchor="t"/>
          <a:lstStyle/>
          <a:p>
            <a:pPr indent="0" marL="0">
              <a:buNone/>
            </a:pPr>
            <a:r>
              <a:rPr lang="en-US" sz="1500" dirty="0">
                <a:solidFill>
                  <a:srgbClr val="75757D"/>
                </a:solidFill>
                <a:latin typeface="Open Sans" pitchFamily="34" charset="0"/>
                <a:ea typeface="Open Sans" pitchFamily="34" charset="-122"/>
                <a:cs typeface="Open Sans" pitchFamily="34" charset="-120"/>
              </a:rPr>
              <a:t>An executive decision memo and a reproducible technical appendix, defended in a live stakeholder meeting.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100584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Explore it, then practice</a:t>
            </a:r>
            <a:endParaRPr lang="en-US" sz="2600" dirty="0"/>
          </a:p>
        </p:txBody>
      </p:sp>
      <p:sp>
        <p:nvSpPr>
          <p:cNvPr id="3" name="Shape 1"/>
          <p:cNvSpPr/>
          <p:nvPr/>
        </p:nvSpPr>
        <p:spPr>
          <a:xfrm>
            <a:off x="822960" y="1371600"/>
            <a:ext cx="5212080" cy="4297680"/>
          </a:xfrm>
          <a:prstGeom prst="roundRect">
            <a:avLst>
              <a:gd name="adj" fmla="val 1915"/>
            </a:avLst>
          </a:prstGeom>
          <a:solidFill>
            <a:srgbClr val="CFDCE9"/>
          </a:solidFill>
          <a:ln w="12700">
            <a:solidFill>
              <a:srgbClr val="879EC3"/>
            </a:solidFill>
            <a:prstDash val="solid"/>
          </a:ln>
        </p:spPr>
      </p:sp>
      <p:sp>
        <p:nvSpPr>
          <p:cNvPr id="4" name="Text 2"/>
          <p:cNvSpPr/>
          <p:nvPr/>
        </p:nvSpPr>
        <p:spPr>
          <a:xfrm>
            <a:off x="1097280" y="1600200"/>
            <a:ext cx="4663440" cy="36576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Explore  (interactive)</a:t>
            </a:r>
            <a:endParaRPr lang="en-US" sz="1300" dirty="0"/>
          </a:p>
        </p:txBody>
      </p:sp>
      <p:sp>
        <p:nvSpPr>
          <p:cNvPr id="5" name="Text 3"/>
          <p:cNvSpPr/>
          <p:nvPr/>
        </p:nvSpPr>
        <p:spPr>
          <a:xfrm>
            <a:off x="1097280" y="1965960"/>
            <a:ext cx="4663440" cy="822960"/>
          </a:xfrm>
          <a:prstGeom prst="rect">
            <a:avLst/>
          </a:prstGeom>
          <a:noFill/>
          <a:ln/>
        </p:spPr>
        <p:txBody>
          <a:bodyPr wrap="square" rtlCol="0" anchor="ctr"/>
          <a:lstStyle/>
          <a:p>
            <a:pPr indent="0" marL="0">
              <a:buNone/>
            </a:pPr>
            <a:r>
              <a:rPr lang="en-US" sz="1800" b="1" dirty="0">
                <a:solidFill>
                  <a:srgbClr val="21314D"/>
                </a:solidFill>
                <a:latin typeface="Montserrat" pitchFamily="34" charset="0"/>
                <a:ea typeface="Montserrat" pitchFamily="34" charset="-122"/>
                <a:cs typeface="Montserrat" pitchFamily="34" charset="-120"/>
              </a:rPr>
              <a:t>Evidently + Streamlit</a:t>
            </a:r>
            <a:endParaRPr lang="en-US" sz="1800" dirty="0"/>
          </a:p>
        </p:txBody>
      </p:sp>
      <p:sp>
        <p:nvSpPr>
          <p:cNvPr id="6" name="Text 4"/>
          <p:cNvSpPr/>
          <p:nvPr/>
        </p:nvSpPr>
        <p:spPr>
          <a:xfrm>
            <a:off x="1097280" y="2880360"/>
            <a:ext cx="4663440" cy="2560320"/>
          </a:xfrm>
          <a:prstGeom prst="rect">
            <a:avLst/>
          </a:prstGeom>
          <a:noFill/>
          <a:ln/>
        </p:spPr>
        <p:txBody>
          <a:bodyPr wrap="square" rtlCol="0" anchor="t"/>
          <a:lstStyle/>
          <a:p>
            <a:pPr indent="0" marL="0">
              <a:buNone/>
            </a:pPr>
            <a:r>
              <a:rPr lang="en-US" sz="1500" dirty="0">
                <a:solidFill>
                  <a:srgbClr val="21314D"/>
                </a:solidFill>
                <a:latin typeface="Open Sans" pitchFamily="34" charset="0"/>
                <a:ea typeface="Open Sans" pitchFamily="34" charset="-122"/>
                <a:cs typeface="Open Sans" pitchFamily="34" charset="-120"/>
              </a:rPr>
              <a:t>Detect drift between two data batches; ship an interactive app the client can explore in the meeting.</a:t>
            </a:r>
            <a:endParaRPr lang="en-US" sz="1500" dirty="0"/>
          </a:p>
        </p:txBody>
      </p:sp>
      <p:sp>
        <p:nvSpPr>
          <p:cNvPr id="7" name="Shape 5"/>
          <p:cNvSpPr/>
          <p:nvPr/>
        </p:nvSpPr>
        <p:spPr>
          <a:xfrm>
            <a:off x="6309360" y="1371600"/>
            <a:ext cx="5029200" cy="4297680"/>
          </a:xfrm>
          <a:prstGeom prst="roundRect">
            <a:avLst>
              <a:gd name="adj" fmla="val 1915"/>
            </a:avLst>
          </a:prstGeom>
          <a:solidFill>
            <a:srgbClr val="FFFFFF"/>
          </a:solidFill>
          <a:ln w="12700">
            <a:solidFill>
              <a:srgbClr val="879EC3"/>
            </a:solidFill>
            <a:prstDash val="solid"/>
          </a:ln>
        </p:spPr>
      </p:sp>
      <p:sp>
        <p:nvSpPr>
          <p:cNvPr id="8" name="Text 6"/>
          <p:cNvSpPr/>
          <p:nvPr/>
        </p:nvSpPr>
        <p:spPr>
          <a:xfrm>
            <a:off x="6583680" y="1600200"/>
            <a:ext cx="4572000" cy="36576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Practice  (formative, low-stakes)</a:t>
            </a:r>
            <a:endParaRPr lang="en-US" sz="1300" dirty="0"/>
          </a:p>
        </p:txBody>
      </p:sp>
      <p:sp>
        <p:nvSpPr>
          <p:cNvPr id="9" name="Text 7"/>
          <p:cNvSpPr/>
          <p:nvPr/>
        </p:nvSpPr>
        <p:spPr>
          <a:xfrm>
            <a:off x="6583680" y="2057400"/>
            <a:ext cx="4480560" cy="3291840"/>
          </a:xfrm>
          <a:prstGeom prst="rect">
            <a:avLst/>
          </a:prstGeom>
          <a:noFill/>
          <a:ln/>
        </p:spPr>
        <p:txBody>
          <a:bodyPr wrap="square" rtlCol="0" anchor="t"/>
          <a:lstStyle/>
          <a:p>
            <a:pPr indent="0" marL="0">
              <a:buNone/>
            </a:pPr>
            <a:r>
              <a:rPr lang="en-US" sz="1600" dirty="0">
                <a:solidFill>
                  <a:srgbClr val="21314D"/>
                </a:solidFill>
                <a:latin typeface="Open Sans" pitchFamily="34" charset="0"/>
                <a:ea typeface="Open Sans" pitchFamily="34" charset="-122"/>
                <a:cs typeface="Open Sans" pitchFamily="34" charset="-120"/>
              </a:rPr>
              <a:t>Rehearse the stakeholder defense with peers and run a drift report on the new batch.</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02920"/>
            <a:ext cx="7315200" cy="457200"/>
          </a:xfrm>
          <a:prstGeom prst="rect">
            <a:avLst/>
          </a:prstGeom>
          <a:noFill/>
          <a:ln/>
        </p:spPr>
        <p:txBody>
          <a:bodyPr wrap="square" rtlCol="0" anchor="ctr"/>
          <a:lstStyle/>
          <a:p>
            <a:pPr indent="0" marL="0">
              <a:buNone/>
            </a:pPr>
            <a:r>
              <a:rPr lang="en-US" sz="2600" b="1" dirty="0">
                <a:solidFill>
                  <a:srgbClr val="21314D"/>
                </a:solidFill>
                <a:latin typeface="Montserrat" pitchFamily="34" charset="0"/>
                <a:ea typeface="Montserrat" pitchFamily="34" charset="-122"/>
                <a:cs typeface="Montserrat" pitchFamily="34" charset="-120"/>
              </a:rPr>
              <a:t>Apply it</a:t>
            </a:r>
            <a:endParaRPr lang="en-US" sz="2600" dirty="0"/>
          </a:p>
        </p:txBody>
      </p:sp>
      <p:sp>
        <p:nvSpPr>
          <p:cNvPr id="3" name="Text 1"/>
          <p:cNvSpPr/>
          <p:nvPr/>
        </p:nvSpPr>
        <p:spPr>
          <a:xfrm>
            <a:off x="822960" y="1024128"/>
            <a:ext cx="10058400" cy="320040"/>
          </a:xfrm>
          <a:prstGeom prst="rect">
            <a:avLst/>
          </a:prstGeom>
          <a:noFill/>
          <a:ln/>
        </p:spPr>
        <p:txBody>
          <a:bodyPr wrap="square" rtlCol="0" anchor="ctr"/>
          <a:lstStyle/>
          <a:p>
            <a:pPr indent="0" marL="0">
              <a:buNone/>
            </a:pPr>
            <a:r>
              <a:rPr lang="en-US" sz="1300" b="1" spc="100" kern="0" dirty="0">
                <a:solidFill>
                  <a:srgbClr val="09396C"/>
                </a:solidFill>
                <a:latin typeface="Open Sans" pitchFamily="34" charset="0"/>
                <a:ea typeface="Open Sans" pitchFamily="34" charset="-122"/>
                <a:cs typeface="Open Sans" pitchFamily="34" charset="-120"/>
              </a:rPr>
              <a:t>Authentic assessment · simulation</a:t>
            </a:r>
            <a:endParaRPr lang="en-US" sz="1300" dirty="0"/>
          </a:p>
        </p:txBody>
      </p:sp>
      <p:sp>
        <p:nvSpPr>
          <p:cNvPr id="4" name="Shape 2"/>
          <p:cNvSpPr/>
          <p:nvPr/>
        </p:nvSpPr>
        <p:spPr>
          <a:xfrm>
            <a:off x="822960" y="1463040"/>
            <a:ext cx="10515600" cy="1783080"/>
          </a:xfrm>
          <a:prstGeom prst="roundRect">
            <a:avLst>
              <a:gd name="adj" fmla="val 4615"/>
            </a:avLst>
          </a:prstGeom>
          <a:solidFill>
            <a:srgbClr val="CFDCE9"/>
          </a:solidFill>
          <a:ln w="12700">
            <a:solidFill>
              <a:srgbClr val="879EC3"/>
            </a:solidFill>
            <a:prstDash val="solid"/>
          </a:ln>
        </p:spPr>
      </p:sp>
      <p:sp>
        <p:nvSpPr>
          <p:cNvPr id="5" name="Text 3"/>
          <p:cNvSpPr/>
          <p:nvPr/>
        </p:nvSpPr>
        <p:spPr>
          <a:xfrm>
            <a:off x="1097280" y="1627632"/>
            <a:ext cx="10058400" cy="457200"/>
          </a:xfrm>
          <a:prstGeom prst="rect">
            <a:avLst/>
          </a:prstGeom>
          <a:noFill/>
          <a:ln/>
        </p:spPr>
        <p:txBody>
          <a:bodyPr wrap="square" lIns="0" tIns="0" rIns="0" bIns="0" rtlCol="0" anchor="ctr"/>
          <a:lstStyle/>
          <a:p>
            <a:pPr indent="0" marL="0">
              <a:buNone/>
            </a:pPr>
            <a:r>
              <a:rPr lang="en-US" sz="2000" b="1" dirty="0">
                <a:solidFill>
                  <a:srgbClr val="21314D"/>
                </a:solidFill>
                <a:latin typeface="Montserrat" pitchFamily="34" charset="0"/>
                <a:ea typeface="Montserrat" pitchFamily="34" charset="-122"/>
                <a:cs typeface="Montserrat" pitchFamily="34" charset="-120"/>
              </a:rPr>
              <a:t>The RiverCity Engagement</a:t>
            </a:r>
            <a:endParaRPr lang="en-US" sz="2000" dirty="0"/>
          </a:p>
        </p:txBody>
      </p:sp>
      <p:sp>
        <p:nvSpPr>
          <p:cNvPr id="6" name="Text 4"/>
          <p:cNvSpPr/>
          <p:nvPr/>
        </p:nvSpPr>
        <p:spPr>
          <a:xfrm>
            <a:off x="1097280" y="2121408"/>
            <a:ext cx="10058400" cy="1005840"/>
          </a:xfrm>
          <a:prstGeom prst="rect">
            <a:avLst/>
          </a:prstGeom>
          <a:noFill/>
          <a:ln/>
        </p:spPr>
        <p:txBody>
          <a:bodyPr wrap="square" lIns="0" tIns="0" rIns="0" bIns="0" rtlCol="0" anchor="t"/>
          <a:lstStyle/>
          <a:p>
            <a:pPr indent="0" marL="0">
              <a:buNone/>
            </a:pPr>
            <a:r>
              <a:rPr lang="en-US" sz="1450" dirty="0">
                <a:solidFill>
                  <a:srgbClr val="21314D"/>
                </a:solidFill>
                <a:latin typeface="Open Sans" pitchFamily="34" charset="0"/>
                <a:ea typeface="Open Sans" pitchFamily="34" charset="-122"/>
                <a:cs typeface="Open Sans" pitchFamily="34" charset="-120"/>
              </a:rPr>
              <a:t>A 15-week client engagement: an executive memo, a reproducible repository (README, lineage, pinned environment, model card), a resampled evaluation and drift analysis, a working Streamlit app, and a 20-minute live stakeholder defense.</a:t>
            </a:r>
            <a:endParaRPr lang="en-US" sz="1450" dirty="0"/>
          </a:p>
        </p:txBody>
      </p:sp>
      <p:sp>
        <p:nvSpPr>
          <p:cNvPr id="7" name="Text 5"/>
          <p:cNvSpPr/>
          <p:nvPr/>
        </p:nvSpPr>
        <p:spPr>
          <a:xfrm>
            <a:off x="822960" y="3520440"/>
            <a:ext cx="10515600" cy="822960"/>
          </a:xfrm>
          <a:prstGeom prst="rect">
            <a:avLst/>
          </a:prstGeom>
          <a:noFill/>
          <a:ln/>
        </p:spPr>
        <p:txBody>
          <a:bodyPr wrap="square" rtlCol="0" anchor="t"/>
          <a:lstStyle/>
          <a:p>
            <a:pPr indent="0" marL="0">
              <a:buNone/>
            </a:pPr>
            <a:r>
              <a:rPr lang="en-US" sz="1450" b="1" dirty="0">
                <a:solidFill>
                  <a:srgbClr val="21314D"/>
                </a:solidFill>
                <a:latin typeface="Open Sans" pitchFamily="34" charset="0"/>
                <a:ea typeface="Open Sans" pitchFamily="34" charset="-122"/>
                <a:cs typeface="Open Sans" pitchFamily="34" charset="-120"/>
              </a:rPr>
              <a:t>What is assessed.  </a:t>
            </a:r>
            <a:pPr indent="0" marL="0">
              <a:buNone/>
            </a:pPr>
            <a:r>
              <a:rPr lang="en-US" sz="1450" dirty="0">
                <a:solidFill>
                  <a:srgbClr val="21314D"/>
                </a:solidFill>
                <a:latin typeface="Open Sans" pitchFamily="34" charset="0"/>
                <a:ea typeface="Open Sans" pitchFamily="34" charset="-122"/>
                <a:cs typeface="Open Sans" pitchFamily="34" charset="-120"/>
              </a:rPr>
              <a:t>Decision quality, validity of the evaluation design, business impact, and the live defense.</a:t>
            </a:r>
            <a:endParaRPr lang="en-US" sz="1450" dirty="0"/>
          </a:p>
        </p:txBody>
      </p:sp>
      <p:sp>
        <p:nvSpPr>
          <p:cNvPr id="8" name="Text 6"/>
          <p:cNvSpPr/>
          <p:nvPr/>
        </p:nvSpPr>
        <p:spPr>
          <a:xfrm>
            <a:off x="822960" y="4343400"/>
            <a:ext cx="10515600" cy="822960"/>
          </a:xfrm>
          <a:prstGeom prst="rect">
            <a:avLst/>
          </a:prstGeom>
          <a:noFill/>
          <a:ln/>
        </p:spPr>
        <p:txBody>
          <a:bodyPr wrap="square" rtlCol="0" anchor="t"/>
          <a:lstStyle/>
          <a:p>
            <a:pPr indent="0" marL="0">
              <a:buNone/>
            </a:pPr>
            <a:r>
              <a:rPr lang="en-US" sz="1450" b="1" dirty="0">
                <a:solidFill>
                  <a:srgbClr val="21314D"/>
                </a:solidFill>
                <a:latin typeface="Open Sans" pitchFamily="34" charset="0"/>
                <a:ea typeface="Open Sans" pitchFamily="34" charset="-122"/>
                <a:cs typeface="Open Sans" pitchFamily="34" charset="-120"/>
              </a:rPr>
              <a:t>Software you will need.  </a:t>
            </a:r>
            <a:pPr indent="0" marL="0">
              <a:buNone/>
            </a:pPr>
            <a:r>
              <a:rPr lang="en-US" sz="1450" dirty="0">
                <a:solidFill>
                  <a:srgbClr val="21314D"/>
                </a:solidFill>
                <a:latin typeface="Open Sans" pitchFamily="34" charset="0"/>
                <a:ea typeface="Open Sans" pitchFamily="34" charset="-122"/>
                <a:cs typeface="Open Sans" pitchFamily="34" charset="-120"/>
              </a:rPr>
              <a:t>The full toolchain plus a recorder for the defense.</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314D"/>
        </a:solidFill>
      </p:bgPr>
    </p:bg>
    <p:spTree>
      <p:nvGrpSpPr>
        <p:cNvPr id="1" name=""/>
        <p:cNvGrpSpPr/>
        <p:nvPr/>
      </p:nvGrpSpPr>
      <p:grpSpPr>
        <a:xfrm>
          <a:off x="0" y="0"/>
          <a:ext cx="0" cy="0"/>
          <a:chOff x="0" y="0"/>
          <a:chExt cx="0" cy="0"/>
        </a:xfrm>
      </p:grpSpPr>
      <p:sp>
        <p:nvSpPr>
          <p:cNvPr id="2" name="Text 0"/>
          <p:cNvSpPr/>
          <p:nvPr/>
        </p:nvSpPr>
        <p:spPr>
          <a:xfrm>
            <a:off x="822960" y="640080"/>
            <a:ext cx="10515600" cy="640080"/>
          </a:xfrm>
          <a:prstGeom prst="rect">
            <a:avLst/>
          </a:prstGeom>
          <a:noFill/>
          <a:ln/>
        </p:spPr>
        <p:txBody>
          <a:bodyPr wrap="square"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Submit, and what comes next</a:t>
            </a:r>
            <a:endParaRPr lang="en-US" sz="2600" dirty="0"/>
          </a:p>
        </p:txBody>
      </p:sp>
      <p:sp>
        <p:nvSpPr>
          <p:cNvPr id="3" name="Text 1"/>
          <p:cNvSpPr/>
          <p:nvPr/>
        </p:nvSpPr>
        <p:spPr>
          <a:xfrm>
            <a:off x="822960" y="1737360"/>
            <a:ext cx="10058400" cy="365760"/>
          </a:xfrm>
          <a:prstGeom prst="rect">
            <a:avLst/>
          </a:prstGeom>
          <a:noFill/>
          <a:ln/>
        </p:spPr>
        <p:txBody>
          <a:bodyPr wrap="square" rtlCol="0" anchor="ctr"/>
          <a:lstStyle/>
          <a:p>
            <a:pPr indent="0" marL="0">
              <a:buNone/>
            </a:pPr>
            <a:r>
              <a:rPr lang="en-US" sz="1400" b="1" spc="100" kern="0" dirty="0">
                <a:solidFill>
                  <a:srgbClr val="879EC3"/>
                </a:solidFill>
                <a:latin typeface="Open Sans" pitchFamily="34" charset="0"/>
                <a:ea typeface="Open Sans" pitchFamily="34" charset="-122"/>
                <a:cs typeface="Open Sans" pitchFamily="34" charset="-120"/>
              </a:rPr>
              <a:t>What to submit</a:t>
            </a:r>
            <a:endParaRPr lang="en-US" sz="1400" dirty="0"/>
          </a:p>
        </p:txBody>
      </p:sp>
      <p:sp>
        <p:nvSpPr>
          <p:cNvPr id="4" name="Text 2"/>
          <p:cNvSpPr/>
          <p:nvPr/>
        </p:nvSpPr>
        <p:spPr>
          <a:xfrm>
            <a:off x="822960" y="2148840"/>
            <a:ext cx="10332720" cy="1005840"/>
          </a:xfrm>
          <a:prstGeom prst="rect">
            <a:avLst/>
          </a:prstGeom>
          <a:noFill/>
          <a:ln/>
        </p:spPr>
        <p:txBody>
          <a:bodyPr wrap="square" rtlCol="0" anchor="t"/>
          <a:lstStyle/>
          <a:p>
            <a:pPr indent="0" marL="0">
              <a:buNone/>
            </a:pPr>
            <a:r>
              <a:rPr lang="en-US" sz="2200" dirty="0">
                <a:solidFill>
                  <a:srgbClr val="FFFFFF"/>
                </a:solidFill>
                <a:latin typeface="Montserrat" pitchFamily="34" charset="0"/>
                <a:ea typeface="Montserrat" pitchFamily="34" charset="-122"/>
                <a:cs typeface="Montserrat" pitchFamily="34" charset="-120"/>
              </a:rPr>
              <a:t>An executive memo, a repository, a Streamlit app, and a live or recorded defense.</a:t>
            </a:r>
            <a:endParaRPr lang="en-US" sz="2200" dirty="0"/>
          </a:p>
        </p:txBody>
      </p:sp>
      <p:sp>
        <p:nvSpPr>
          <p:cNvPr id="5" name="Text 3"/>
          <p:cNvSpPr/>
          <p:nvPr/>
        </p:nvSpPr>
        <p:spPr>
          <a:xfrm>
            <a:off x="822960" y="3840480"/>
            <a:ext cx="10058400" cy="365760"/>
          </a:xfrm>
          <a:prstGeom prst="rect">
            <a:avLst/>
          </a:prstGeom>
          <a:noFill/>
          <a:ln/>
        </p:spPr>
        <p:txBody>
          <a:bodyPr wrap="square" rtlCol="0" anchor="ctr"/>
          <a:lstStyle/>
          <a:p>
            <a:pPr indent="0" marL="0">
              <a:buNone/>
            </a:pPr>
            <a:r>
              <a:rPr lang="en-US" sz="1400" b="1" spc="100" kern="0" dirty="0">
                <a:solidFill>
                  <a:srgbClr val="879EC3"/>
                </a:solidFill>
                <a:latin typeface="Open Sans" pitchFamily="34" charset="0"/>
                <a:ea typeface="Open Sans" pitchFamily="34" charset="-122"/>
                <a:cs typeface="Open Sans" pitchFamily="34" charset="-120"/>
              </a:rPr>
              <a:t>How this feeds the whole</a:t>
            </a:r>
            <a:endParaRPr lang="en-US" sz="1400" dirty="0"/>
          </a:p>
        </p:txBody>
      </p:sp>
      <p:sp>
        <p:nvSpPr>
          <p:cNvPr id="6" name="Text 4"/>
          <p:cNvSpPr/>
          <p:nvPr/>
        </p:nvSpPr>
        <p:spPr>
          <a:xfrm>
            <a:off x="822960" y="4251960"/>
            <a:ext cx="10332720" cy="1280160"/>
          </a:xfrm>
          <a:prstGeom prst="rect">
            <a:avLst/>
          </a:prstGeom>
          <a:noFill/>
          <a:ln/>
        </p:spPr>
        <p:txBody>
          <a:bodyPr wrap="square" rtlCol="0" anchor="t"/>
          <a:lstStyle/>
          <a:p>
            <a:pPr indent="0" marL="0">
              <a:buNone/>
            </a:pPr>
            <a:r>
              <a:rPr lang="en-US" sz="1600" dirty="0">
                <a:solidFill>
                  <a:srgbClr val="CFDCE9"/>
                </a:solidFill>
                <a:latin typeface="Open Sans" pitchFamily="34" charset="0"/>
                <a:ea typeface="Open Sans" pitchFamily="34" charset="-122"/>
                <a:cs typeface="Open Sans" pitchFamily="34" charset="-120"/>
              </a:rPr>
              <a:t>This is the capstone: every earlier deliverable was a piece of it, defended live for the client.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2026-07-21T12:30:00Z</dcterms:created>
  <dcterms:modified xsi:type="dcterms:W3CDTF">2026-07-21T12:30:00Z</dcterms:modified>
</cp:coreProperties>
</file>